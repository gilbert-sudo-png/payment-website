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259" r:id="rId6"/>
    <p:sldId id="260" r:id="rId7"/>
    <p:sldId id="262" r:id="rId8"/>
    <p:sldId id="263" r:id="rId9"/>
    <p:sldId id="266" r:id="rId10"/>
    <p:sldId id="274" r:id="rId11"/>
    <p:sldId id="261" r:id="rId12"/>
    <p:sldId id="27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629FFBF0-8419-4E8B-98DD-3AA35F06B43E}">
          <p14:sldIdLst>
            <p14:sldId id="256"/>
            <p14:sldId id="257"/>
            <p14:sldId id="258"/>
            <p14:sldId id="259"/>
            <p14:sldId id="260"/>
            <p14:sldId id="262"/>
            <p14:sldId id="263"/>
            <p14:sldId id="266"/>
            <p14:sldId id="274"/>
            <p14:sldId id="261"/>
            <p14:sldId id="27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55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34BD7-1494-417B-A210-54FED0A1716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E8A735-0C8F-4E70-9A13-EE6ED8711826}"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C09E68-523C-4EA8-8486-14F82A96D4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AC09E68-523C-4EA8-8486-14F82A96D4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AC09E68-523C-4EA8-8486-14F82A96D4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5AC09E68-523C-4EA8-8486-14F82A96D47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AC09E68-523C-4EA8-8486-14F82A96D47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C09E68-523C-4EA8-8486-14F82A96D47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C09E68-523C-4EA8-8486-14F82A96D47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AC09E68-523C-4EA8-8486-14F82A96D47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6A9836-6CE2-4B00-B309-F8155A1ECC0B}" type="slidenum">
              <a:rPr lang="en-US" smtClean="0"/>
            </a:fld>
            <a:endParaRPr lang="en-US"/>
          </a:p>
        </p:txBody>
      </p:sp>
      <p:sp>
        <p:nvSpPr>
          <p:cNvPr id="5" name="Date Placeholder 4"/>
          <p:cNvSpPr>
            <a:spLocks noGrp="1"/>
          </p:cNvSpPr>
          <p:nvPr>
            <p:ph type="dt" sz="half" idx="10"/>
          </p:nvPr>
        </p:nvSpPr>
        <p:spPr/>
        <p:txBody>
          <a:bodyPr/>
          <a:lstStyle/>
          <a:p>
            <a:fld id="{5AC09E68-523C-4EA8-8486-14F82A96D470}" type="datetimeFigureOut">
              <a:rPr lang="en-US" smtClean="0"/>
            </a:fld>
            <a:endParaRPr lang="en-US"/>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AC09E68-523C-4EA8-8486-14F82A96D4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AC09E68-523C-4EA8-8486-14F82A96D4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6A9836-6CE2-4B00-B309-F8155A1ECC0B}" type="slidenum">
              <a:rPr lang="en-US" smtClean="0"/>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AC09E68-523C-4EA8-8486-14F82A96D4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AC09E68-523C-4EA8-8486-14F82A96D4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6A9836-6CE2-4B00-B309-F8155A1ECC0B}" type="slidenum">
              <a:rPr lang="en-US" smtClean="0"/>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AC09E68-523C-4EA8-8486-14F82A96D4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AC09E68-523C-4EA8-8486-14F82A96D4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AC09E68-523C-4EA8-8486-14F82A96D4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6A9836-6CE2-4B00-B309-F8155A1ECC0B}" type="slidenum">
              <a:rPr lang="en-US" smtClean="0"/>
            </a:fld>
            <a:endParaRPr 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AC09E68-523C-4EA8-8486-14F82A96D470}" type="datetimeFigureOut">
              <a:rPr lang="en-US" smtClean="0"/>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26A9836-6CE2-4B00-B309-F8155A1ECC0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slow">
    <p:push dir="u"/>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sz="3100" b="1" dirty="0">
                <a:solidFill>
                  <a:schemeClr val="tx1">
                    <a:lumMod val="95000"/>
                    <a:lumOff val="5000"/>
                  </a:schemeClr>
                </a:solidFill>
              </a:rPr>
              <a:t>STUDENTS’ INDUSTRIAL</a:t>
            </a:r>
            <a:br>
              <a:rPr lang="en-US" sz="3100" dirty="0">
                <a:solidFill>
                  <a:schemeClr val="tx1">
                    <a:lumMod val="95000"/>
                    <a:lumOff val="5000"/>
                  </a:schemeClr>
                </a:solidFill>
              </a:rPr>
            </a:br>
            <a:r>
              <a:rPr lang="en-US" sz="3100" b="1" dirty="0">
                <a:solidFill>
                  <a:schemeClr val="tx1">
                    <a:lumMod val="95000"/>
                    <a:lumOff val="5000"/>
                  </a:schemeClr>
                </a:solidFill>
              </a:rPr>
              <a:t>WORKS EXPERIENCE SCHEME(SIWES) ATTACHMENT</a:t>
            </a:r>
            <a:br>
              <a:rPr lang="en-US" sz="3100" dirty="0">
                <a:solidFill>
                  <a:schemeClr val="tx1">
                    <a:lumMod val="95000"/>
                    <a:lumOff val="5000"/>
                  </a:schemeClr>
                </a:solidFill>
              </a:rPr>
            </a:br>
            <a:r>
              <a:rPr lang="en-US" sz="3100" b="1" dirty="0">
                <a:solidFill>
                  <a:schemeClr val="tx1">
                    <a:lumMod val="95000"/>
                    <a:lumOff val="5000"/>
                  </a:schemeClr>
                </a:solidFill>
              </a:rPr>
              <a:t>REPORT    </a:t>
            </a:r>
            <a:br>
              <a:rPr lang="en-US" sz="3100" b="1" dirty="0">
                <a:solidFill>
                  <a:schemeClr val="tx1">
                    <a:lumMod val="95000"/>
                    <a:lumOff val="5000"/>
                  </a:schemeClr>
                </a:solidFill>
              </a:rPr>
            </a:br>
            <a:br>
              <a:rPr lang="en-US" dirty="0"/>
            </a:br>
            <a:endParaRPr lang="en-US" dirty="0"/>
          </a:p>
        </p:txBody>
      </p:sp>
      <p:sp>
        <p:nvSpPr>
          <p:cNvPr id="14" name="Content Placeholder 13"/>
          <p:cNvSpPr>
            <a:spLocks noGrp="1"/>
          </p:cNvSpPr>
          <p:nvPr>
            <p:ph idx="1"/>
          </p:nvPr>
        </p:nvSpPr>
        <p:spPr/>
        <p:txBody>
          <a:bodyPr>
            <a:normAutofit lnSpcReduction="10000"/>
          </a:bodyPr>
          <a:lstStyle/>
          <a:p>
            <a:pPr marL="0" indent="0" algn="ctr">
              <a:buNone/>
            </a:pPr>
            <a:r>
              <a:rPr lang="en-US" b="1" dirty="0">
                <a:solidFill>
                  <a:schemeClr val="tx1">
                    <a:lumMod val="95000"/>
                    <a:lumOff val="5000"/>
                  </a:schemeClr>
                </a:solidFill>
              </a:rPr>
              <a:t>AJAYI CROWTHER UNIVERSITY</a:t>
            </a:r>
            <a:endParaRPr lang="en-US" dirty="0">
              <a:solidFill>
                <a:schemeClr val="tx1">
                  <a:lumMod val="95000"/>
                  <a:lumOff val="5000"/>
                </a:schemeClr>
              </a:solidFill>
            </a:endParaRPr>
          </a:p>
          <a:p>
            <a:pPr marL="0" indent="0" algn="ctr">
              <a:buNone/>
            </a:pPr>
            <a:r>
              <a:rPr lang="en-US" b="1" dirty="0">
                <a:solidFill>
                  <a:schemeClr val="tx1">
                    <a:lumMod val="95000"/>
                    <a:lumOff val="5000"/>
                  </a:schemeClr>
                </a:solidFill>
              </a:rPr>
              <a:t>ATIBA OYO, OYO STATE, NIGERIA</a:t>
            </a:r>
            <a:endParaRPr lang="en-US" dirty="0">
              <a:solidFill>
                <a:schemeClr val="tx1">
                  <a:lumMod val="95000"/>
                  <a:lumOff val="5000"/>
                </a:schemeClr>
              </a:solidFill>
            </a:endParaRPr>
          </a:p>
          <a:p>
            <a:pPr marL="0" indent="0" algn="ctr">
              <a:buNone/>
            </a:pPr>
            <a:r>
              <a:rPr lang="en-US" b="1" dirty="0">
                <a:solidFill>
                  <a:schemeClr val="tx1">
                    <a:lumMod val="95000"/>
                    <a:lumOff val="5000"/>
                  </a:schemeClr>
                </a:solidFill>
              </a:rPr>
              <a:t> </a:t>
            </a:r>
            <a:endParaRPr lang="en-US" dirty="0">
              <a:solidFill>
                <a:schemeClr val="tx1">
                  <a:lumMod val="95000"/>
                  <a:lumOff val="5000"/>
                </a:schemeClr>
              </a:solidFill>
            </a:endParaRPr>
          </a:p>
          <a:p>
            <a:pPr marL="0" indent="0" algn="ctr">
              <a:buNone/>
            </a:pPr>
            <a:r>
              <a:rPr lang="en-US" b="1" dirty="0">
                <a:solidFill>
                  <a:schemeClr val="tx1">
                    <a:lumMod val="95000"/>
                    <a:lumOff val="5000"/>
                  </a:schemeClr>
                </a:solidFill>
              </a:rPr>
              <a:t>BY</a:t>
            </a:r>
            <a:endParaRPr lang="en-US" dirty="0">
              <a:solidFill>
                <a:schemeClr val="tx1">
                  <a:lumMod val="95000"/>
                  <a:lumOff val="5000"/>
                </a:schemeClr>
              </a:solidFill>
            </a:endParaRPr>
          </a:p>
          <a:p>
            <a:pPr marL="0" indent="0" algn="ctr">
              <a:buNone/>
            </a:pPr>
            <a:r>
              <a:rPr lang="en-US" b="1" dirty="0">
                <a:solidFill>
                  <a:schemeClr val="tx1">
                    <a:lumMod val="95000"/>
                    <a:lumOff val="5000"/>
                  </a:schemeClr>
                </a:solidFill>
              </a:rPr>
              <a:t>SIMON-EMIEJE GILBERT OGHENEVIGHO</a:t>
            </a:r>
            <a:endParaRPr lang="en-US" dirty="0">
              <a:solidFill>
                <a:schemeClr val="tx1">
                  <a:lumMod val="95000"/>
                  <a:lumOff val="5000"/>
                </a:schemeClr>
              </a:solidFill>
            </a:endParaRPr>
          </a:p>
          <a:p>
            <a:pPr marL="0" indent="0" algn="ctr">
              <a:buNone/>
            </a:pPr>
            <a:r>
              <a:rPr lang="en-US" b="1" dirty="0">
                <a:solidFill>
                  <a:schemeClr val="tx1">
                    <a:lumMod val="95000"/>
                    <a:lumOff val="5000"/>
                  </a:schemeClr>
                </a:solidFill>
              </a:rPr>
              <a:t>21EG01014</a:t>
            </a:r>
            <a:endParaRPr lang="en-US" dirty="0">
              <a:solidFill>
                <a:schemeClr val="tx1">
                  <a:lumMod val="95000"/>
                  <a:lumOff val="5000"/>
                </a:schemeClr>
              </a:solidFill>
            </a:endParaRPr>
          </a:p>
          <a:p>
            <a:pPr marL="0" indent="0" algn="ctr">
              <a:buNone/>
            </a:pPr>
            <a:r>
              <a:rPr lang="en-US" b="1" dirty="0">
                <a:solidFill>
                  <a:schemeClr val="tx1">
                    <a:lumMod val="95000"/>
                    <a:lumOff val="5000"/>
                  </a:schemeClr>
                </a:solidFill>
              </a:rPr>
              <a:t>COMPUTER ENGINEERING</a:t>
            </a:r>
            <a:endParaRPr lang="en-US" dirty="0">
              <a:solidFill>
                <a:schemeClr val="tx1">
                  <a:lumMod val="95000"/>
                  <a:lumOff val="5000"/>
                </a:schemeClr>
              </a:solidFill>
            </a:endParaRPr>
          </a:p>
          <a:p>
            <a:pPr marL="0" indent="0" algn="ctr">
              <a:buNone/>
            </a:pPr>
            <a:r>
              <a:rPr lang="en-US" b="1" dirty="0">
                <a:solidFill>
                  <a:schemeClr val="tx1">
                    <a:lumMod val="95000"/>
                    <a:lumOff val="5000"/>
                  </a:schemeClr>
                </a:solidFill>
              </a:rPr>
              <a:t>AT</a:t>
            </a:r>
            <a:endParaRPr lang="en-US" dirty="0">
              <a:solidFill>
                <a:schemeClr val="tx1">
                  <a:lumMod val="95000"/>
                  <a:lumOff val="5000"/>
                </a:schemeClr>
              </a:solidFill>
            </a:endParaRPr>
          </a:p>
          <a:p>
            <a:pPr marL="0" indent="0" algn="ctr">
              <a:buNone/>
            </a:pPr>
            <a:r>
              <a:rPr lang="en-US" altLang="en-US" b="1" dirty="0">
                <a:solidFill>
                  <a:schemeClr val="tx1">
                    <a:lumMod val="95000"/>
                    <a:lumOff val="5000"/>
                  </a:schemeClr>
                </a:solidFill>
              </a:rPr>
              <a:t>NIGERIAN COMMUNICATIONS SATELLITE LTD</a:t>
            </a:r>
            <a:endParaRPr lang="en-US" altLang="en-US" b="1" dirty="0">
              <a:solidFill>
                <a:schemeClr val="tx1">
                  <a:lumMod val="95000"/>
                  <a:lumOff val="5000"/>
                </a:schemeClr>
              </a:solidFill>
            </a:endParaRPr>
          </a:p>
          <a:p>
            <a:pPr marL="0" indent="0" algn="ctr">
              <a:buNone/>
            </a:pPr>
            <a:r>
              <a:rPr lang="en-US" altLang="en-US" b="1" dirty="0">
                <a:solidFill>
                  <a:schemeClr val="tx1">
                    <a:lumMod val="95000"/>
                    <a:lumOff val="5000"/>
                  </a:schemeClr>
                </a:solidFill>
              </a:rPr>
              <a:t>,ABUJA</a:t>
            </a:r>
            <a:endParaRPr lang="en-US" altLang="en-US" b="1" dirty="0">
              <a:solidFill>
                <a:schemeClr val="tx1">
                  <a:lumMod val="95000"/>
                  <a:lumOff val="5000"/>
                </a:schemeClr>
              </a:solidFill>
            </a:endParaRPr>
          </a:p>
        </p:txBody>
      </p:sp>
      <p:pic>
        <p:nvPicPr>
          <p:cNvPr id="19" name="Picture 18"/>
          <p:cNvPicPr/>
          <p:nvPr/>
        </p:nvPicPr>
        <p:blipFill>
          <a:blip r:embed="rId1">
            <a:extLst>
              <a:ext uri="{28A0092B-C50C-407E-A947-70E740481C1C}">
                <a14:useLocalDpi xmlns:a14="http://schemas.microsoft.com/office/drawing/2010/main" val="0"/>
              </a:ext>
            </a:extLst>
          </a:blip>
          <a:stretch>
            <a:fillRect/>
          </a:stretch>
        </p:blipFill>
        <p:spPr>
          <a:xfrm>
            <a:off x="677334" y="3005600"/>
            <a:ext cx="2085975" cy="2190750"/>
          </a:xfrm>
          <a:prstGeom prst="rect">
            <a:avLst/>
          </a:prstGeom>
        </p:spPr>
      </p:pic>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lumMod val="95000"/>
                    <a:lumOff val="5000"/>
                  </a:schemeClr>
                </a:solidFill>
              </a:rPr>
              <a:t>INTRODUCTION</a:t>
            </a:r>
            <a:endParaRPr lang="en-US" dirty="0">
              <a:solidFill>
                <a:schemeClr val="tx1">
                  <a:lumMod val="95000"/>
                  <a:lumOff val="5000"/>
                </a:schemeClr>
              </a:solidFill>
            </a:endParaRPr>
          </a:p>
        </p:txBody>
      </p:sp>
      <p:sp>
        <p:nvSpPr>
          <p:cNvPr id="3" name="Content Placeholder 2"/>
          <p:cNvSpPr>
            <a:spLocks noGrp="1"/>
          </p:cNvSpPr>
          <p:nvPr>
            <p:ph idx="1"/>
          </p:nvPr>
        </p:nvSpPr>
        <p:spPr>
          <a:xfrm>
            <a:off x="677545" y="1506855"/>
            <a:ext cx="9418320" cy="5176520"/>
          </a:xfrm>
        </p:spPr>
        <p:txBody>
          <a:bodyPr>
            <a:noAutofit/>
          </a:bodyPr>
          <a:lstStyle/>
          <a:p>
            <a:pPr>
              <a:buFontTx/>
              <a:buChar char="-"/>
            </a:pPr>
            <a:r>
              <a:rPr lang="en-US" altLang="en-US" sz="2400" dirty="0"/>
              <a:t>The Nigerian Communications Satellite Limited (NIGCOMSAT) is a Federal Government–owned company under the Federal Ministry of Communications, Innovation and Digital Economy. It was incorporated in April 2006 with the mandate to manage and operate Nigerian communication satellites for the provision of quality and affordable communication services.</a:t>
            </a:r>
            <a:endParaRPr lang="en-US" altLang="en-US" sz="2400" dirty="0"/>
          </a:p>
          <a:p>
            <a:pPr>
              <a:buFontTx/>
              <a:buChar char="-"/>
            </a:pPr>
            <a:r>
              <a:rPr lang="en-US" altLang="en-US" sz="2400" dirty="0"/>
              <a:t>NIGCOMSAT is responsible for the management of Nigeria’s satellites, including NigComSat-1R, which was launched in December 2011. Through satellite technology, the organization provides services such as broadband internet, Direct-to-Home (DTH) broadcasting, trunking and back-hauling services, and enterprise solutions for both public and private sectors.</a:t>
            </a:r>
            <a:endParaRPr lang="en-US" altLang="en-US" sz="240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dirty="0">
                <a:solidFill>
                  <a:schemeClr val="tx1">
                    <a:lumMod val="95000"/>
                    <a:lumOff val="5000"/>
                  </a:schemeClr>
                </a:solidFill>
              </a:rPr>
              <a:t>SKILLS AND KNOWLEDGE ACQUIRED</a:t>
            </a:r>
            <a:endParaRPr lang="en-US" altLang="en-US" dirty="0">
              <a:solidFill>
                <a:schemeClr val="tx1">
                  <a:lumMod val="95000"/>
                  <a:lumOff val="5000"/>
                </a:schemeClr>
              </a:solidFill>
            </a:endParaRPr>
          </a:p>
        </p:txBody>
      </p:sp>
      <p:sp>
        <p:nvSpPr>
          <p:cNvPr id="3" name="Content Placeholder 2"/>
          <p:cNvSpPr>
            <a:spLocks noGrp="1"/>
          </p:cNvSpPr>
          <p:nvPr>
            <p:ph idx="1"/>
          </p:nvPr>
        </p:nvSpPr>
        <p:spPr>
          <a:xfrm>
            <a:off x="677334" y="1210615"/>
            <a:ext cx="8596668" cy="5151548"/>
          </a:xfrm>
        </p:spPr>
        <p:txBody>
          <a:bodyPr>
            <a:normAutofit fontScale="82500"/>
          </a:bodyPr>
          <a:lstStyle/>
          <a:p>
            <a:pPr lvl="0"/>
            <a:endParaRPr lang="en-US" dirty="0"/>
          </a:p>
          <a:p>
            <a:pPr lvl="1"/>
            <a:r>
              <a:rPr lang="en-US" altLang="en-US" sz="4400" dirty="0"/>
              <a:t>Programming and Software Development Skills</a:t>
            </a:r>
            <a:endParaRPr lang="en-US" altLang="en-US" sz="4400" dirty="0"/>
          </a:p>
          <a:p>
            <a:pPr lvl="1"/>
            <a:r>
              <a:rPr lang="en-US" altLang="en-US" sz="4400" dirty="0"/>
              <a:t>Mobile Application Development</a:t>
            </a:r>
            <a:endParaRPr lang="en-US" altLang="en-US" sz="4400" dirty="0"/>
          </a:p>
          <a:p>
            <a:pPr lvl="1"/>
            <a:r>
              <a:rPr lang="en-US" altLang="en-US" sz="4400" dirty="0"/>
              <a:t>Artificial Intelligence and Automation</a:t>
            </a:r>
            <a:endParaRPr lang="en-US" altLang="en-US" sz="4400" dirty="0"/>
          </a:p>
          <a:p>
            <a:pPr lvl="1"/>
            <a:r>
              <a:rPr lang="en-US" altLang="en-US" sz="4400" dirty="0"/>
              <a:t>Software Tools and Development Technologies</a:t>
            </a:r>
            <a:endParaRPr lang="en-US"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solidFill>
                  <a:schemeClr val="tx1">
                    <a:lumMod val="95000"/>
                    <a:lumOff val="5000"/>
                  </a:schemeClr>
                </a:solidFill>
              </a:rPr>
              <a:t>Programming and Software Development Skills</a:t>
            </a:r>
            <a:endParaRPr lang="en-US" altLang="en-US" dirty="0">
              <a:solidFill>
                <a:schemeClr val="tx1">
                  <a:lumMod val="95000"/>
                  <a:lumOff val="5000"/>
                </a:schemeClr>
              </a:solidFill>
            </a:endParaRPr>
          </a:p>
        </p:txBody>
      </p:sp>
      <p:sp>
        <p:nvSpPr>
          <p:cNvPr id="6" name="Text Placeholder 5"/>
          <p:cNvSpPr>
            <a:spLocks noGrp="1"/>
          </p:cNvSpPr>
          <p:nvPr>
            <p:ph type="body" sz="half" idx="2"/>
          </p:nvPr>
        </p:nvSpPr>
        <p:spPr/>
        <p:txBody>
          <a:bodyPr/>
          <a:lstStyle/>
          <a:p>
            <a:r>
              <a:rPr lang="en-US" altLang="en-US" dirty="0"/>
              <a:t>One of the most significant areas of growth during my Industrial Training was in programming. I became proficient in several programming languages such as Python, Dart, Java, and JavaScript, which I used to build both desktop and mobile applications. I learned how to write efficient, modular, and readable code while following proper programming conventions and design principles.</a:t>
            </a:r>
            <a:endParaRPr lang="en-US" altLang="en-US" dirty="0"/>
          </a:p>
        </p:txBody>
      </p:sp>
      <p:sp>
        <p:nvSpPr>
          <p:cNvPr id="2" name="Content Placeholder 1"/>
          <p:cNvSpPr/>
          <p:nvPr>
            <p:ph idx="1"/>
          </p:nvPr>
        </p:nvSpPr>
        <p:spPr/>
        <p:txBody>
          <a:bodyPr/>
          <a:p>
            <a:endParaRPr lang="en-US"/>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tx1">
                    <a:lumMod val="95000"/>
                    <a:lumOff val="5000"/>
                  </a:schemeClr>
                </a:solidFill>
              </a:rPr>
              <a:t>Mobile Application Development</a:t>
            </a:r>
            <a:endParaRPr lang="en-US" altLang="en-US" dirty="0">
              <a:solidFill>
                <a:schemeClr val="tx1">
                  <a:lumMod val="95000"/>
                  <a:lumOff val="5000"/>
                </a:schemeClr>
              </a:solidFill>
            </a:endParaRPr>
          </a:p>
        </p:txBody>
      </p:sp>
      <p:sp>
        <p:nvSpPr>
          <p:cNvPr id="4" name="Text Placeholder 3"/>
          <p:cNvSpPr>
            <a:spLocks noGrp="1"/>
          </p:cNvSpPr>
          <p:nvPr>
            <p:ph type="body" sz="half" idx="2"/>
          </p:nvPr>
        </p:nvSpPr>
        <p:spPr>
          <a:xfrm>
            <a:off x="677545" y="2776855"/>
            <a:ext cx="4631055" cy="3548380"/>
          </a:xfrm>
        </p:spPr>
        <p:txBody>
          <a:bodyPr>
            <a:normAutofit/>
          </a:bodyPr>
          <a:lstStyle/>
          <a:p>
            <a:r>
              <a:rPr lang="en-US" altLang="en-US" dirty="0"/>
              <a:t>I learned how to design intuitive user interfaces using Flutter’s widget system, manage navigation between multiple screens, and implement state management for dynamic user interaction. I worked on several mini-projects, including a calculator app, notepad app, calendar app, clock app, and chat application, all of which helped me understand the practical aspects of front-end development, app logic, and user experience design.</a:t>
            </a:r>
            <a:endParaRPr lang="en-US" altLang="en-US" dirty="0"/>
          </a:p>
          <a:p>
            <a:r>
              <a:rPr lang="en-US" altLang="en-US" dirty="0"/>
              <a:t>These projects also exposed me to Firebase for real-time database storage, authentication systems, and data synchronization, which are essential components of modern mobile applications.</a:t>
            </a:r>
            <a:endParaRPr lang="en-US" altLang="en-US" dirty="0"/>
          </a:p>
        </p:txBody>
      </p:sp>
      <p:sp>
        <p:nvSpPr>
          <p:cNvPr id="3" name="Content Placeholder 2"/>
          <p:cNvSpPr/>
          <p:nvPr>
            <p:ph idx="1"/>
          </p:nvPr>
        </p:nvSpPr>
        <p:spPr>
          <a:xfrm>
            <a:off x="5529580" y="529590"/>
            <a:ext cx="3744595" cy="5511800"/>
          </a:xfrm>
        </p:spPr>
        <p:txBody>
          <a:bodyPr/>
          <a:p>
            <a:endParaRPr lang="en-US"/>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tx1"/>
                </a:solidFill>
              </a:rPr>
              <a:t>Artificial Intelligence and Automation</a:t>
            </a:r>
            <a:endParaRPr lang="en-US" altLang="en-US" dirty="0">
              <a:solidFill>
                <a:schemeClr val="tx1"/>
              </a:solidFill>
            </a:endParaRPr>
          </a:p>
        </p:txBody>
      </p:sp>
      <p:sp>
        <p:nvSpPr>
          <p:cNvPr id="4" name="Text Placeholder 3"/>
          <p:cNvSpPr>
            <a:spLocks noGrp="1"/>
          </p:cNvSpPr>
          <p:nvPr>
            <p:ph type="body" sz="half" idx="2"/>
          </p:nvPr>
        </p:nvSpPr>
        <p:spPr>
          <a:xfrm>
            <a:off x="677545" y="2776855"/>
            <a:ext cx="3854450" cy="3264535"/>
          </a:xfrm>
        </p:spPr>
        <p:txBody>
          <a:bodyPr/>
          <a:lstStyle/>
          <a:p>
            <a:r>
              <a:rPr lang="en-US" altLang="en-US" dirty="0"/>
              <a:t>Another major area of knowledge gained was in Artificial Intelligence (AI) and automation systems. Developing my personal AI assistant, Jarvis, allowed me to explore the use of APIs, speech recognition, text-to-speech engines, and data automation. I also learned how to handle natural language processing tasks and integrate external APIs to extend an AI system’s capability, which is a valuable skill in today’s world of intelligent software systems.</a:t>
            </a:r>
            <a:endParaRPr lang="en-US" altLang="en-US" dirty="0"/>
          </a:p>
        </p:txBody>
      </p:sp>
      <p:sp>
        <p:nvSpPr>
          <p:cNvPr id="3" name="Content Placeholder 2"/>
          <p:cNvSpPr/>
          <p:nvPr>
            <p:ph idx="1"/>
          </p:nvPr>
        </p:nvSpPr>
        <p:spPr/>
        <p:txBody>
          <a:bodyPr/>
          <a:p>
            <a:endParaRPr lang="en-US"/>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tx1">
                    <a:lumMod val="95000"/>
                    <a:lumOff val="5000"/>
                  </a:schemeClr>
                </a:solidFill>
              </a:rPr>
              <a:t>Software Tools and Development Technologies</a:t>
            </a:r>
            <a:endParaRPr lang="en-US" altLang="en-US" dirty="0">
              <a:solidFill>
                <a:schemeClr val="tx1">
                  <a:lumMod val="95000"/>
                  <a:lumOff val="5000"/>
                </a:schemeClr>
              </a:solidFill>
            </a:endParaRPr>
          </a:p>
        </p:txBody>
      </p:sp>
      <p:sp>
        <p:nvSpPr>
          <p:cNvPr id="4" name="Text Placeholder 3"/>
          <p:cNvSpPr>
            <a:spLocks noGrp="1"/>
          </p:cNvSpPr>
          <p:nvPr>
            <p:ph type="body" sz="half" idx="2"/>
          </p:nvPr>
        </p:nvSpPr>
        <p:spPr>
          <a:xfrm>
            <a:off x="677545" y="2776855"/>
            <a:ext cx="4083050" cy="3615690"/>
          </a:xfrm>
        </p:spPr>
        <p:txBody>
          <a:bodyPr>
            <a:normAutofit lnSpcReduction="20000"/>
          </a:bodyPr>
          <a:lstStyle/>
          <a:p>
            <a:r>
              <a:rPr lang="en-US" altLang="en-US" dirty="0"/>
              <a:t>Throughout the training period, I worked with several essential tools and technologies used in professional software development environments. I became familiar with Visual Studio Code, Android Studio, and Firebase Console for app creation, debugging, and testing.</a:t>
            </a:r>
            <a:endParaRPr lang="en-US" altLang="en-US" dirty="0"/>
          </a:p>
          <a:p>
            <a:r>
              <a:rPr lang="en-US" altLang="en-US" dirty="0"/>
              <a:t>I also learned how to use Git and GitHub for version control, which allowed me to manage code updates, track changes, and collaborate efficiently. These tools taught me industry-standard practices for maintaining project integrity and documentation.</a:t>
            </a:r>
            <a:endParaRPr lang="en-US" altLang="en-US" dirty="0"/>
          </a:p>
        </p:txBody>
      </p:sp>
      <p:sp>
        <p:nvSpPr>
          <p:cNvPr id="3" name="Content Placeholder 2"/>
          <p:cNvSpPr/>
          <p:nvPr>
            <p:ph idx="1"/>
          </p:nvPr>
        </p:nvSpPr>
        <p:spPr/>
        <p:txBody>
          <a:bodyPr/>
          <a:p>
            <a:endParaRPr lang="en-US"/>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solidFill>
                  <a:schemeClr val="tx1">
                    <a:lumMod val="95000"/>
                    <a:lumOff val="5000"/>
                  </a:schemeClr>
                </a:solidFill>
              </a:rPr>
              <a:t>CHALLENGES</a:t>
            </a:r>
            <a:endParaRPr lang="en-US" dirty="0">
              <a:solidFill>
                <a:schemeClr val="tx1">
                  <a:lumMod val="95000"/>
                  <a:lumOff val="5000"/>
                </a:schemeClr>
              </a:solidFill>
            </a:endParaRPr>
          </a:p>
        </p:txBody>
      </p:sp>
      <p:sp>
        <p:nvSpPr>
          <p:cNvPr id="6" name="Content Placeholder 5"/>
          <p:cNvSpPr>
            <a:spLocks noGrp="1"/>
          </p:cNvSpPr>
          <p:nvPr>
            <p:ph idx="1"/>
          </p:nvPr>
        </p:nvSpPr>
        <p:spPr>
          <a:xfrm>
            <a:off x="677334" y="1378039"/>
            <a:ext cx="8596668" cy="4663323"/>
          </a:xfrm>
        </p:spPr>
        <p:txBody>
          <a:bodyPr>
            <a:noAutofit/>
          </a:bodyPr>
          <a:lstStyle/>
          <a:p>
            <a:pPr lvl="1"/>
            <a:r>
              <a:rPr lang="en-US" sz="2000" dirty="0"/>
              <a:t>Technical Complexity: Initially, I found it difficult to understand the working principles and components of the machines. The machine's automation and precision required time to grasp. </a:t>
            </a:r>
            <a:endParaRPr lang="en-US" sz="2000" dirty="0"/>
          </a:p>
          <a:p>
            <a:pPr lvl="1"/>
            <a:r>
              <a:rPr lang="en-US" sz="2000" dirty="0"/>
              <a:t>SAP Navigation: Learning the SAP Plant Maintenance module was challenging at first. 49 Understanding transaction codes and navigating through work order creation and scheduling required repeated practice and guidance.</a:t>
            </a:r>
            <a:endParaRPr lang="en-US" sz="2000" dirty="0"/>
          </a:p>
          <a:p>
            <a:pPr lvl="1"/>
            <a:r>
              <a:rPr lang="en-US" sz="2000" dirty="0"/>
              <a:t>The Production Industry is constantly evolving, new technologies are introduced continuously. As a result, we need to keep up with these changes to correctly maintain and improve our production lines</a:t>
            </a:r>
            <a:endParaRPr lang="en-US" sz="2000" dirty="0"/>
          </a:p>
          <a:p>
            <a:pPr lvl="1"/>
            <a:r>
              <a:rPr lang="en-US" sz="2000" dirty="0"/>
              <a:t>Technical Terminologies: At first, I couldn’t follow discussion in the Engineering meeting, because I didn’t understand the terminologies being used. With time I grasped the concepts and could understand what was being said</a:t>
            </a:r>
            <a:endParaRPr lang="en-US" sz="2000" dirty="0"/>
          </a:p>
          <a:p>
            <a:endParaRPr lang="en-US" sz="2000" dirty="0"/>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RECOMMENDATION</a:t>
            </a:r>
            <a:endParaRPr lang="en-US" dirty="0">
              <a:solidFill>
                <a:schemeClr val="tx1"/>
              </a:solidFill>
            </a:endParaRPr>
          </a:p>
        </p:txBody>
      </p:sp>
      <p:sp>
        <p:nvSpPr>
          <p:cNvPr id="3" name="Content Placeholder 2"/>
          <p:cNvSpPr>
            <a:spLocks noGrp="1"/>
          </p:cNvSpPr>
          <p:nvPr>
            <p:ph idx="1"/>
          </p:nvPr>
        </p:nvSpPr>
        <p:spPr>
          <a:xfrm>
            <a:off x="677334" y="1302327"/>
            <a:ext cx="8596668" cy="5555673"/>
          </a:xfrm>
        </p:spPr>
        <p:txBody>
          <a:bodyPr>
            <a:noAutofit/>
          </a:bodyPr>
          <a:lstStyle/>
          <a:p>
            <a:r>
              <a:rPr lang="en-US" sz="2400" dirty="0"/>
              <a:t>1. Continue to provide opportunities for interns to rotate across departments to gain holistic exposure. </a:t>
            </a:r>
            <a:endParaRPr lang="en-US" sz="2400" dirty="0"/>
          </a:p>
          <a:p>
            <a:r>
              <a:rPr lang="en-US" sz="2400" dirty="0"/>
              <a:t>2. Provide concise SAP training manuals or tutorials to help new interns quickly adapt to the software environment. </a:t>
            </a:r>
            <a:endParaRPr lang="en-US" sz="2400" dirty="0"/>
          </a:p>
          <a:p>
            <a:r>
              <a:rPr lang="en-US" sz="2400" dirty="0"/>
              <a:t>3. Encourage regular review meetings for interns to share challenges and suggestions for improvements. </a:t>
            </a:r>
            <a:endParaRPr lang="en-US" sz="2400" dirty="0"/>
          </a:p>
          <a:p>
            <a:r>
              <a:rPr lang="en-US" sz="2400" dirty="0"/>
              <a:t>4. Implement more structured knowledge transfer sessions between interns and technicians.</a:t>
            </a:r>
            <a:endParaRPr lang="en-US" sz="2400" dirty="0"/>
          </a:p>
          <a:p>
            <a:r>
              <a:rPr lang="en-US" sz="2400" dirty="0"/>
              <a:t>5. Schools should teach some of the software’s like SAP to students before they go for I.T</a:t>
            </a:r>
            <a:endParaRPr lang="en-US" sz="2400" dirty="0"/>
          </a:p>
          <a:p>
            <a:endParaRPr lang="en-US" sz="2400" dirty="0"/>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solidFill>
                  <a:schemeClr val="tx1">
                    <a:lumMod val="95000"/>
                    <a:lumOff val="5000"/>
                  </a:schemeClr>
                </a:solidFill>
              </a:rPr>
              <a:t>CONCLUSION</a:t>
            </a:r>
            <a:endParaRPr lang="en-US" dirty="0">
              <a:solidFill>
                <a:schemeClr val="tx1">
                  <a:lumMod val="95000"/>
                  <a:lumOff val="5000"/>
                </a:schemeClr>
              </a:solidFill>
            </a:endParaRPr>
          </a:p>
        </p:txBody>
      </p:sp>
      <p:sp>
        <p:nvSpPr>
          <p:cNvPr id="6" name="Content Placeholder 5"/>
          <p:cNvSpPr>
            <a:spLocks noGrp="1"/>
          </p:cNvSpPr>
          <p:nvPr>
            <p:ph idx="1"/>
          </p:nvPr>
        </p:nvSpPr>
        <p:spPr/>
        <p:txBody>
          <a:bodyPr/>
          <a:lstStyle/>
          <a:p>
            <a:pPr marL="0" indent="0">
              <a:buNone/>
            </a:pPr>
            <a:endParaRPr lang="en-US" dirty="0"/>
          </a:p>
          <a:p>
            <a:endParaRPr lang="en-US" dirty="0"/>
          </a:p>
        </p:txBody>
      </p:sp>
      <p:sp>
        <p:nvSpPr>
          <p:cNvPr id="2" name="Rectangle 1"/>
          <p:cNvSpPr/>
          <p:nvPr/>
        </p:nvSpPr>
        <p:spPr>
          <a:xfrm>
            <a:off x="547331" y="1760146"/>
            <a:ext cx="9730009" cy="4679807"/>
          </a:xfrm>
          <a:prstGeom prst="rect">
            <a:avLst/>
          </a:prstGeom>
        </p:spPr>
        <p:txBody>
          <a:bodyPr wrap="square">
            <a:spAutoFit/>
          </a:bodyPr>
          <a:lstStyle/>
          <a:p>
            <a:pPr>
              <a:lnSpc>
                <a:spcPct val="107000"/>
              </a:lnSpc>
            </a:pPr>
            <a:r>
              <a:rPr lang="en-GB"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This work experience programme has benefited me in several ways, both in the practical aspect of my field of study and in real-life situations. This </a:t>
            </a:r>
            <a:r>
              <a:rPr lang="en-US"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experience help</a:t>
            </a:r>
            <a:r>
              <a:rPr lang="en-GB"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ed me</a:t>
            </a:r>
            <a:r>
              <a:rPr lang="en-US"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establish and develop </a:t>
            </a:r>
            <a:r>
              <a:rPr lang="en-GB"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my</a:t>
            </a:r>
            <a:r>
              <a:rPr lang="en-US"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time management skills because most employers require you to adhere to a specific schedule and arrive at </a:t>
            </a:r>
            <a:r>
              <a:rPr lang="en-GB"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your</a:t>
            </a:r>
            <a:r>
              <a:rPr lang="en-US"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workplace on time.</a:t>
            </a:r>
            <a:r>
              <a:rPr lang="en-GB"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It has also helped me in verbal communication and teamwork with other people within and outside of my workplace.</a:t>
            </a:r>
            <a:endParaRPr lang="en-US" sz="2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Finally, it has helped shine more light on my field of study, not just knowing the practical aspect but knowing what it takes to be called an Engineer.</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8000" dirty="0"/>
              <a:t>THANK YOU</a:t>
            </a:r>
            <a:endParaRPr lang="en-US" sz="8000" dirty="0"/>
          </a:p>
        </p:txBody>
      </p:sp>
    </p:spTree>
  </p:cSld>
  <p:clrMapOvr>
    <a:masterClrMapping/>
  </p:clrMapOvr>
  <p:transition spd="slow">
    <p:push dir="u"/>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5210</Words>
  <Application>WPS Presentation</Application>
  <PresentationFormat>Widescreen</PresentationFormat>
  <Paragraphs>69</Paragraphs>
  <Slides>11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Wingdings 3</vt:lpstr>
      <vt:lpstr>Symbol</vt:lpstr>
      <vt:lpstr>Arial</vt:lpstr>
      <vt:lpstr>Times New Roman</vt:lpstr>
      <vt:lpstr>Calibri</vt:lpstr>
      <vt:lpstr>Trebuchet MS</vt:lpstr>
      <vt:lpstr>Microsoft YaHei</vt:lpstr>
      <vt:lpstr>Arial Unicode MS</vt:lpstr>
      <vt:lpstr>Facet</vt:lpstr>
      <vt:lpstr>STUDENTS’ INDUSTRIAL WORKS EXPERIENCE SCHEME(SIWES) ATTACHMENT REPORT      </vt:lpstr>
      <vt:lpstr>INTRODUCTION</vt:lpstr>
      <vt:lpstr>OVERVIEW OF ACTIVITIES</vt:lpstr>
      <vt:lpstr>TAKING DOWN ISSUES DURING ENGINEERING MEETING</vt:lpstr>
      <vt:lpstr>WORKING ON THE HP COMPRESSOR</vt:lpstr>
      <vt:lpstr>TAKING RUNNING HOURS OF UTILITY MACHINES</vt:lpstr>
      <vt:lpstr>WROTE WORK PERMIT</vt:lpstr>
      <vt:lpstr>CHALLENGES</vt:lpstr>
      <vt:lpstr>RECOMMENDATION</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STUDENTS’ INDUSTRIAL WORKS EXPERIENCE SCHEME(SIWES) ATTACHMENT REPORT</dc:title>
  <dc:creator>USER</dc:creator>
  <cp:lastModifiedBy>WRLD KING</cp:lastModifiedBy>
  <cp:revision>24</cp:revision>
  <dcterms:created xsi:type="dcterms:W3CDTF">2024-11-11T21:32:00Z</dcterms:created>
  <dcterms:modified xsi:type="dcterms:W3CDTF">2025-10-27T23:20:41Z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9AEB7FD791874E3FB7C278C83C8DC7B9_12</vt:lpwstr>
  </property>
  <property fmtid="{D5CDD505-2E9C-101B-9397-08002B2CF9AE}" pid="3" name="KSOProductBuildVer">
    <vt:lpwstr>1033-12.2.0.21931</vt:lpwstr>
  </property>
</Properties>
</file>