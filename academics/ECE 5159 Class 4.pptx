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2"/>
    <p:sldId id="331" r:id="rId3"/>
    <p:sldId id="340" r:id="rId4"/>
    <p:sldId id="342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50" r:id="rId13"/>
    <p:sldId id="370" r:id="rId14"/>
    <p:sldId id="372" r:id="rId15"/>
    <p:sldId id="373" r:id="rId16"/>
    <p:sldId id="371" r:id="rId17"/>
    <p:sldId id="351" r:id="rId18"/>
    <p:sldId id="352" r:id="rId19"/>
    <p:sldId id="353" r:id="rId20"/>
    <p:sldId id="354" r:id="rId21"/>
    <p:sldId id="355" r:id="rId22"/>
    <p:sldId id="358" r:id="rId23"/>
    <p:sldId id="356" r:id="rId24"/>
    <p:sldId id="357" r:id="rId25"/>
    <p:sldId id="360" r:id="rId26"/>
    <p:sldId id="361" r:id="rId27"/>
    <p:sldId id="362" r:id="rId28"/>
    <p:sldId id="363" r:id="rId29"/>
    <p:sldId id="364" r:id="rId30"/>
    <p:sldId id="365" r:id="rId31"/>
    <p:sldId id="366" r:id="rId32"/>
    <p:sldId id="367" r:id="rId33"/>
    <p:sldId id="368" r:id="rId34"/>
    <p:sldId id="369" r:id="rId35"/>
    <p:sldId id="374" r:id="rId36"/>
    <p:sldId id="375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264695" y="4738499"/>
            <a:ext cx="913888" cy="118962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1589405" y="160417"/>
            <a:ext cx="9144000" cy="80778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vert="horz" lIns="91440" tIns="45720" rIns="91440" bIns="45720" rtlCol="0" anchor="t">
            <a:no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ECE </a:t>
            </a:r>
            <a:r>
              <a:rPr lang="en-US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  <a:r>
              <a:rPr lang="en-US" altLang="en-GB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159-Class 4</a:t>
            </a:r>
          </a:p>
        </p:txBody>
      </p:sp>
      <p:sp>
        <p:nvSpPr>
          <p:cNvPr id="9" name="Content Placeholder 2"/>
          <p:cNvSpPr>
            <a:spLocks noGrp="1"/>
          </p:cNvSpPr>
          <p:nvPr/>
        </p:nvSpPr>
        <p:spPr>
          <a:xfrm>
            <a:off x="2564130" y="2010410"/>
            <a:ext cx="7193915" cy="1594485"/>
          </a:xfrm>
          <a:prstGeom prst="rect">
            <a:avLst/>
          </a:prstGeom>
          <a:solidFill>
            <a:schemeClr val="bg1"/>
          </a:solidFill>
          <a:ln w="63500" cmpd="tri">
            <a:solidFill>
              <a:srgbClr val="92D050"/>
            </a:solidFill>
          </a:ln>
        </p:spPr>
        <p:txBody>
          <a:bodyPr vert="horz" lIns="91440" tIns="45720" rIns="91440" bIns="45720" rtlCol="0">
            <a:no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GB" sz="5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DELANEY" panose="02000000000000000000" pitchFamily="2" charset="0"/>
              </a:rPr>
              <a:t> </a:t>
            </a:r>
            <a:r>
              <a:rPr lang="en-GB" sz="5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DELANEY" panose="02000000000000000000" pitchFamily="2" charset="0"/>
              </a:rPr>
              <a:t>DIGITAL </a:t>
            </a:r>
            <a:r>
              <a:rPr lang="en-US" altLang="en-GB" sz="5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DELANEY" panose="02000000000000000000" pitchFamily="2" charset="0"/>
              </a:rPr>
              <a:t>SYSTEM DESIGN WITH VHDL</a:t>
            </a:r>
          </a:p>
        </p:txBody>
      </p:sp>
      <p:sp>
        <p:nvSpPr>
          <p:cNvPr id="10" name="Subtitle 2"/>
          <p:cNvSpPr txBox="1"/>
          <p:nvPr/>
        </p:nvSpPr>
        <p:spPr>
          <a:xfrm>
            <a:off x="4079040" y="4773100"/>
            <a:ext cx="5097097" cy="1490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GB" sz="3200" dirty="0">
                <a:solidFill>
                  <a:schemeClr val="tx2"/>
                </a:solidFill>
                <a:latin typeface="Arial Black" panose="020B0A04020102020204" pitchFamily="34" charset="0"/>
              </a:rPr>
              <a:t>Engr. Professor  Alice </a:t>
            </a:r>
            <a:r>
              <a:rPr lang="en-GB" sz="3200" dirty="0" err="1">
                <a:solidFill>
                  <a:schemeClr val="tx2"/>
                </a:solidFill>
                <a:latin typeface="Arial Black" panose="020B0A04020102020204" pitchFamily="34" charset="0"/>
              </a:rPr>
              <a:t>Oluwafunke</a:t>
            </a:r>
            <a:r>
              <a:rPr lang="en-GB" sz="3200" dirty="0">
                <a:solidFill>
                  <a:schemeClr val="tx2"/>
                </a:solidFill>
                <a:latin typeface="Arial Black" panose="020B0A04020102020204" pitchFamily="34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Arial Black" panose="020B0A04020102020204" pitchFamily="34" charset="0"/>
              </a:rPr>
              <a:t>Oke</a:t>
            </a:r>
            <a:endParaRPr lang="en-GB" sz="3200" dirty="0">
              <a:solidFill>
                <a:schemeClr val="tx2"/>
              </a:solidFill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GB" sz="2000" dirty="0">
                <a:solidFill>
                  <a:schemeClr val="tx2"/>
                </a:solidFill>
                <a:latin typeface="Arial Narrow" panose="020B0606020202030204" pitchFamily="34" charset="0"/>
              </a:rPr>
              <a:t>Department of Computer Engineering, ACU, Oyo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454855" y="626966"/>
            <a:ext cx="12448735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rmation  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repres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 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36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 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1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US" sz="3600" spc="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spc="-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600" dirty="0">
                <a:solidFill>
                  <a:srgbClr val="5D5D6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30555"/>
            <a:r>
              <a:rPr lang="en-US" sz="3600" dirty="0">
                <a:solidFill>
                  <a:srgbClr val="5D5D6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30555"/>
            <a:r>
              <a:rPr lang="en-US" sz="360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Types of Data Objects</a:t>
            </a:r>
          </a:p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nals</a:t>
            </a: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Constants</a:t>
            </a:r>
          </a:p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able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30555"/>
            <a:endParaRPr lang="en-US" sz="3200" spc="3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32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gn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 are the most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objects </a:t>
            </a:r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scribi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spc="-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gic</a:t>
            </a:r>
            <a:r>
              <a:rPr lang="en-US" sz="32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circui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200" spc="1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14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ariables are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metim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seful</a:t>
            </a:r>
            <a:r>
              <a:rPr lang="en-US" sz="32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but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infr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tly us</a:t>
            </a:r>
            <a:r>
              <a:rPr lang="en-US" sz="3200" spc="-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3C602-7140-EEA3-1AAA-A84F3BC754BD}"/>
              </a:ext>
            </a:extLst>
          </p:cNvPr>
          <p:cNvSpPr txBox="1"/>
          <p:nvPr/>
        </p:nvSpPr>
        <p:spPr>
          <a:xfrm>
            <a:off x="3352800" y="0"/>
            <a:ext cx="576834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VHDL DATA OBJECTS</a:t>
            </a:r>
          </a:p>
        </p:txBody>
      </p:sp>
    </p:spTree>
    <p:extLst>
      <p:ext uri="{BB962C8B-B14F-4D97-AF65-F5344CB8AC3E}">
        <p14:creationId xmlns:p14="http://schemas.microsoft.com/office/powerpoint/2010/main" val="1363674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1592580" y="660993"/>
            <a:ext cx="135864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43405" marR="0" algn="l">
              <a:spcAft>
                <a:spcPts val="0"/>
              </a:spcAft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3600" b="1" spc="14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ru</a:t>
            </a:r>
            <a:r>
              <a:rPr lang="en-US" sz="3600" b="1" spc="2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3600" b="1" spc="-1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b="1" spc="11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3600" b="1" spc="-4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3600" b="1" spc="12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spc="-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3600" b="1" spc="-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3600" b="1" spc="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3600" b="1" spc="-3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ying</a:t>
            </a:r>
            <a:r>
              <a:rPr lang="en-US" sz="3600" b="1" spc="14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spc="1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ata</a:t>
            </a:r>
            <a:r>
              <a:rPr lang="en-US" sz="3600" b="1" spc="14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3600" b="1" spc="-10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3600" b="1" spc="2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ect </a:t>
            </a:r>
            <a:r>
              <a:rPr lang="en-US" sz="3600" b="1" spc="7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names</a:t>
            </a:r>
            <a:r>
              <a:rPr lang="en-US" sz="3600" b="1" spc="6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are:</a:t>
            </a:r>
          </a:p>
          <a:p>
            <a:pPr marL="1843405" marR="0" algn="l">
              <a:spcAft>
                <a:spcPts val="0"/>
              </a:spcAft>
            </a:pPr>
            <a:r>
              <a:rPr lang="en-US" sz="3600" spc="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ny </a:t>
            </a:r>
            <a:r>
              <a:rPr lang="en-US" sz="3600" spc="4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alphanum</a:t>
            </a:r>
            <a:r>
              <a:rPr lang="en-US" sz="3600" spc="-1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3600" spc="5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3600" spc="15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character</a:t>
            </a:r>
            <a:r>
              <a:rPr lang="en-US" sz="3600" spc="5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-3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spc="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well</a:t>
            </a:r>
            <a:r>
              <a:rPr lang="en-US" sz="3600" spc="13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spc="4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3600" spc="3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-16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“_”</a:t>
            </a:r>
            <a:r>
              <a:rPr lang="en-US" sz="3600" spc="6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un</a:t>
            </a:r>
            <a:r>
              <a:rPr lang="en-US" sz="3600" spc="2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erscore </a:t>
            </a:r>
            <a:r>
              <a:rPr lang="en-US" sz="3600" spc="-1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3600" spc="3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ar</a:t>
            </a:r>
            <a:r>
              <a:rPr lang="en-US" sz="3600" spc="-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spc="-1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3600" spc="3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3600" spc="-1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r, i.e. </a:t>
            </a:r>
          </a:p>
          <a:p>
            <a:pPr marL="1843405" marR="0" algn="l">
              <a:spcAft>
                <a:spcPts val="0"/>
              </a:spcAft>
            </a:pPr>
            <a:r>
              <a:rPr lang="en-US" sz="36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Alphabet</a:t>
            </a:r>
            <a:r>
              <a:rPr lang="en-US" sz="3600" b="1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 A to Z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(VHDL </a:t>
            </a:r>
            <a:r>
              <a:rPr lang="en-US" sz="36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not case sensitive) and </a:t>
            </a:r>
          </a:p>
          <a:p>
            <a:pPr marL="1843405" marR="0" algn="l">
              <a:spcAft>
                <a:spcPts val="0"/>
              </a:spcAft>
            </a:pPr>
            <a:r>
              <a:rPr lang="en-US" sz="3600" b="1" kern="100" dirty="0">
                <a:latin typeface="Nunito" pitchFamily="2" charset="0"/>
                <a:cs typeface="Times New Roman" panose="02020603050405020304" pitchFamily="18" charset="0"/>
              </a:rPr>
              <a:t>Digits 0 to 9</a:t>
            </a:r>
            <a:endParaRPr lang="en-US" sz="3600" b="1" kern="100" dirty="0"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3352800" y="0"/>
            <a:ext cx="650748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DATA OBJECTS NAMES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E39B44-3AFF-74D7-DEA3-2F589EE6B3F9}"/>
              </a:ext>
            </a:extLst>
          </p:cNvPr>
          <p:cNvSpPr txBox="1"/>
          <p:nvPr/>
        </p:nvSpPr>
        <p:spPr>
          <a:xfrm>
            <a:off x="-454855" y="3985260"/>
            <a:ext cx="124487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/>
            <a:r>
              <a:rPr lang="en-US" sz="360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Caveats of Data Objects</a:t>
            </a:r>
          </a:p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It cannot</a:t>
            </a:r>
            <a:r>
              <a:rPr lang="en-US" sz="3600" spc="13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en-US" sz="3600" spc="16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spc="13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VHDL</a:t>
            </a:r>
            <a:r>
              <a:rPr lang="en-US" sz="3600" spc="15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ke</a:t>
            </a:r>
            <a:r>
              <a:rPr lang="en-US" sz="3600" spc="4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3600" spc="2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rd</a:t>
            </a:r>
            <a:endParaRPr lang="en-US" sz="3600" spc="-5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en-US" sz="3600" spc="1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must</a:t>
            </a:r>
            <a:r>
              <a:rPr lang="en-US" sz="3600" spc="9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begin </a:t>
            </a:r>
            <a:r>
              <a:rPr lang="en-US" sz="3600" spc="7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with </a:t>
            </a:r>
            <a:r>
              <a:rPr lang="en-US" sz="3600" spc="10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spc="15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15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le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tter</a:t>
            </a:r>
          </a:p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en-US" sz="3600" spc="15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cannot</a:t>
            </a:r>
            <a:r>
              <a:rPr lang="en-US" sz="3600" spc="14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-2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en-US" sz="3600" spc="15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155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wi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 un</a:t>
            </a:r>
            <a:r>
              <a:rPr lang="en-US" sz="3600" spc="2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erscore</a:t>
            </a:r>
            <a:r>
              <a:rPr lang="en-US" sz="3600" spc="6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It c</a:t>
            </a:r>
            <a:r>
              <a:rPr lang="en-US" sz="3600" spc="-2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nnot have </a:t>
            </a:r>
            <a:r>
              <a:rPr lang="en-US" sz="3600" spc="-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wo </a:t>
            </a:r>
            <a:r>
              <a:rPr lang="en-US" sz="3600" spc="-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spc="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cc</a:t>
            </a:r>
            <a:r>
              <a:rPr lang="en-US" sz="3600" spc="-3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spc="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spc="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3600" spc="-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sz="3600" spc="2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un</a:t>
            </a:r>
            <a:r>
              <a:rPr lang="en-US" sz="3600" spc="5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er</a:t>
            </a:r>
            <a:r>
              <a:rPr lang="en-US" sz="3600" spc="-4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spc="-5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ores. </a:t>
            </a:r>
            <a:endParaRPr lang="en-US" sz="3600" spc="-5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268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3352800" y="0"/>
            <a:ext cx="650748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DATA OBJECTS NAMES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E39B44-3AFF-74D7-DEA3-2F589EE6B3F9}"/>
              </a:ext>
            </a:extLst>
          </p:cNvPr>
          <p:cNvSpPr txBox="1"/>
          <p:nvPr/>
        </p:nvSpPr>
        <p:spPr>
          <a:xfrm>
            <a:off x="-332935" y="1074420"/>
            <a:ext cx="1244873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/>
            <a:r>
              <a:rPr lang="en-US" sz="360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Examples of Valid Data Objects Names</a:t>
            </a:r>
          </a:p>
          <a:p>
            <a:pPr marL="630555"/>
            <a:r>
              <a:rPr lang="en-US" sz="36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Mohd4,	 	Zara,	</a:t>
            </a:r>
            <a:r>
              <a:rPr lang="en-US" sz="3600" dirty="0" err="1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Xyz</a:t>
            </a:r>
            <a:r>
              <a:rPr lang="en-US" sz="36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	</a:t>
            </a:r>
            <a:r>
              <a:rPr lang="en-US" sz="3600" dirty="0" err="1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move_name</a:t>
            </a:r>
            <a:r>
              <a:rPr lang="en-US" sz="36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marL="630555"/>
            <a:r>
              <a:rPr lang="en-US" sz="36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a_123, 			j, 		Byte	x-y</a:t>
            </a:r>
          </a:p>
          <a:p>
            <a:pPr marL="630555"/>
            <a:endParaRPr lang="en-US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0555"/>
            <a:r>
              <a:rPr lang="en-US" sz="360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Examples of Invalid Data Objects Names</a:t>
            </a:r>
          </a:p>
          <a:p>
            <a:pPr marL="630555"/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1x, 		_</a:t>
            </a:r>
            <a:r>
              <a:rPr lang="en-US" sz="3600" dirty="0" err="1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zara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			a__123, 			</a:t>
            </a:r>
            <a:r>
              <a:rPr lang="en-US" sz="3600" dirty="0" err="1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move_name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1719437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3352800" y="0"/>
            <a:ext cx="650748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VHDL KEYWORDS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E39B44-3AFF-74D7-DEA3-2F589EE6B3F9}"/>
              </a:ext>
            </a:extLst>
          </p:cNvPr>
          <p:cNvSpPr txBox="1"/>
          <p:nvPr/>
        </p:nvSpPr>
        <p:spPr>
          <a:xfrm>
            <a:off x="-332935" y="1074420"/>
            <a:ext cx="1244873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/>
            <a:r>
              <a:rPr lang="en-US" sz="36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Keywords are reserve words by VHDL because they have special meaning to the </a:t>
            </a:r>
            <a:r>
              <a:rPr lang="en-US" sz="3600" dirty="0" err="1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programme</a:t>
            </a:r>
            <a:endParaRPr lang="en-US" sz="3600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0555"/>
            <a:endParaRPr lang="en-US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0555"/>
            <a:endParaRPr lang="en-US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30555"/>
            <a:r>
              <a:rPr lang="en-US" sz="360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Examples of Keywords are:</a:t>
            </a:r>
          </a:p>
          <a:p>
            <a:pPr marL="630555"/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ENTITY 		ARCHITECTURE	 	SIGNAL	 			BIT </a:t>
            </a:r>
          </a:p>
          <a:p>
            <a:pPr marL="630555"/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TYPE				VARIABLE 				CONSTANT 		FOR 	 PORT 		    COMPONENT 			PACKAGE	 		CASE USE 				PROCESS	 				WHILE 				OF </a:t>
            </a:r>
          </a:p>
          <a:p>
            <a:pPr marL="630555"/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ELSE		 		GENERIC					 DOWNTO			IF </a:t>
            </a:r>
          </a:p>
        </p:txBody>
      </p:sp>
    </p:spTree>
    <p:extLst>
      <p:ext uri="{BB962C8B-B14F-4D97-AF65-F5344CB8AC3E}">
        <p14:creationId xmlns:p14="http://schemas.microsoft.com/office/powerpoint/2010/main" val="3483521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563880" y="1019133"/>
            <a:ext cx="122453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61035"/>
            <a:r>
              <a:rPr lang="en-US" sz="3600" spc="-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gn</a:t>
            </a:r>
            <a:r>
              <a:rPr lang="en-US" sz="3600" spc="2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1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13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US" sz="3600" spc="2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9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90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3600" spc="2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spc="15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spc="1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3253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 data object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endParaRPr lang="en-US" sz="3600" spc="-5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3253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3600" spc="-5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3600" spc="-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3600" spc="-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3600" spc="-8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-3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spc="5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gnal</a:t>
            </a:r>
            <a:r>
              <a:rPr lang="en-US" sz="3600" spc="-1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US" sz="3600" spc="-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spc="-6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circui</a:t>
            </a:r>
            <a:r>
              <a:rPr lang="en-US" sz="3600" spc="4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 </a:t>
            </a:r>
          </a:p>
          <a:p>
            <a:pPr marL="661035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avoid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ion</a:t>
            </a:r>
            <a:r>
              <a:rPr lang="en-US" sz="36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3600" spc="2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VH</a:t>
            </a:r>
            <a:r>
              <a:rPr lang="en-US" sz="3600" spc="-3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3600" spc="-6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  <a:r>
              <a:rPr lang="en-US" sz="3600" spc="-3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ob</a:t>
            </a:r>
            <a:r>
              <a:rPr lang="en-US" sz="3600" spc="-5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je</a:t>
            </a:r>
            <a:r>
              <a:rPr lang="en-US" sz="3600" spc="-5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 is written as </a:t>
            </a:r>
            <a:r>
              <a:rPr lang="en-US" sz="3600" spc="8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5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IGNAL</a:t>
            </a:r>
          </a:p>
          <a:p>
            <a:pPr marL="661035"/>
            <a:endParaRPr lang="en-US" sz="3600" b="1" kern="100" dirty="0">
              <a:latin typeface="Nunito" pitchFamily="2" charset="0"/>
              <a:cs typeface="Times New Roman" panose="02020603050405020304" pitchFamily="18" charset="0"/>
            </a:endParaRPr>
          </a:p>
          <a:p>
            <a:pPr marL="661035"/>
            <a:r>
              <a:rPr lang="en-US" sz="3600" spc="-2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IGNAL</a:t>
            </a:r>
            <a:r>
              <a:rPr lang="en-US" sz="3600" spc="-9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3600" spc="-2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spc="-1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spc="-11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ob</a:t>
            </a:r>
            <a:r>
              <a:rPr lang="en-US" sz="3600" spc="-5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3600" spc="-1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3600" spc="-10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is</a:t>
            </a:r>
            <a:r>
              <a:rPr lang="en-US" sz="3600" spc="-9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used 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n-US" sz="3600" spc="-11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repr</a:t>
            </a:r>
            <a:r>
              <a:rPr lang="en-US" sz="3600" spc="3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3600" spc="-6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3600" spc="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3600" spc="-9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946785" indent="-2857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49494D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Individual </a:t>
            </a:r>
            <a:r>
              <a:rPr lang="en-US" sz="3600" spc="5" dirty="0">
                <a:solidFill>
                  <a:srgbClr val="38383B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solidFill>
                  <a:srgbClr val="5D5D60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3600" spc="45" dirty="0">
                <a:solidFill>
                  <a:srgbClr val="5D5D60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3600" spc="50" dirty="0">
                <a:solidFill>
                  <a:srgbClr val="212123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solidFill>
                  <a:srgbClr val="5D5D60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3600" spc="-95" dirty="0">
                <a:solidFill>
                  <a:srgbClr val="5D5D60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77777B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si</a:t>
            </a:r>
            <a:r>
              <a:rPr lang="en-US" sz="3600" spc="30" dirty="0">
                <a:solidFill>
                  <a:srgbClr val="77777B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3600" dirty="0">
                <a:solidFill>
                  <a:srgbClr val="49494D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nals</a:t>
            </a:r>
            <a:r>
              <a:rPr lang="en-US" sz="3600" spc="-40" dirty="0">
                <a:solidFill>
                  <a:srgbClr val="49494D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38383B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US" sz="3600" spc="-75" dirty="0">
                <a:solidFill>
                  <a:srgbClr val="38383B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5D5D60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spc="-135" dirty="0">
                <a:solidFill>
                  <a:srgbClr val="5D5D60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49494D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circuit.</a:t>
            </a:r>
            <a:r>
              <a:rPr lang="en-US" sz="3600" spc="-75" dirty="0">
                <a:solidFill>
                  <a:srgbClr val="49494D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i.e. ‘0’ or ‘1’</a:t>
            </a:r>
          </a:p>
          <a:p>
            <a:pPr marL="946785" indent="-2857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49494D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Mu</a:t>
            </a:r>
            <a:r>
              <a:rPr lang="en-US" sz="3600" spc="50" dirty="0">
                <a:solidFill>
                  <a:srgbClr val="212123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solidFill>
                  <a:srgbClr val="49494D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</a:t>
            </a:r>
            <a:r>
              <a:rPr lang="en-US" sz="3600" dirty="0">
                <a:solidFill>
                  <a:srgbClr val="5D5D60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ple logic</a:t>
            </a:r>
            <a:r>
              <a:rPr lang="en-US" sz="3600" dirty="0">
                <a:solidFill>
                  <a:srgbClr val="77777B"/>
                </a:solidFill>
                <a:effectLst/>
                <a:latin typeface="Nunito" pitchFamily="2" charset="0"/>
                <a:ea typeface="Arial" panose="020B0604020202020204" pitchFamily="34" charset="0"/>
              </a:rPr>
              <a:t> </a:t>
            </a:r>
            <a:r>
              <a:rPr lang="en-US" sz="3600" spc="-35" dirty="0">
                <a:solidFill>
                  <a:srgbClr val="77777B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solidFill>
                  <a:srgbClr val="49494D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ignals</a:t>
            </a:r>
            <a:r>
              <a:rPr lang="en-US" sz="3600" spc="35" dirty="0">
                <a:solidFill>
                  <a:srgbClr val="49494D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-30" dirty="0">
                <a:solidFill>
                  <a:srgbClr val="5D5D60"/>
                </a:solidFill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i.e. “1001”</a:t>
            </a:r>
            <a:endParaRPr lang="en-US" sz="3600" spc="30" dirty="0">
              <a:solidFill>
                <a:srgbClr val="38383B"/>
              </a:solidFill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46785" indent="-2857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49494D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3600" spc="30" dirty="0">
                <a:solidFill>
                  <a:srgbClr val="49494D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solidFill>
                  <a:srgbClr val="212123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3600" dirty="0">
                <a:solidFill>
                  <a:srgbClr val="49494D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ary</a:t>
            </a:r>
            <a:r>
              <a:rPr lang="en-US" sz="3600" spc="40" dirty="0">
                <a:solidFill>
                  <a:srgbClr val="49494D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49494D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num</a:t>
            </a:r>
            <a:r>
              <a:rPr lang="en-US" sz="3600" spc="5" dirty="0">
                <a:solidFill>
                  <a:srgbClr val="49494D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3600" spc="-15" dirty="0">
                <a:solidFill>
                  <a:srgbClr val="77777B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3600" spc="-35" dirty="0">
                <a:solidFill>
                  <a:srgbClr val="38383B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3600" dirty="0">
                <a:solidFill>
                  <a:srgbClr val="77777B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spc="-20" dirty="0">
                <a:solidFill>
                  <a:srgbClr val="77777B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5D5D60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(integers</a:t>
            </a:r>
            <a:r>
              <a:rPr lang="en-US" sz="3600" spc="35" dirty="0">
                <a:solidFill>
                  <a:srgbClr val="5D5D60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3600" dirty="0">
                <a:solidFill>
                  <a:srgbClr val="77777B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Either “1001” or 9</a:t>
            </a:r>
            <a:endParaRPr lang="en-US" sz="3600" b="1" kern="100" dirty="0"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1318260" y="0"/>
            <a:ext cx="1024890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DATA OBJECTS VALUES AND NUMBERS</a:t>
            </a:r>
          </a:p>
        </p:txBody>
      </p:sp>
    </p:spTree>
    <p:extLst>
      <p:ext uri="{BB962C8B-B14F-4D97-AF65-F5344CB8AC3E}">
        <p14:creationId xmlns:p14="http://schemas.microsoft.com/office/powerpoint/2010/main" val="3016572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563880" y="1532683"/>
            <a:ext cx="1224534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97865"/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GNAL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en-US" sz="3600" spc="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sent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en-US" sz="36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2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-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t.</a:t>
            </a:r>
          </a:p>
          <a:p>
            <a:pPr marL="697865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97865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en-US" sz="36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pla</a:t>
            </a:r>
            <a:r>
              <a:rPr lang="en-US" sz="3600" spc="-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3600" spc="-1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spc="-5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</a:t>
            </a:r>
            <a:r>
              <a:rPr lang="en-US" sz="3600" spc="-105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ere</a:t>
            </a:r>
            <a:r>
              <a:rPr lang="en-US" sz="3600" spc="2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si</a:t>
            </a:r>
            <a:r>
              <a:rPr lang="en-US" sz="3600" spc="-4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3600" spc="3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spc="3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spc="-11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are d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ecla</a:t>
            </a:r>
            <a:r>
              <a:rPr lang="en-US" sz="3600" spc="2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en-US" sz="3600" spc="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US" sz="3600" spc="1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VHDL</a:t>
            </a:r>
            <a:r>
              <a:rPr lang="en-US" sz="3600" spc="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code:</a:t>
            </a:r>
          </a:p>
          <a:p>
            <a:pPr marL="1269365" indent="-571500">
              <a:buFont typeface="Wingdings" panose="05000000000000000000" pitchFamily="2" charset="2"/>
              <a:buChar char="Ø"/>
            </a:pPr>
            <a:r>
              <a:rPr lang="en-US" sz="3600" spc="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3600" spc="-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ntity </a:t>
            </a:r>
            <a:r>
              <a:rPr lang="en-US" sz="3600" spc="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ecl</a:t>
            </a:r>
            <a:r>
              <a:rPr lang="en-US" sz="3600" spc="-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rati</a:t>
            </a:r>
            <a:r>
              <a:rPr lang="en-US" sz="3600" spc="-4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</a:p>
          <a:p>
            <a:pPr marL="1269365" indent="-571500">
              <a:buFont typeface="Wingdings" panose="05000000000000000000" pitchFamily="2" charset="2"/>
              <a:buChar char="Ø"/>
            </a:pPr>
            <a:r>
              <a:rPr lang="en-US" sz="3600" kern="100" dirty="0">
                <a:latin typeface="Nunito" pitchFamily="2" charset="0"/>
                <a:cs typeface="Times New Roman" panose="02020603050405020304" pitchFamily="18" charset="0"/>
              </a:rPr>
              <a:t>Declarative section of architecture</a:t>
            </a:r>
          </a:p>
          <a:p>
            <a:pPr marL="1269365" indent="-571500">
              <a:buFont typeface="Wingdings" panose="05000000000000000000" pitchFamily="2" charset="2"/>
              <a:buChar char="Ø"/>
            </a:pPr>
            <a:r>
              <a:rPr lang="en-US" sz="3600" kern="100" dirty="0">
                <a:latin typeface="Nunito" pitchFamily="2" charset="0"/>
                <a:cs typeface="Times New Roman" panose="02020603050405020304" pitchFamily="18" charset="0"/>
              </a:rPr>
              <a:t>Declarative section of a package</a:t>
            </a:r>
            <a:r>
              <a:rPr lang="en-US" sz="3600" b="1" kern="100" dirty="0">
                <a:latin typeface="Nunito" pitchFamily="2" charset="0"/>
                <a:cs typeface="Times New Roman" panose="02020603050405020304" pitchFamily="18" charset="0"/>
              </a:rPr>
              <a:t> </a:t>
            </a:r>
          </a:p>
          <a:p>
            <a:pPr marL="1269365" indent="-571500">
              <a:buFont typeface="Wingdings" panose="05000000000000000000" pitchFamily="2" charset="2"/>
              <a:buChar char="Ø"/>
            </a:pPr>
            <a:endParaRPr lang="en-US" sz="3600" b="1" kern="100" dirty="0">
              <a:latin typeface="Nunito" pitchFamily="2" charset="0"/>
              <a:cs typeface="Times New Roman" panose="02020603050405020304" pitchFamily="18" charset="0"/>
            </a:endParaRPr>
          </a:p>
          <a:p>
            <a:pPr marL="1269365" indent="-571500">
              <a:buFont typeface="Wingdings" panose="05000000000000000000" pitchFamily="2" charset="2"/>
              <a:buChar char="Ø"/>
            </a:pPr>
            <a:endParaRPr lang="en-US" sz="3600" b="1" kern="100" dirty="0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2362200" y="0"/>
            <a:ext cx="614934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SIGNAL DATA OBJECTS </a:t>
            </a:r>
          </a:p>
        </p:txBody>
      </p:sp>
    </p:spTree>
    <p:extLst>
      <p:ext uri="{BB962C8B-B14F-4D97-AF65-F5344CB8AC3E}">
        <p14:creationId xmlns:p14="http://schemas.microsoft.com/office/powerpoint/2010/main" val="1710144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251460" y="1006903"/>
            <a:ext cx="122453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61035"/>
            <a:r>
              <a:rPr lang="en-US" sz="3600" b="1" spc="-2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IGNAL</a:t>
            </a:r>
            <a:r>
              <a:rPr lang="en-US" sz="3600" b="1" spc="-9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declaration</a:t>
            </a:r>
            <a:r>
              <a:rPr lang="en-US" sz="3600" spc="-9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661035"/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Si</a:t>
            </a:r>
            <a:r>
              <a:rPr lang="en-US" sz="3600" spc="3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nal</a:t>
            </a:r>
            <a:r>
              <a:rPr lang="en-US" sz="3600" spc="-4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is always declared with an associated type as follows:</a:t>
            </a:r>
          </a:p>
          <a:p>
            <a:pPr marL="661035"/>
            <a:r>
              <a:rPr lang="en-US" sz="3600" spc="-75" dirty="0">
                <a:solidFill>
                  <a:srgbClr val="38383B"/>
                </a:solidFill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						</a:t>
            </a:r>
          </a:p>
          <a:p>
            <a:pPr marL="661035"/>
            <a:r>
              <a:rPr lang="en-US" sz="3600" b="1" spc="-75" dirty="0">
                <a:solidFill>
                  <a:srgbClr val="38383B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				</a:t>
            </a:r>
            <a:r>
              <a:rPr lang="en-US" sz="3600" b="1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SIG</a:t>
            </a:r>
            <a:r>
              <a:rPr lang="en-US" sz="3600" b="1" spc="-2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3600" b="1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</a:t>
            </a:r>
            <a:r>
              <a:rPr lang="en-US" sz="3600" b="1" spc="-4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spc="-45" dirty="0" err="1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b="1" dirty="0" err="1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3600" b="1" spc="-10" dirty="0" err="1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3600" b="1" dirty="0" err="1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US" sz="3600" b="1" spc="30" dirty="0" err="1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3600" b="1" spc="10" dirty="0" err="1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sz="3600" b="1" dirty="0" err="1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en-US" sz="3600" b="1" spc="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3600" b="1" spc="-6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en-US" sz="3600" b="1" spc="15" dirty="0" err="1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sz="3600" b="1" dirty="0" err="1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endParaRPr lang="en-US" sz="3600" b="1" spc="-75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865"/>
            <a:endParaRPr lang="en-US" sz="3600" spc="-25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865"/>
            <a:endParaRPr lang="en-US" sz="3600" spc="-25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865"/>
            <a:r>
              <a:rPr lang="en-US" sz="3600" spc="-2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3600" spc="-1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3600" spc="-5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sign</a:t>
            </a:r>
            <a:r>
              <a:rPr lang="en-US" sz="3600" spc="3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3600" spc="15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’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spc="-4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i="1" spc="-40" dirty="0" err="1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3600" i="1" dirty="0" err="1">
                <a:effectLst/>
                <a:latin typeface="Nunito" pitchFamily="2" charset="0"/>
                <a:ea typeface="Arial" panose="020B0604020202020204" pitchFamily="34" charset="0"/>
              </a:rPr>
              <a:t>ype</a:t>
            </a:r>
            <a:r>
              <a:rPr lang="en-US" sz="3600" i="1" spc="-25" dirty="0" err="1">
                <a:effectLst/>
                <a:latin typeface="Nunito" pitchFamily="2" charset="0"/>
                <a:ea typeface="Arial" panose="020B0604020202020204" pitchFamily="34" charset="0"/>
              </a:rPr>
              <a:t>_name</a:t>
            </a:r>
            <a:r>
              <a:rPr lang="en-US" sz="3600" i="1" spc="35" dirty="0">
                <a:effectLst/>
                <a:latin typeface="Nunito" pitchFamily="2" charset="0"/>
                <a:ea typeface="Arial" panose="020B0604020202020204" pitchFamily="34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determines</a:t>
            </a:r>
            <a:r>
              <a:rPr lang="en-US" sz="3600" spc="-3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3600" spc="2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3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eg</a:t>
            </a:r>
            <a:r>
              <a:rPr lang="en-US" sz="3600" spc="1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3600" spc="6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alues</a:t>
            </a:r>
            <a:r>
              <a:rPr lang="en-US" sz="3600" spc="4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3600" spc="4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3600" spc="-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3600" spc="2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spc="2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ig</a:t>
            </a:r>
            <a:r>
              <a:rPr lang="en-US" sz="3600" spc="6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 can</a:t>
            </a:r>
            <a:r>
              <a:rPr lang="en-US" sz="3600" spc="3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3600" spc="6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ve</a:t>
            </a:r>
            <a:r>
              <a:rPr lang="en-US" sz="3600" spc="-1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3600" spc="5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its</a:t>
            </a:r>
            <a:r>
              <a:rPr lang="en-US" sz="3600" spc="3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-85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eg</a:t>
            </a:r>
            <a:r>
              <a:rPr lang="en-US" sz="3600" spc="-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uses</a:t>
            </a:r>
            <a:r>
              <a:rPr lang="en-US" sz="3600" spc="12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US" sz="3600" spc="2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VHDL</a:t>
            </a:r>
            <a:r>
              <a:rPr lang="en-US" sz="3600" spc="5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endParaRPr lang="en-US" sz="3600" b="1" kern="100" dirty="0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2362200" y="0"/>
            <a:ext cx="788670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SIGNAL DATA OBJECTS </a:t>
            </a:r>
            <a:r>
              <a:rPr lang="en-US" sz="4000" b="1" kern="100" dirty="0" err="1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Contd</a:t>
            </a:r>
            <a:r>
              <a:rPr lang="en-US" sz="40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8855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251460" y="671691"/>
            <a:ext cx="1224534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97865"/>
            <a:r>
              <a:rPr lang="en-US" sz="4000" b="1" spc="-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Kinds </a:t>
            </a:r>
            <a:r>
              <a:rPr lang="en-US" sz="4000" b="1" spc="-5" dirty="0">
                <a:solidFill>
                  <a:schemeClr val="accent1">
                    <a:lumMod val="75000"/>
                  </a:schemeClr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4000" b="1" spc="-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4000" b="1" spc="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gn</a:t>
            </a:r>
            <a:r>
              <a:rPr lang="en-US" sz="4000" b="1" spc="2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b="1" spc="-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 types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32535" indent="-571500">
              <a:buFont typeface="Wingdings" panose="05000000000000000000" pitchFamily="2" charset="2"/>
              <a:buChar char="Ø"/>
            </a:pP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3253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</a:p>
          <a:p>
            <a:pPr marL="123253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32535" indent="-571500">
              <a:buFont typeface="Wingdings" panose="05000000000000000000" pitchFamily="2" charset="2"/>
              <a:buChar char="Ø"/>
            </a:pPr>
            <a:r>
              <a:rPr lang="en-US" sz="3600" spc="-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6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marL="123253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600" spc="-11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 marL="1232535" indent="-571500">
              <a:buFont typeface="Wingdings" panose="05000000000000000000" pitchFamily="2" charset="2"/>
              <a:buChar char="Ø"/>
            </a:pP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3253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UNSIGNE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sz="3600" spc="3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32535" indent="-571500">
              <a:buFont typeface="Wingdings" panose="05000000000000000000" pitchFamily="2" charset="2"/>
              <a:buChar char="Ø"/>
            </a:pP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GER</a:t>
            </a:r>
          </a:p>
          <a:p>
            <a:pPr marL="123253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ENUMER</a:t>
            </a:r>
            <a:r>
              <a:rPr lang="en-US" sz="3600" spc="1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TION</a:t>
            </a:r>
            <a:r>
              <a:rPr lang="en-US" sz="3600" spc="-3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123253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BOOLEAN</a:t>
            </a:r>
            <a:endParaRPr lang="en-US" sz="3600" b="1" kern="100" dirty="0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2362200" y="-68512"/>
            <a:ext cx="788670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SIGNAL DATA OBJECTS </a:t>
            </a:r>
            <a:r>
              <a:rPr lang="en-US" sz="4000" b="1" kern="100" dirty="0" err="1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Contd</a:t>
            </a:r>
            <a:r>
              <a:rPr lang="en-US" sz="40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0692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251460" y="671691"/>
            <a:ext cx="12245340" cy="5888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97865"/>
            <a:r>
              <a:rPr lang="en-US" sz="3600" b="1" spc="6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b="1" spc="-4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b="1" spc="3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3600" b="1" spc="-3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b="1" spc="1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</a:p>
          <a:p>
            <a:pPr marL="697865"/>
            <a:endParaRPr lang="en-US" sz="3600" b="1" dirty="0">
              <a:solidFill>
                <a:schemeClr val="accent1">
                  <a:lumMod val="75000"/>
                </a:schemeClr>
              </a:solidFill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80" marR="292735" algn="just">
              <a:spcBef>
                <a:spcPts val="445"/>
              </a:spcBef>
              <a:spcAft>
                <a:spcPts val="0"/>
              </a:spcAft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600" b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</a:t>
            </a:r>
            <a:r>
              <a:rPr lang="en-US" sz="3600" b="1" spc="-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3600" b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b="1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b="1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b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 of</a:t>
            </a:r>
            <a:r>
              <a:rPr lang="en-US" sz="3600" b="1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b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36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sz="36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values ‘0’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or ‘1’.</a:t>
            </a:r>
            <a:r>
              <a:rPr lang="en-US" sz="3600" spc="5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55880" marR="292735" algn="just">
              <a:spcBef>
                <a:spcPts val="445"/>
              </a:spcBef>
              <a:spcAft>
                <a:spcPts val="0"/>
              </a:spcAft>
            </a:pPr>
            <a:r>
              <a:rPr lang="en-US" sz="3600" spc="5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An</a:t>
            </a:r>
            <a:r>
              <a:rPr lang="en-US" sz="3600" spc="5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3600" b="1" spc="-7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3600" b="1" spc="2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en-US" sz="3600" b="1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ect</a:t>
            </a:r>
            <a:r>
              <a:rPr lang="en-US" sz="3600" b="1" spc="5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spc="-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3600" b="1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3600" b="1" spc="6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BI</a:t>
            </a:r>
            <a:r>
              <a:rPr lang="en-US" sz="3600" b="1" spc="-2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3600" b="1" spc="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sz="3600" b="1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VECTOR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en-US" sz="3600" spc="8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-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spc="-1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spc="6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linear</a:t>
            </a:r>
            <a:r>
              <a:rPr lang="en-US" sz="3600" spc="4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arr</a:t>
            </a:r>
            <a:r>
              <a:rPr lang="en-US" sz="3600" spc="-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3600" spc="4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-1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3600" spc="6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BIT</a:t>
            </a:r>
            <a:r>
              <a:rPr lang="en-US" sz="3600" spc="2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</a:p>
          <a:p>
            <a:pPr marL="55880" marR="292735" algn="just">
              <a:spcBef>
                <a:spcPts val="445"/>
              </a:spcBef>
              <a:spcAft>
                <a:spcPts val="0"/>
              </a:spcAft>
            </a:pPr>
            <a:r>
              <a:rPr lang="en-US" sz="3600" spc="2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objec</a:t>
            </a:r>
            <a:r>
              <a:rPr lang="en-US" sz="3600" spc="-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s.</a:t>
            </a:r>
          </a:p>
          <a:p>
            <a:pPr marL="55880" marR="292735" algn="just">
              <a:spcBef>
                <a:spcPts val="445"/>
              </a:spcBef>
              <a:spcAft>
                <a:spcPts val="0"/>
              </a:spcAft>
            </a:pP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5950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SIGNAL</a:t>
            </a:r>
            <a:r>
              <a:rPr lang="en-US" sz="3600" spc="1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600" spc="13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spc="130" baseline="-25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36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SIGN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1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j   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600" spc="-1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600" spc="-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sz="36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4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2775"/>
            <a:r>
              <a:rPr lang="en-GB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GNAL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-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600" spc="-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(7</a:t>
            </a:r>
            <a:r>
              <a:rPr lang="en-US" sz="3600" spc="-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DOWNTO</a:t>
            </a:r>
            <a:r>
              <a:rPr lang="en-US" sz="3600" spc="-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600" spc="-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5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80" marR="292735" algn="just">
              <a:spcBef>
                <a:spcPts val="445"/>
              </a:spcBef>
              <a:spcAft>
                <a:spcPts val="0"/>
              </a:spcAft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2362200" y="-68512"/>
            <a:ext cx="788670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SIGNAL DATA OBJECTS </a:t>
            </a:r>
            <a:r>
              <a:rPr lang="en-US" sz="4000" b="1" kern="100" dirty="0" err="1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Contd</a:t>
            </a:r>
            <a:r>
              <a:rPr lang="en-US" sz="40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0134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26670" y="1250811"/>
            <a:ext cx="12245340" cy="5747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9530" marR="295910" indent="126365" algn="just">
              <a:spcAft>
                <a:spcPts val="0"/>
              </a:spcAft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multibit</a:t>
            </a:r>
            <a:r>
              <a:rPr lang="en-US" sz="36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b="1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3600" i="1" spc="-2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represents</a:t>
            </a:r>
            <a:r>
              <a:rPr lang="en-US" sz="3600" spc="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r>
              <a:rPr lang="en-US" sz="3600" spc="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49530" marR="295910" indent="126365" algn="just">
              <a:spcAft>
                <a:spcPts val="0"/>
              </a:spcAft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sing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 quantity,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49530" marR="295910" indent="126365" algn="just">
              <a:spcAft>
                <a:spcPts val="0"/>
              </a:spcAft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referred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9530" marR="295910" indent="126365" algn="just">
              <a:spcAft>
                <a:spcPts val="0"/>
              </a:spcAft>
            </a:pPr>
            <a:endParaRPr lang="en-US" sz="3600" spc="2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" marR="295910" indent="126365" algn="just">
              <a:spcAft>
                <a:spcPts val="0"/>
              </a:spcAft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tax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rring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gnals individually</a:t>
            </a:r>
            <a:r>
              <a:rPr lang="en-US" sz="36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2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3600" spc="-1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),</a:t>
            </a:r>
            <a:r>
              <a:rPr lang="en-US" sz="3600" spc="-2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49530" marR="295910" indent="126365" algn="just">
              <a:spcAft>
                <a:spcPts val="0"/>
              </a:spcAft>
            </a:pPr>
            <a:r>
              <a:rPr lang="en-US" sz="3600" spc="5" dirty="0"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j</a:t>
            </a:r>
            <a:r>
              <a:rPr lang="en-US" sz="3600" i="1" spc="2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3600" i="1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2</a:t>
            </a:r>
            <a:r>
              <a:rPr lang="en-US" sz="3600" i="1" spc="-2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3600" i="1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,</a:t>
            </a:r>
            <a:r>
              <a:rPr lang="en-US" sz="3600" i="1" spc="4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i="1" spc="35" dirty="0"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j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6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spc="3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j(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4). 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 assignm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en-US" sz="36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</a:p>
          <a:p>
            <a:pPr marL="49530" marR="295910" indent="126365" algn="just">
              <a:spcAft>
                <a:spcPts val="0"/>
              </a:spcAft>
            </a:pP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80" marR="292735" algn="just">
              <a:spcBef>
                <a:spcPts val="445"/>
              </a:spcBef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&lt;=</a:t>
            </a:r>
            <a:r>
              <a:rPr lang="en-US" sz="3600" spc="-8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  <a:r>
              <a:rPr lang="en-US" sz="36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pPr marL="371475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</a:t>
            </a:r>
            <a:r>
              <a:rPr lang="en-US" sz="36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3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sz="3600" spc="8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1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5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3600" spc="-5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2)</a:t>
            </a:r>
            <a:r>
              <a:rPr lang="en-US" sz="3600" spc="4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1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(3)=I</a:t>
            </a:r>
            <a:r>
              <a:rPr lang="en-US" sz="3600" spc="-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spc="2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3600" i="1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(4)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500"/>
              </a:lnSpc>
              <a:spcBef>
                <a:spcPts val="45"/>
              </a:spcBef>
            </a:pP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15950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2556510" y="167708"/>
            <a:ext cx="707898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spc="6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000" b="1" spc="-4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000" b="1" spc="3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4000" b="1" spc="-3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000" b="1" spc="1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lang="en-US" sz="4000" b="1" kern="100" dirty="0" err="1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Contd</a:t>
            </a:r>
            <a:r>
              <a:rPr lang="en-US" sz="40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5974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53340" y="1270717"/>
            <a:ext cx="12245340" cy="360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1015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sz="36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3600" i="1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comprise</a:t>
            </a:r>
            <a:r>
              <a:rPr lang="en-US" sz="3600" spc="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eight</a:t>
            </a:r>
            <a:r>
              <a:rPr lang="en-US" sz="36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600" spc="1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ignment</a:t>
            </a:r>
            <a:r>
              <a:rPr lang="en-US" sz="3600" spc="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tatem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00"/>
              </a:lnSpc>
              <a:spcBef>
                <a:spcPts val="60"/>
              </a:spcBef>
            </a:pP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14450"/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&lt;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sz="3600" spc="-5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"10011000";</a:t>
            </a: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/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1475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</a:t>
            </a:r>
            <a:r>
              <a:rPr lang="en-US" sz="36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Byte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7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sz="3600" spc="8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1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Byte</a:t>
            </a:r>
            <a:r>
              <a:rPr lang="en-US" sz="3600" spc="-5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3600" spc="-55" dirty="0"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6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3600" spc="4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so on to 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Byte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(0)=</a:t>
            </a:r>
            <a:r>
              <a:rPr lang="en-US" sz="3600" dirty="0"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0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	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2556510" y="-68512"/>
            <a:ext cx="707898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spc="6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000" b="1" spc="-4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000" b="1" spc="35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4000" b="1" spc="-3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000" b="1" spc="10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lang="en-US" sz="4000" b="1" kern="100" dirty="0" err="1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Contd</a:t>
            </a:r>
            <a:r>
              <a:rPr lang="en-US" sz="40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8646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213360" y="1110635"/>
            <a:ext cx="122453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5795" marR="13335" indent="-571500" algn="just">
              <a:buFont typeface="Wingdings" panose="05000000000000000000" pitchFamily="2" charset="2"/>
              <a:buChar char="Ø"/>
            </a:pPr>
            <a:r>
              <a:rPr lang="en-US" sz="3600" spc="4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 packages</a:t>
            </a:r>
            <a:r>
              <a:rPr lang="en-US" sz="3600" spc="1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serves as a repository, it is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used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hold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ode that is of general use, like the code that defines a 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yp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2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 then be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sz="36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sourc</a:t>
            </a: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6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45795" marR="13335" indent="-571500" algn="just">
              <a:buFont typeface="Wingdings" panose="05000000000000000000" pitchFamily="2" charset="2"/>
              <a:buChar char="Ø"/>
            </a:pPr>
            <a:endParaRPr lang="en-US" sz="3600" spc="5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5795" marR="13335" indent="-571500" algn="just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package can have 2 parts:</a:t>
            </a:r>
          </a:p>
          <a:p>
            <a:pPr marL="74295" marR="13335" algn="just"/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package declaration</a:t>
            </a:r>
          </a:p>
          <a:p>
            <a:pPr marL="74295" marR="13335" algn="just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package</a:t>
            </a: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body  (t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 is an optional part)</a:t>
            </a:r>
          </a:p>
          <a:p>
            <a:pPr marL="74295" marR="13335" algn="just"/>
            <a:endParaRPr lang="en-US" sz="3600" spc="5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" marR="13335" algn="just"/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3600" spc="4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3314700" y="0"/>
            <a:ext cx="448056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 PACKAGE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764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426720" y="577235"/>
            <a:ext cx="1251966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" marR="13335" algn="just"/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The general form of a package declaration is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 </a:t>
            </a:r>
            <a:r>
              <a:rPr lang="en-US" sz="3600" b="1" dirty="0" err="1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3600" b="1" dirty="0" err="1">
                <a:solidFill>
                  <a:srgbClr val="00B0F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_name</a:t>
            </a:r>
            <a:r>
              <a:rPr lang="en-US" sz="3600" b="1" dirty="0">
                <a:solidFill>
                  <a:srgbClr val="00B0F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</a:p>
          <a:p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	    [TYPE declarations]</a:t>
            </a:r>
          </a:p>
          <a:p>
            <a:r>
              <a:rPr lang="en-US" sz="3600" b="1" dirty="0">
                <a:solidFill>
                  <a:srgbClr val="00B0F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[SIGNAL declarations]</a:t>
            </a:r>
          </a:p>
          <a:p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en-US" sz="3600" b="1" dirty="0">
                <a:solidFill>
                  <a:srgbClr val="00B0F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[COMPONENT declarations] </a:t>
            </a:r>
          </a:p>
          <a:p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END </a:t>
            </a:r>
            <a:r>
              <a:rPr lang="en-US" sz="3600" b="1" dirty="0" err="1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3600" b="1" dirty="0" err="1">
                <a:solidFill>
                  <a:srgbClr val="00B0F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_name</a:t>
            </a:r>
            <a:r>
              <a:rPr lang="en-US" sz="3600" b="1" dirty="0">
                <a:solidFill>
                  <a:srgbClr val="00B0F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in order to 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definitions provided in the PACKAGE,    </a:t>
            </a:r>
          </a:p>
          <a:p>
            <a:r>
              <a:rPr lang="en-US" sz="3600" spc="1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such as the definition of a TYPE,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sz="3600" spc="-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600" spc="4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included</a:t>
            </a:r>
          </a:p>
          <a:p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lang="en-US" sz="3600" b="1" dirty="0" err="1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library_name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GB" sz="3600" b="1" dirty="0">
              <a:solidFill>
                <a:srgbClr val="00B0F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USE </a:t>
            </a:r>
            <a:r>
              <a:rPr lang="en-US" sz="3600" b="1" dirty="0" err="1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library_name.package_name.all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45" dirty="0">
                <a:solidFill>
                  <a:srgbClr val="00B0F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3600" b="1" spc="40" dirty="0">
              <a:solidFill>
                <a:srgbClr val="00B0F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3169920" y="28555"/>
            <a:ext cx="621792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 PACKAGE </a:t>
            </a:r>
            <a:r>
              <a:rPr lang="en-US" sz="4000" b="1" kern="0" dirty="0" err="1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369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304800" y="768758"/>
            <a:ext cx="124968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1155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library_name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esents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sz="36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sz="3600" spc="4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 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store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51155"/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1155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3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brary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be: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2265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3600" spc="1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when it is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provided as</a:t>
            </a:r>
            <a:r>
              <a:rPr lang="en-US" sz="36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CAD syste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</a:t>
            </a:r>
            <a:r>
              <a:rPr lang="en-US" sz="3600" i="1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exam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of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36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i="1" spc="-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i="1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ee</a:t>
            </a:r>
            <a:r>
              <a:rPr lang="en-US" sz="3600" i="1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3600" i="1" spc="5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1155"/>
            <a:endParaRPr lang="en-US" sz="3600" i="1" spc="5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265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it is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user. An example:</a:t>
            </a:r>
          </a:p>
          <a:p>
            <a:pPr marL="963295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LIBRARY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0340" marR="409575" algn="ctr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sz="3600" spc="-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sz="3600" spc="4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600" spc="3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r_p</a:t>
            </a:r>
            <a:r>
              <a:rPr lang="en-US" sz="3600" spc="4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ckage_name</a:t>
            </a:r>
            <a:r>
              <a:rPr lang="en-US" sz="3600" spc="-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2655" indent="-571500">
              <a:buFont typeface="Wingdings" panose="05000000000000000000" pitchFamily="2" charset="2"/>
              <a:buChar char="Ø"/>
            </a:pPr>
            <a:endParaRPr lang="en-GB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AC8EDA-3BB0-71C6-AA40-7673FCA37506}"/>
              </a:ext>
            </a:extLst>
          </p:cNvPr>
          <p:cNvSpPr txBox="1"/>
          <p:nvPr/>
        </p:nvSpPr>
        <p:spPr>
          <a:xfrm>
            <a:off x="3169920" y="28555"/>
            <a:ext cx="621792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 PACKAGE </a:t>
            </a:r>
            <a:r>
              <a:rPr lang="en-US" sz="4000" b="1" kern="0" dirty="0" err="1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987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304800" y="1401218"/>
            <a:ext cx="124968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1155"/>
            <a:r>
              <a:rPr lang="en-US" sz="4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US" sz="4000" spc="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40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5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sz="40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r>
              <a:rPr lang="en-US" sz="4000" spc="1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</a:t>
            </a:r>
          </a:p>
          <a:p>
            <a:pPr marL="351155"/>
            <a:endParaRPr lang="en-US" sz="4000" spc="125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2655" indent="-571500">
              <a:buFont typeface="Wingdings" panose="05000000000000000000" pitchFamily="2" charset="2"/>
              <a:buChar char="Ø"/>
            </a:pPr>
            <a:r>
              <a:rPr lang="en-US" sz="4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std_logic_1164</a:t>
            </a:r>
          </a:p>
          <a:p>
            <a:pPr marL="922655" indent="-571500">
              <a:buFont typeface="Wingdings" panose="05000000000000000000" pitchFamily="2" charset="2"/>
              <a:buChar char="Ø"/>
            </a:pPr>
            <a:r>
              <a:rPr lang="en-US" sz="40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std_l</a:t>
            </a:r>
            <a:r>
              <a:rPr lang="en-US" sz="4000" spc="-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spc="5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40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ic_signed</a:t>
            </a:r>
            <a:endParaRPr lang="en-US" sz="4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2655" indent="-571500">
              <a:buFont typeface="Wingdings" panose="05000000000000000000" pitchFamily="2" charset="2"/>
              <a:buChar char="Ø"/>
            </a:pPr>
            <a:r>
              <a:rPr lang="en-US" sz="40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std_logic_</a:t>
            </a:r>
            <a:r>
              <a:rPr lang="en-US" sz="40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r>
              <a:rPr lang="en-US" sz="40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signed</a:t>
            </a:r>
            <a:r>
              <a:rPr lang="en-US" sz="40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4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40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22655" indent="-571500">
              <a:buFont typeface="Wingdings" panose="05000000000000000000" pitchFamily="2" charset="2"/>
              <a:buChar char="Ø"/>
            </a:pPr>
            <a:r>
              <a:rPr lang="en-US" sz="40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std_logic_arith</a:t>
            </a:r>
            <a:endParaRPr lang="en-GB" sz="40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AC8EDA-3BB0-71C6-AA40-7673FCA37506}"/>
              </a:ext>
            </a:extLst>
          </p:cNvPr>
          <p:cNvSpPr txBox="1"/>
          <p:nvPr/>
        </p:nvSpPr>
        <p:spPr>
          <a:xfrm>
            <a:off x="3169920" y="28555"/>
            <a:ext cx="621792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 PACKAGE </a:t>
            </a:r>
            <a:r>
              <a:rPr lang="en-US" sz="4000" b="1" kern="0" dirty="0" err="1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002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251460" y="904895"/>
            <a:ext cx="1224534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7100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en-US" sz="3600" spc="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36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added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sz="36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116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27100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lang="en-US" sz="36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flexib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ype.</a:t>
            </a:r>
            <a:r>
              <a:rPr lang="en-US" sz="36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sz="3600" spc="-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included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LIBRARY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USE ieee.std_logic_1164.all </a:t>
            </a:r>
            <a:r>
              <a:rPr lang="en-US" sz="3600" spc="-4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3600" spc="-4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5795" marR="13335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en-US" sz="3600" spc="1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sz="3600" spc="-2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sz="3600" spc="1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6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std_lo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600" i="1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i="1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i="1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en-US" sz="3600" i="1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age,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defines</a:t>
            </a:r>
            <a:r>
              <a:rPr lang="en-US" sz="36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STD_LOGIC typ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1798320" y="43795"/>
            <a:ext cx="882396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STD_LOGIC</a:t>
            </a:r>
            <a:r>
              <a:rPr lang="en-US" sz="3600" b="1" kern="0" spc="5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AND</a:t>
            </a:r>
            <a:r>
              <a:rPr lang="en-US" sz="3600" b="1" kern="0" spc="-10" dirty="0">
                <a:solidFill>
                  <a:srgbClr val="0070C0"/>
                </a:solidFill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kern="0" spc="-3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en-US" sz="3600" b="1" kern="0" spc="25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</a:t>
            </a:r>
            <a:r>
              <a:rPr lang="en-US" sz="3600" b="1" kern="0" spc="1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b="1" kern="0" spc="2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endParaRPr lang="en-GB" sz="3600" b="1" kern="0" dirty="0">
              <a:solidFill>
                <a:srgbClr val="0070C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717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0" y="1471791"/>
            <a:ext cx="1224534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645" marR="13335" indent="-6350" algn="just"/>
            <a:r>
              <a:rPr lang="en-US" sz="3600" spc="-25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3600" spc="2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spc="8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600" spc="35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spc="-1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US" sz="3600" spc="6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3600" spc="4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25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STD_L</a:t>
            </a:r>
            <a:r>
              <a:rPr lang="en-US" sz="3600" spc="4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60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5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3600" spc="-35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bject:</a:t>
            </a:r>
            <a:r>
              <a:rPr lang="en-US" sz="36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645" marR="13335" indent="-6350" algn="just"/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4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4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44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400" spc="2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4400" spc="-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spc="-6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Z,</a:t>
            </a:r>
            <a:r>
              <a:rPr lang="en-US" sz="4400" spc="-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44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L</a:t>
            </a:r>
            <a:r>
              <a:rPr lang="en-US" sz="4400" dirty="0"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,</a:t>
            </a:r>
            <a:r>
              <a:rPr lang="en-US" sz="4400" spc="-7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H,</a:t>
            </a:r>
            <a:r>
              <a:rPr lang="en-US" sz="44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U,</a:t>
            </a:r>
            <a:r>
              <a:rPr lang="en-US" sz="44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44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44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W.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645" marR="13335" indent="-6350" algn="just"/>
            <a:endParaRPr lang="en-US" sz="3600" spc="1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645" marR="13335" indent="-6350" algn="just"/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rst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 useful</a:t>
            </a:r>
            <a:r>
              <a:rPr lang="en-US" sz="36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600" spc="4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 ci</a:t>
            </a:r>
            <a:r>
              <a:rPr lang="en-US" sz="3600" spc="-3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1798320" y="99874"/>
            <a:ext cx="1022604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STD_LOGIC</a:t>
            </a:r>
            <a:r>
              <a:rPr lang="en-US" sz="3600" b="1" kern="0" spc="5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AND</a:t>
            </a:r>
            <a:r>
              <a:rPr lang="en-US" sz="3600" b="1" kern="0" spc="-10" dirty="0">
                <a:solidFill>
                  <a:srgbClr val="0070C0"/>
                </a:solidFill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kern="0" spc="-3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en-US" sz="3600" b="1" kern="0" spc="25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</a:t>
            </a:r>
            <a:r>
              <a:rPr lang="en-US" sz="3600" b="1" kern="0" spc="1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b="1" kern="0" spc="2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lang="en-US" sz="3600" b="1" kern="0" dirty="0" err="1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endParaRPr lang="en-GB" sz="36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161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0" y="702171"/>
            <a:ext cx="1224534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" marR="13335" algn="just"/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" marR="13335" algn="just"/>
            <a:r>
              <a:rPr lang="en-US" sz="3600" spc="-13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74295" marR="13335" algn="just"/>
            <a:endParaRPr lang="en-US" sz="3600" spc="-13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" marR="13335" algn="just"/>
            <a:endParaRPr lang="en-US" sz="3600" spc="-13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" marR="13335" algn="just"/>
            <a:endParaRPr lang="en-US" sz="3600" spc="-13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" marR="13335" algn="just"/>
            <a:endParaRPr lang="en-US" sz="3600" spc="-13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" marR="13335" algn="just"/>
            <a:endParaRPr lang="en-US" sz="3600" spc="-13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" marR="13335" algn="just"/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" marR="13335" algn="just"/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2775"/>
            <a:r>
              <a:rPr lang="en-GB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967740" y="31294"/>
            <a:ext cx="1022604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STD_LOGIC</a:t>
            </a:r>
            <a:r>
              <a:rPr lang="en-US" sz="3600" b="1" kern="0" spc="5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AND</a:t>
            </a:r>
            <a:r>
              <a:rPr lang="en-US" sz="3600" b="1" kern="0" spc="-10" dirty="0">
                <a:solidFill>
                  <a:srgbClr val="0070C0"/>
                </a:solidFill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kern="0" spc="-3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en-US" sz="3600" b="1" kern="0" spc="25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</a:t>
            </a:r>
            <a:r>
              <a:rPr lang="en-US" sz="3600" b="1" kern="0" spc="1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b="1" kern="0" spc="2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lang="en-US" sz="3600" b="1" kern="0" dirty="0" err="1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endParaRPr lang="en-GB" sz="36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D4A31C-D2B0-EA66-D903-1DB8B9F42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939421"/>
              </p:ext>
            </p:extLst>
          </p:nvPr>
        </p:nvGraphicFramePr>
        <p:xfrm>
          <a:off x="1361440" y="1270615"/>
          <a:ext cx="8361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691">
                  <a:extLst>
                    <a:ext uri="{9D8B030D-6E8A-4147-A177-3AD203B41FA5}">
                      <a16:colId xmlns:a16="http://schemas.microsoft.com/office/drawing/2014/main" val="4269194485"/>
                    </a:ext>
                  </a:extLst>
                </a:gridCol>
                <a:gridCol w="4611989">
                  <a:extLst>
                    <a:ext uri="{9D8B030D-6E8A-4147-A177-3AD203B41FA5}">
                      <a16:colId xmlns:a16="http://schemas.microsoft.com/office/drawing/2014/main" val="286229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kern="0" dirty="0">
                          <a:solidFill>
                            <a:schemeClr val="bg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STD_LOGIC</a:t>
                      </a:r>
                      <a:r>
                        <a:rPr lang="en-US" sz="3200" b="1" kern="0" spc="5" dirty="0">
                          <a:solidFill>
                            <a:schemeClr val="bg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Data Object</a:t>
                      </a:r>
                      <a:r>
                        <a:rPr lang="en-US" sz="3200" spc="-130" dirty="0"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endParaRPr lang="en-GB" sz="3200" dirty="0"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bg1"/>
                          </a:solidFill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REPRESENTATION</a:t>
                      </a:r>
                      <a:endParaRPr lang="en-GB" sz="3200" dirty="0">
                        <a:solidFill>
                          <a:schemeClr val="bg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223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Z</a:t>
                      </a:r>
                      <a:endParaRPr lang="en-GB" sz="32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spc="-130" dirty="0">
                          <a:solidFill>
                            <a:schemeClr val="tx1"/>
                          </a:solidFill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igh</a:t>
                      </a:r>
                      <a:r>
                        <a:rPr lang="en-US" sz="3200" spc="-5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impedanc</a:t>
                      </a:r>
                      <a:r>
                        <a:rPr lang="en-US" sz="3200" spc="45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3200" spc="-60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GB" sz="32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851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3200" spc="-220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GB" sz="32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spc="-5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3200" spc="5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n't</a:t>
                      </a:r>
                      <a:r>
                        <a:rPr lang="en-US" sz="3200" spc="-35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care</a:t>
                      </a:r>
                      <a:endParaRPr lang="en-GB" sz="32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000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en-GB" sz="32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Weak 0</a:t>
                      </a:r>
                      <a:endParaRPr lang="en-GB" sz="32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370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GB" sz="32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Weak 1</a:t>
                      </a:r>
                      <a:endParaRPr lang="en-GB" sz="32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20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U</a:t>
                      </a:r>
                      <a:endParaRPr lang="en-GB" sz="32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Uni</a:t>
                      </a:r>
                      <a:r>
                        <a:rPr lang="en-US" sz="3200" spc="40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iti</a:t>
                      </a:r>
                      <a:r>
                        <a:rPr lang="en-US" sz="3200" spc="-5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3200" spc="65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sz="3200" spc="55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zed</a:t>
                      </a:r>
                      <a:endParaRPr lang="en-GB" sz="32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884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X</a:t>
                      </a:r>
                      <a:endParaRPr lang="en-GB" sz="32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spc="-5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nknown</a:t>
                      </a:r>
                      <a:endParaRPr lang="en-GB" sz="32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176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W</a:t>
                      </a:r>
                      <a:endParaRPr lang="en-GB" sz="32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spc="-5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Weak u</a:t>
                      </a:r>
                      <a:r>
                        <a:rPr lang="en-US" sz="3200" dirty="0">
                          <a:solidFill>
                            <a:schemeClr val="tx1"/>
                          </a:solidFill>
                          <a:effectLst/>
                          <a:latin typeface="Nunito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nknown</a:t>
                      </a:r>
                      <a:endParaRPr lang="en-GB" sz="32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226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021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0" y="702171"/>
            <a:ext cx="1224534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" marR="13335" algn="just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ese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sz="3600" spc="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645" marR="1915160" algn="just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STD_LOGIC  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bjects.</a:t>
            </a:r>
          </a:p>
          <a:p>
            <a:pPr marL="80645" marR="1915160" algn="just"/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828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sz="3200" spc="-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xl,</a:t>
            </a:r>
            <a:r>
              <a:rPr lang="en-US" sz="3200" spc="-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x2,</a:t>
            </a:r>
            <a:r>
              <a:rPr lang="en-US" sz="3200" spc="-1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n,</a:t>
            </a:r>
            <a:r>
              <a:rPr lang="en-US" sz="3200" spc="-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sz="3200" spc="3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200" spc="6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1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spc="-1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TD_LOG</a:t>
            </a:r>
            <a:r>
              <a:rPr lang="en-US" sz="3200" spc="-11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8285">
              <a:tabLst>
                <a:tab pos="1181100" algn="l"/>
              </a:tabLst>
            </a:pP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	                        :</a:t>
            </a:r>
            <a:r>
              <a:rPr lang="en-US" sz="3200" spc="-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2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4);</a:t>
            </a:r>
            <a:endParaRPr lang="en-GB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8285">
              <a:tabLst>
                <a:tab pos="1181100" algn="l"/>
              </a:tabLst>
            </a:pP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sz="32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X,</a:t>
            </a:r>
            <a:r>
              <a:rPr lang="en-US" sz="3200" spc="-5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Y,</a:t>
            </a:r>
            <a:r>
              <a:rPr lang="en-US" sz="3200" spc="-6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	               :</a:t>
            </a:r>
            <a:r>
              <a:rPr lang="en-US" sz="3200" spc="-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D_L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GIC</a:t>
            </a:r>
            <a:r>
              <a:rPr lang="en-US" sz="32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32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(3</a:t>
            </a:r>
            <a:r>
              <a:rPr lang="en-US" sz="3200" spc="-9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NTO</a:t>
            </a:r>
            <a:r>
              <a:rPr lang="en-US" sz="32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 </a:t>
            </a:r>
            <a:endParaRPr lang="en-GB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645" marR="9525" algn="just"/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en-US" sz="3200" spc="5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often 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sed 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32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ogic 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en-US" sz="32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essions </a:t>
            </a:r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HDL 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code. 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TD_LOGIC_VECTOR</a:t>
            </a:r>
            <a:r>
              <a:rPr lang="en-US" sz="32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32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sz="32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32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lang="en-US" sz="32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lang="en-US" sz="32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arith</a:t>
            </a:r>
            <a:r>
              <a:rPr lang="en-US" sz="32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r>
              <a:rPr lang="en-US" sz="32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inc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uding</a:t>
            </a:r>
            <a:r>
              <a:rPr lang="en-US" sz="32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                     USE</a:t>
            </a:r>
            <a:r>
              <a:rPr lang="en-US" sz="3200" spc="5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ieee.std_logic_signed</a:t>
            </a:r>
            <a:r>
              <a:rPr lang="en-US" sz="3200" spc="-35" dirty="0" err="1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3200" spc="35" dirty="0" err="1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200" dirty="0" err="1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ll</a:t>
            </a:r>
            <a:r>
              <a:rPr lang="en-US" sz="3200" spc="11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GB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967740" y="31294"/>
            <a:ext cx="1022604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STD_LOGIC</a:t>
            </a:r>
            <a:r>
              <a:rPr lang="en-US" sz="3600" b="1" kern="0" spc="5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AND</a:t>
            </a:r>
            <a:r>
              <a:rPr lang="en-US" sz="3600" b="1" kern="0" spc="-10" dirty="0">
                <a:solidFill>
                  <a:srgbClr val="0070C0"/>
                </a:solidFill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kern="0" spc="-3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en-US" sz="3600" b="1" kern="0" spc="25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</a:t>
            </a:r>
            <a:r>
              <a:rPr lang="en-US" sz="3600" b="1" kern="0" spc="1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b="1" kern="0" spc="2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lang="en-US" sz="3600" b="1" kern="0" dirty="0" err="1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endParaRPr lang="en-GB" sz="36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266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426720" y="1479411"/>
            <a:ext cx="1224534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61340" marR="95885" algn="just">
              <a:spcAft>
                <a:spcPts val="0"/>
              </a:spcAft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36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en-US" sz="3600" i="1" spc="-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ype</a:t>
            </a:r>
            <a:r>
              <a:rPr lang="en-US" sz="3600" i="1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the  ST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_ULOGIC 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ype. </a:t>
            </a:r>
          </a:p>
          <a:p>
            <a:pPr marL="561340" marR="95885" algn="just">
              <a:spcAft>
                <a:spcPts val="0"/>
              </a:spcAft>
            </a:pP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1340" marR="95885" algn="just">
              <a:spcAft>
                <a:spcPts val="0"/>
              </a:spcAft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iffer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nce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D_ULOGIC 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OGIC</a:t>
            </a:r>
            <a:r>
              <a:rPr lang="en-US" sz="3600" spc="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5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ncept</a:t>
            </a:r>
            <a:r>
              <a:rPr lang="en-US" sz="36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a</a:t>
            </a:r>
            <a:r>
              <a:rPr lang="en-US" sz="36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eso</a:t>
            </a:r>
            <a:r>
              <a:rPr lang="en-US" sz="3600" i="1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r>
              <a:rPr lang="en-US" sz="3600" i="1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i="1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i="1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  <a:r>
              <a:rPr lang="en-US" sz="3600" i="1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1340" marR="95885" algn="just">
              <a:spcAft>
                <a:spcPts val="0"/>
              </a:spcAft>
            </a:pPr>
            <a:endParaRPr lang="en-US" sz="3600" i="1" spc="8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1340" marR="95885" algn="just">
              <a:spcAft>
                <a:spcPts val="0"/>
              </a:spcAft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36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cti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sed</a:t>
            </a:r>
            <a:r>
              <a:rPr lang="en-US" sz="36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determine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3600" spc="1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sz="36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gnal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en-US" sz="3600" spc="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if</a:t>
            </a:r>
            <a:r>
              <a:rPr lang="en-US" sz="3600" spc="-2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ces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that</a:t>
            </a: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signal.</a:t>
            </a:r>
            <a:r>
              <a:rPr lang="en-US" sz="36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3832860" y="31611"/>
            <a:ext cx="489204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STD_ULOGIC TYPE</a:t>
            </a:r>
            <a:r>
              <a:rPr lang="en-US" sz="4000" b="1" kern="0" spc="5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084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0" y="526911"/>
            <a:ext cx="12245340" cy="6665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61340" marR="95885" algn="just">
              <a:spcAft>
                <a:spcPts val="0"/>
              </a:spcAft>
            </a:pP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sz="3200" spc="8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ple:</a:t>
            </a:r>
            <a:r>
              <a:rPr lang="en-US" sz="32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1340" marR="95885" algn="just">
              <a:spcAft>
                <a:spcPts val="0"/>
              </a:spcAft>
            </a:pPr>
            <a:r>
              <a:rPr lang="en-US" sz="3200" spc="7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32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buffers c</a:t>
            </a:r>
            <a:r>
              <a:rPr lang="en-US" sz="32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US" sz="32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lang="en-US" sz="32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2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tpu</a:t>
            </a:r>
            <a:r>
              <a:rPr lang="en-US" sz="32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4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nected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2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-2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nal, </a:t>
            </a:r>
            <a:r>
              <a:rPr lang="en-US" sz="32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2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200" i="1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1340" marR="95885" algn="just">
              <a:spcAft>
                <a:spcPts val="0"/>
              </a:spcAft>
            </a:pP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en-US" sz="32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7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ime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b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ff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2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spc="2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igh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produce</a:t>
            </a:r>
            <a:r>
              <a:rPr lang="en-US" sz="3200" spc="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sz="32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sz="32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1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3200" b="1" spc="-10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3200" spc="-1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US" sz="32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might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produce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2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4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en-US" sz="32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1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‘</a:t>
            </a:r>
            <a:r>
              <a:rPr lang="en-US" sz="3200" b="1" spc="120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spc="1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2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1340" marR="95885" algn="just">
              <a:spcAft>
                <a:spcPts val="0"/>
              </a:spcAft>
            </a:pP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resolution function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sz="32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determine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2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-40" dirty="0">
                <a:solidFill>
                  <a:srgbClr val="00B0F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200" i="1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2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3200" spc="1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1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200" spc="-9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-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case.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1340" marR="95885" algn="just">
              <a:spcAft>
                <a:spcPts val="0"/>
              </a:spcAft>
            </a:pP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1340" marR="95885" algn="just">
              <a:spcAft>
                <a:spcPts val="0"/>
              </a:spcAft>
            </a:pP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_LO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 type</a:t>
            </a:r>
            <a:r>
              <a:rPr lang="en-US" sz="32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llows  mult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en-US" sz="3200" spc="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US" sz="32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2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32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sz="3200" spc="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lv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US" sz="32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nne</a:t>
            </a:r>
            <a:r>
              <a:rPr lang="en-US" sz="32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 v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lue</a:t>
            </a:r>
            <a:r>
              <a:rPr lang="en-US" sz="32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US" sz="3200" spc="1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</a:t>
            </a:r>
            <a:r>
              <a:rPr lang="en-US" sz="32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 function</a:t>
            </a:r>
            <a:r>
              <a:rPr lang="en-US" sz="32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provided</a:t>
            </a:r>
            <a:r>
              <a:rPr lang="en-US" sz="3200" spc="1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en-US" sz="32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2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std_logic_1164</a:t>
            </a:r>
            <a:r>
              <a:rPr lang="en-US" sz="3200" i="1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package. 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OGIC</a:t>
            </a:r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 does</a:t>
            </a:r>
            <a:r>
              <a:rPr lang="en-US" sz="32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permit sig</a:t>
            </a:r>
            <a:r>
              <a:rPr lang="en-US" sz="32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ls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sz="32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 sources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500"/>
              </a:lnSpc>
              <a:spcBef>
                <a:spcPts val="10"/>
              </a:spcBef>
            </a:pPr>
            <a:endParaRPr lang="en-GB" sz="32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8FBE10-AFC0-8B23-07BF-A83CE95542A9}"/>
              </a:ext>
            </a:extLst>
          </p:cNvPr>
          <p:cNvSpPr txBox="1"/>
          <p:nvPr/>
        </p:nvSpPr>
        <p:spPr>
          <a:xfrm>
            <a:off x="2838450" y="-48932"/>
            <a:ext cx="656844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STD_ULOGIC TYPE </a:t>
            </a:r>
            <a:r>
              <a:rPr lang="en-US" sz="4000" b="1" kern="0" dirty="0" err="1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US" sz="4000" b="1" kern="0" spc="5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459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0" y="702171"/>
            <a:ext cx="12245340" cy="162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61340" marR="95885" algn="just">
              <a:spcAft>
                <a:spcPts val="0"/>
              </a:spcAft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sz="3600" spc="8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ple:</a:t>
            </a:r>
          </a:p>
          <a:p>
            <a:pPr marL="561340" marR="95885" algn="just">
              <a:spcAft>
                <a:spcPts val="0"/>
              </a:spcAft>
            </a:pPr>
            <a:r>
              <a:rPr lang="en-US" sz="3600" spc="7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Consider two buffers Z and 1 as shown</a:t>
            </a:r>
            <a:r>
              <a:rPr lang="en-US" sz="36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500"/>
              </a:lnSpc>
              <a:spcBef>
                <a:spcPts val="1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74650" marR="640715" indent="-19050" algn="just">
              <a:lnSpc>
                <a:spcPct val="148000"/>
              </a:lnSpc>
              <a:spcAft>
                <a:spcPts val="0"/>
              </a:spcAf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90706-D667-4325-AAF3-83869706123E}"/>
              </a:ext>
            </a:extLst>
          </p:cNvPr>
          <p:cNvSpPr txBox="1"/>
          <p:nvPr/>
        </p:nvSpPr>
        <p:spPr>
          <a:xfrm>
            <a:off x="2838450" y="19648"/>
            <a:ext cx="656844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STD_ULOGIC TYPE </a:t>
            </a:r>
            <a:r>
              <a:rPr lang="en-US" sz="4000" b="1" kern="0" dirty="0" err="1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US" sz="4000" b="1" kern="0" spc="5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155AC97-BF0C-28FE-5177-D681BDF75C93}"/>
              </a:ext>
            </a:extLst>
          </p:cNvPr>
          <p:cNvGrpSpPr/>
          <p:nvPr/>
        </p:nvGrpSpPr>
        <p:grpSpPr>
          <a:xfrm>
            <a:off x="925843" y="2742396"/>
            <a:ext cx="9273514" cy="2731591"/>
            <a:chOff x="1459243" y="883116"/>
            <a:chExt cx="9273514" cy="273159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695D816-6352-CF79-EF7F-AB8E6E6FCF5D}"/>
                </a:ext>
              </a:extLst>
            </p:cNvPr>
            <p:cNvGrpSpPr/>
            <p:nvPr/>
          </p:nvGrpSpPr>
          <p:grpSpPr>
            <a:xfrm>
              <a:off x="1459243" y="1384741"/>
              <a:ext cx="7265657" cy="2229966"/>
              <a:chOff x="952502" y="1537141"/>
              <a:chExt cx="7265657" cy="2229966"/>
            </a:xfrm>
          </p:grpSpPr>
          <p:sp>
            <p:nvSpPr>
              <p:cNvPr id="9" name="Isosceles Triangle 8">
                <a:extLst>
                  <a:ext uri="{FF2B5EF4-FFF2-40B4-BE49-F238E27FC236}">
                    <a16:creationId xmlns:a16="http://schemas.microsoft.com/office/drawing/2014/main" id="{8773CB8C-AC87-0DDE-1F06-2C3F7BF2D5BF}"/>
                  </a:ext>
                </a:extLst>
              </p:cNvPr>
              <p:cNvSpPr/>
              <p:nvPr/>
            </p:nvSpPr>
            <p:spPr>
              <a:xfrm rot="5400000">
                <a:off x="3429000" y="1203960"/>
                <a:ext cx="624840" cy="1600200"/>
              </a:xfrm>
              <a:prstGeom prst="triangl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8AB8DDCF-3EAD-AD37-3C4C-B43155391237}"/>
                  </a:ext>
                </a:extLst>
              </p:cNvPr>
              <p:cNvSpPr/>
              <p:nvPr/>
            </p:nvSpPr>
            <p:spPr>
              <a:xfrm rot="5400000">
                <a:off x="3436620" y="2407920"/>
                <a:ext cx="624840" cy="1600200"/>
              </a:xfrm>
              <a:prstGeom prst="triangl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5EAA99-98BB-43CE-3246-28BF75FF65FA}"/>
                  </a:ext>
                </a:extLst>
              </p:cNvPr>
              <p:cNvSpPr txBox="1"/>
              <p:nvPr/>
            </p:nvSpPr>
            <p:spPr>
              <a:xfrm>
                <a:off x="967742" y="1632049"/>
                <a:ext cx="4876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latin typeface="Nunito" pitchFamily="2" charset="0"/>
                  </a:rPr>
                  <a:t>Z</a:t>
                </a:r>
                <a:endParaRPr lang="en-GB" sz="3600" dirty="0">
                  <a:latin typeface="Nunito" pitchFamily="2" charset="0"/>
                </a:endParaRP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FA9008A-2356-0360-0AC0-0EF9AA7E438C}"/>
                  </a:ext>
                </a:extLst>
              </p:cNvPr>
              <p:cNvCxnSpPr>
                <a:cxnSpLocks/>
                <a:endCxn id="9" idx="3"/>
              </p:cNvCxnSpPr>
              <p:nvPr/>
            </p:nvCxnSpPr>
            <p:spPr>
              <a:xfrm>
                <a:off x="1455420" y="2004060"/>
                <a:ext cx="148590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7B7BCBD-0A99-62C1-BEC4-112CF357F0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2560" y="3185160"/>
                <a:ext cx="148590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64B1257-481F-7EBF-C255-F1C98DEF47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1520" y="1996440"/>
                <a:ext cx="762000" cy="762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2474338-6926-FA11-F78B-DAEA8ECB04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1520" y="3208020"/>
                <a:ext cx="762000" cy="762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C0C15B7-DD6F-B3C4-E198-6BE3ABD8CD54}"/>
                  </a:ext>
                </a:extLst>
              </p:cNvPr>
              <p:cNvSpPr txBox="1"/>
              <p:nvPr/>
            </p:nvSpPr>
            <p:spPr>
              <a:xfrm>
                <a:off x="952502" y="2828389"/>
                <a:ext cx="4876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latin typeface="Nunito" pitchFamily="2" charset="0"/>
                  </a:rPr>
                  <a:t>1</a:t>
                </a:r>
                <a:endParaRPr lang="en-GB" sz="3600" dirty="0">
                  <a:latin typeface="Nunito" pitchFamily="2" charset="0"/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4405284-BC4C-B782-B5C3-2F64529688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03520" y="2000934"/>
                <a:ext cx="0" cy="44196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8C32C11-A660-9CB3-582E-84A961585F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03520" y="2781300"/>
                <a:ext cx="0" cy="44196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B0D4B57-4DE2-584B-FB32-AD6FA9CAAA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03520" y="2438400"/>
                <a:ext cx="762000" cy="762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F5F9BA2-A4CB-4579-9A09-37C4F15C09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5900" y="2781300"/>
                <a:ext cx="762000" cy="762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8644EA7-1B95-7029-119C-5C0EB8E18D0B}"/>
                  </a:ext>
                </a:extLst>
              </p:cNvPr>
              <p:cNvSpPr/>
              <p:nvPr/>
            </p:nvSpPr>
            <p:spPr>
              <a:xfrm>
                <a:off x="6069330" y="2191434"/>
                <a:ext cx="895342" cy="871806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1424B75-92D7-232F-0757-04D08C92DB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68481" y="2641015"/>
                <a:ext cx="762000" cy="762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E6B78C2-3071-D838-91FE-D2D965B5F0C6}"/>
                  </a:ext>
                </a:extLst>
              </p:cNvPr>
              <p:cNvSpPr txBox="1"/>
              <p:nvPr/>
            </p:nvSpPr>
            <p:spPr>
              <a:xfrm>
                <a:off x="7730481" y="2308860"/>
                <a:ext cx="4876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0B0F0"/>
                    </a:solidFill>
                    <a:latin typeface="Nunito" pitchFamily="2" charset="0"/>
                  </a:rPr>
                  <a:t>Y</a:t>
                </a:r>
                <a:endParaRPr lang="en-GB" sz="3600" b="1" dirty="0">
                  <a:solidFill>
                    <a:srgbClr val="00B0F0"/>
                  </a:solidFill>
                  <a:latin typeface="Nunito" pitchFamily="2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BA9B3B7-2E79-EB4E-4AFC-149CC548824E}"/>
                  </a:ext>
                </a:extLst>
              </p:cNvPr>
              <p:cNvSpPr txBox="1"/>
              <p:nvPr/>
            </p:nvSpPr>
            <p:spPr>
              <a:xfrm>
                <a:off x="4672966" y="1537141"/>
                <a:ext cx="48767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latin typeface="Nunito" pitchFamily="2" charset="0"/>
                  </a:rPr>
                  <a:t>Z</a:t>
                </a:r>
                <a:endParaRPr lang="en-GB" sz="3200" dirty="0">
                  <a:latin typeface="Nunito" pitchFamily="2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7689ED0-853E-2F15-20F2-1478FC7CFC6A}"/>
                  </a:ext>
                </a:extLst>
              </p:cNvPr>
              <p:cNvSpPr txBox="1"/>
              <p:nvPr/>
            </p:nvSpPr>
            <p:spPr>
              <a:xfrm>
                <a:off x="4511040" y="3182332"/>
                <a:ext cx="48767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latin typeface="Nunito" pitchFamily="2" charset="0"/>
                  </a:rPr>
                  <a:t>1</a:t>
                </a:r>
                <a:endParaRPr lang="en-GB" sz="3200" dirty="0">
                  <a:latin typeface="Nunito" pitchFamily="2" charset="0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EF7373-D0BD-BE75-3397-DE8A39957867}"/>
                </a:ext>
              </a:extLst>
            </p:cNvPr>
            <p:cNvSpPr txBox="1"/>
            <p:nvPr/>
          </p:nvSpPr>
          <p:spPr>
            <a:xfrm>
              <a:off x="9385923" y="1927755"/>
              <a:ext cx="13468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Nunito" pitchFamily="2" charset="0"/>
                </a:rPr>
                <a:t>Y = Z</a:t>
              </a:r>
            </a:p>
            <a:p>
              <a:r>
                <a:rPr lang="en-US" sz="3200" dirty="0">
                  <a:latin typeface="Nunito" pitchFamily="2" charset="0"/>
                </a:rPr>
                <a:t>Y = 1</a:t>
              </a:r>
              <a:endParaRPr lang="en-GB" sz="3200" dirty="0">
                <a:latin typeface="Nunito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C1847E-A109-6B62-EE77-0DE3FDE37677}"/>
                </a:ext>
              </a:extLst>
            </p:cNvPr>
            <p:cNvSpPr txBox="1"/>
            <p:nvPr/>
          </p:nvSpPr>
          <p:spPr>
            <a:xfrm>
              <a:off x="6278880" y="883116"/>
              <a:ext cx="179829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Nunito" pitchFamily="2" charset="0"/>
                </a:rPr>
                <a:t>Resolution Function</a:t>
              </a:r>
              <a:endParaRPr lang="en-GB" sz="2400" dirty="0">
                <a:latin typeface="Nunito" pitchFamily="2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D2EE4E4-BB43-891D-3FB7-5D747C044A7A}"/>
                </a:ext>
              </a:extLst>
            </p:cNvPr>
            <p:cNvCxnSpPr>
              <a:cxnSpLocks/>
            </p:cNvCxnSpPr>
            <p:nvPr/>
          </p:nvCxnSpPr>
          <p:spPr>
            <a:xfrm>
              <a:off x="7008502" y="1565849"/>
              <a:ext cx="0" cy="36190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778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B22AE41C-E808-E492-1280-15459E27EFC1}"/>
              </a:ext>
            </a:extLst>
          </p:cNvPr>
          <p:cNvSpPr txBox="1"/>
          <p:nvPr/>
        </p:nvSpPr>
        <p:spPr>
          <a:xfrm>
            <a:off x="-495300" y="751641"/>
            <a:ext cx="122453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61340" marR="98425" algn="just"/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SIGNED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UNSIGNED Signal types are defined as </a:t>
            </a:r>
            <a:r>
              <a:rPr lang="en-US" sz="3600" i="1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std_log</a:t>
            </a:r>
            <a:r>
              <a:rPr lang="en-US" sz="3600" i="1" spc="-5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i="1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c_si</a:t>
            </a:r>
            <a:r>
              <a:rPr lang="en-US" sz="3600" i="1" spc="1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600" i="1" spc="-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i="1" spc="-5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i="1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i="1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std_logic_unsigned</a:t>
            </a:r>
            <a:r>
              <a:rPr lang="en-US" sz="3600" i="1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kag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-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std_logic_arith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600" i="1" spc="1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1340" marR="98425" algn="just"/>
            <a:endParaRPr lang="en-US" sz="3600" i="1" spc="12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1340" marR="98425" algn="just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ines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uit that</a:t>
            </a:r>
            <a:r>
              <a:rPr lang="en-US" sz="3600" spc="-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us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lang="en-US" sz="3600" spc="-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lang="en-US" sz="3600" spc="-7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plement</a:t>
            </a:r>
            <a:r>
              <a:rPr lang="en-US" sz="3600" spc="-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arithm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-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rat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3600" spc="-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en-US" sz="3600" spc="-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+, *.</a:t>
            </a:r>
            <a:r>
              <a:rPr lang="en-US" sz="3600" spc="-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1340" marR="98425" algn="just"/>
            <a:endParaRPr lang="en-US" sz="3600" spc="-7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1340" marR="98425" algn="just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SIGNED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UNSIGNED types are</a:t>
            </a:r>
            <a:r>
              <a:rPr lang="en-US" sz="3600" spc="-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identical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the</a:t>
            </a:r>
            <a:r>
              <a:rPr lang="en-US" sz="36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STD_LOGIC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36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36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sz="36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gnal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004721-CFA3-9F25-FD97-E5B867A3426A}"/>
              </a:ext>
            </a:extLst>
          </p:cNvPr>
          <p:cNvSpPr txBox="1"/>
          <p:nvPr/>
        </p:nvSpPr>
        <p:spPr>
          <a:xfrm>
            <a:off x="3061346" y="0"/>
            <a:ext cx="6928474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SIGNED 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AND</a:t>
            </a:r>
            <a:r>
              <a:rPr lang="en-US" sz="3600" b="1" kern="0" spc="-10" dirty="0">
                <a:solidFill>
                  <a:srgbClr val="0070C0"/>
                </a:solidFill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UN</a:t>
            </a:r>
            <a:r>
              <a:rPr lang="en-US" sz="36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SIGNED TYPE </a:t>
            </a:r>
            <a:endParaRPr lang="en-GB" sz="36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0944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B22AE41C-E808-E492-1280-15459E27EFC1}"/>
              </a:ext>
            </a:extLst>
          </p:cNvPr>
          <p:cNvSpPr txBox="1"/>
          <p:nvPr/>
        </p:nvSpPr>
        <p:spPr>
          <a:xfrm>
            <a:off x="-480060" y="1189783"/>
            <a:ext cx="122453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67690" marR="86995" indent="-3175" algn="just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SIGNED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sz="36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circui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deal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3600" spc="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igned</a:t>
            </a:r>
            <a:r>
              <a:rPr lang="en-US" sz="3600" spc="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(2’s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1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omplement)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i.e. negative numbers</a:t>
            </a:r>
          </a:p>
          <a:p>
            <a:pPr marL="567690" marR="86995" indent="-3175" algn="just"/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7690" marR="86995" indent="-3175" algn="just"/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7690" marR="86995" indent="-3175" algn="just"/>
            <a:endParaRPr lang="en-US" sz="3600" spc="7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7690" marR="86995" indent="-3175" algn="just"/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UNSI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NED type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US" sz="36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36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36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ig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ned</a:t>
            </a:r>
            <a:r>
              <a:rPr lang="en-US" sz="36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numbers i.e. positive numbers</a:t>
            </a:r>
            <a:endParaRPr lang="en-GB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004721-CFA3-9F25-FD97-E5B867A3426A}"/>
              </a:ext>
            </a:extLst>
          </p:cNvPr>
          <p:cNvSpPr txBox="1"/>
          <p:nvPr/>
        </p:nvSpPr>
        <p:spPr>
          <a:xfrm>
            <a:off x="1341120" y="30480"/>
            <a:ext cx="957072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SIGNED </a:t>
            </a:r>
            <a:r>
              <a:rPr lang="en-US" sz="4000" b="1" kern="0" dirty="0">
                <a:solidFill>
                  <a:srgbClr val="0070C0"/>
                </a:solidFill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AND</a:t>
            </a:r>
            <a:r>
              <a:rPr lang="en-US" sz="4000" b="1" kern="0" spc="-10" dirty="0">
                <a:solidFill>
                  <a:srgbClr val="0070C0"/>
                </a:solidFill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UN</a:t>
            </a:r>
            <a:r>
              <a:rPr lang="en-US" sz="40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SIGNED TYPE </a:t>
            </a:r>
            <a:r>
              <a:rPr lang="en-US" sz="4000" b="1" kern="0" dirty="0" err="1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US" sz="40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452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B22AE41C-E808-E492-1280-15459E27EFC1}"/>
              </a:ext>
            </a:extLst>
          </p:cNvPr>
          <p:cNvSpPr txBox="1"/>
          <p:nvPr/>
        </p:nvSpPr>
        <p:spPr>
          <a:xfrm>
            <a:off x="-518160" y="610663"/>
            <a:ext cx="1224534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67690" marR="86995" indent="-3175" algn="just"/>
            <a:r>
              <a:rPr lang="en-US" sz="3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567690" marR="86995" indent="-3175" algn="just"/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4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4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ume</a:t>
            </a:r>
            <a:r>
              <a:rPr lang="en-US" sz="34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34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spc="3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4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400" spc="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3400" i="1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34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</a:t>
            </a:r>
            <a:r>
              <a:rPr lang="en-US" sz="34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als</a:t>
            </a:r>
            <a:r>
              <a:rPr lang="en-US" sz="34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34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4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solidFill>
                  <a:srgbClr val="C0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SIGNED</a:t>
            </a:r>
            <a:r>
              <a:rPr lang="en-US" sz="34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4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pe.</a:t>
            </a:r>
            <a:r>
              <a:rPr lang="en-US" sz="34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spc="-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400" spc="1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spc="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US" sz="3400" spc="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v</a:t>
            </a:r>
            <a:r>
              <a:rPr lang="en-US" sz="34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lue</a:t>
            </a:r>
            <a:r>
              <a:rPr lang="en-US" sz="34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“1000"</a:t>
            </a:r>
            <a:r>
              <a:rPr lang="en-US" sz="34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400" spc="1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 =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“0001".</a:t>
            </a:r>
            <a:r>
              <a:rPr lang="en-US" sz="34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7690" marR="86995" indent="-3175" algn="just"/>
            <a:r>
              <a:rPr lang="en-US" sz="34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 c</a:t>
            </a:r>
            <a:r>
              <a:rPr lang="en-US" sz="34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mpari</a:t>
            </a:r>
            <a:r>
              <a:rPr lang="en-US" sz="34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4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4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7690" marR="86995" indent="-3175" algn="just"/>
            <a:r>
              <a:rPr lang="en-US" sz="3400" i="1" spc="15" dirty="0"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                                </a:t>
            </a:r>
            <a:r>
              <a:rPr lang="en-US" sz="3400" i="1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A </a:t>
            </a:r>
            <a:r>
              <a:rPr lang="en-US" sz="34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&lt;</a:t>
            </a:r>
            <a:r>
              <a:rPr lang="en-US" sz="3400" spc="-3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B</a:t>
            </a:r>
            <a:r>
              <a:rPr lang="en-US" sz="3400" i="1" spc="-4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sz="3400" spc="-4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rue</a:t>
            </a:r>
            <a:r>
              <a:rPr lang="en-US" sz="34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7690" marR="86995" indent="-3175" algn="just"/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lang="en-US" sz="34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i="1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A</a:t>
            </a:r>
            <a:r>
              <a:rPr lang="en-US" sz="3400" i="1" spc="11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sz="3400" spc="-6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-8</a:t>
            </a:r>
            <a:r>
              <a:rPr lang="en-US" sz="34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34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i="1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B</a:t>
            </a:r>
            <a:r>
              <a:rPr lang="en-US" sz="3400" i="1" spc="4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sz="3400" spc="-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1</a:t>
            </a:r>
            <a:r>
              <a:rPr lang="en-US" sz="3400" spc="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7690" marR="86995" indent="-3175" algn="just"/>
            <a:r>
              <a:rPr lang="en-US" sz="3400" spc="10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</a:p>
          <a:p>
            <a:pPr marL="567690" marR="86995" indent="-3175" algn="just"/>
            <a:endParaRPr lang="en-US" sz="3400" spc="10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7690" marR="86995" indent="-3175" algn="just"/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400" i="1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A</a:t>
            </a:r>
            <a:r>
              <a:rPr lang="en-US" sz="3400" i="1" spc="8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4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3400" i="1" spc="2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34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signals </a:t>
            </a:r>
            <a:r>
              <a:rPr lang="en-US" sz="34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ith</a:t>
            </a:r>
            <a:r>
              <a:rPr lang="en-US" sz="34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4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solidFill>
                  <a:srgbClr val="C0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UNSIGNED</a:t>
            </a:r>
            <a:r>
              <a:rPr lang="en-US" sz="3400" spc="1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type,</a:t>
            </a:r>
            <a:r>
              <a:rPr lang="en-US" sz="34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7690" marR="86995" indent="-3175" algn="just"/>
            <a:r>
              <a:rPr lang="en-US" sz="34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4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4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 c</a:t>
            </a:r>
            <a:r>
              <a:rPr lang="en-US" sz="34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mpari</a:t>
            </a:r>
            <a:r>
              <a:rPr lang="en-US" sz="34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4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4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7690" marR="86995" indent="-3175" algn="just"/>
            <a:r>
              <a:rPr lang="en-US" sz="3400" i="1" spc="15" dirty="0"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                                   </a:t>
            </a:r>
            <a:r>
              <a:rPr lang="en-US" sz="3400" i="1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A </a:t>
            </a:r>
            <a:r>
              <a:rPr lang="en-US" sz="34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&lt;</a:t>
            </a:r>
            <a:r>
              <a:rPr lang="en-US" sz="3400" spc="-3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B</a:t>
            </a:r>
            <a:r>
              <a:rPr lang="en-US" sz="3400" i="1" spc="-4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</a:t>
            </a:r>
            <a:r>
              <a:rPr lang="en-US" sz="34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</a:t>
            </a:r>
            <a:r>
              <a:rPr lang="en-US" sz="34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7690" marR="86995" indent="-3175" algn="just"/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lang="en-US" sz="3400" spc="1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4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sz="3400" spc="-6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34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4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i="1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B</a:t>
            </a:r>
            <a:r>
              <a:rPr lang="en-US" sz="3400" i="1" spc="2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sz="3400" spc="-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1</a:t>
            </a:r>
            <a:r>
              <a:rPr lang="en-US" sz="34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n-GB" sz="34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004721-CFA3-9F25-FD97-E5B867A3426A}"/>
              </a:ext>
            </a:extLst>
          </p:cNvPr>
          <p:cNvSpPr txBox="1"/>
          <p:nvPr/>
        </p:nvSpPr>
        <p:spPr>
          <a:xfrm>
            <a:off x="1341120" y="30480"/>
            <a:ext cx="957072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SIGNED </a:t>
            </a:r>
            <a:r>
              <a:rPr lang="en-US" sz="4000" b="1" kern="0" dirty="0">
                <a:solidFill>
                  <a:srgbClr val="0070C0"/>
                </a:solidFill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AND</a:t>
            </a:r>
            <a:r>
              <a:rPr lang="en-US" sz="4000" b="1" kern="0" spc="-10" dirty="0">
                <a:solidFill>
                  <a:srgbClr val="0070C0"/>
                </a:solidFill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UN</a:t>
            </a:r>
            <a:r>
              <a:rPr lang="en-US" sz="40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SIGNED TYPE </a:t>
            </a:r>
            <a:r>
              <a:rPr lang="en-US" sz="4000" b="1" kern="0" dirty="0" err="1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US" sz="40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9637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B22AE41C-E808-E492-1280-15459E27EFC1}"/>
              </a:ext>
            </a:extLst>
          </p:cNvPr>
          <p:cNvSpPr txBox="1"/>
          <p:nvPr/>
        </p:nvSpPr>
        <p:spPr>
          <a:xfrm>
            <a:off x="-525780" y="576381"/>
            <a:ext cx="12245340" cy="6868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1890" marR="64770" indent="-571500" algn="just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en-US" sz="3600" spc="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represen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binary number.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51890" marR="64770" indent="-571500" algn="just"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3600" spc="5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1890" marR="64770" indent="-571500" algn="just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oes</a:t>
            </a:r>
            <a:r>
              <a:rPr lang="en-US" sz="36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specifically</a:t>
            </a:r>
            <a:r>
              <a:rPr lang="en-US" sz="36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ive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US" sz="3600" spc="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6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signal,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does for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STD_LOGI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</a:p>
          <a:p>
            <a:pPr marL="580390" marR="64770" algn="just">
              <a:spcAft>
                <a:spcPts val="0"/>
              </a:spcAft>
            </a:pP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51890" marR="64770" indent="-571500" algn="just"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36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defaul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36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nal</a:t>
            </a:r>
            <a:r>
              <a:rPr lang="en-US" sz="3600" spc="1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marL="583565" marR="67945" algn="just">
              <a:spcAft>
                <a:spcPts val="0"/>
              </a:spcAft>
            </a:pP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-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3600" spc="-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-(</a:t>
            </a:r>
            <a:r>
              <a:rPr lang="en-US" sz="36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aseline="300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31</a:t>
            </a:r>
            <a:r>
              <a:rPr lang="en-US" sz="3600" spc="-1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-</a:t>
            </a:r>
            <a:r>
              <a:rPr lang="en-US" sz="3600" spc="-2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-8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1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3600" spc="-7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600" spc="-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spc="10" baseline="300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3</a:t>
            </a:r>
            <a:r>
              <a:rPr lang="en-US" sz="3600" baseline="300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1</a:t>
            </a:r>
            <a:r>
              <a:rPr lang="en-US" sz="3600" spc="-3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-</a:t>
            </a:r>
            <a:r>
              <a:rPr lang="en-US" sz="3600" spc="-4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1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1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en-US" sz="3600" spc="-4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583565" marR="67945" algn="just">
              <a:spcAft>
                <a:spcPts val="0"/>
              </a:spcAft>
            </a:pPr>
            <a:endParaRPr lang="en-US" sz="3600" spc="-4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44450" algn="ctr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:</a:t>
            </a:r>
            <a:r>
              <a:rPr lang="en-US" sz="36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INTEGER RANGE: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600" spc="-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127</a:t>
            </a:r>
            <a:r>
              <a:rPr lang="en-US" sz="3600" spc="-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    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2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defines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i="1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ight-bit</a:t>
            </a:r>
            <a:r>
              <a:rPr lang="en-US" sz="32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83565" marR="67945" algn="just">
              <a:spcAft>
                <a:spcPts val="0"/>
              </a:spcAft>
            </a:pP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004721-CFA3-9F25-FD97-E5B867A3426A}"/>
              </a:ext>
            </a:extLst>
          </p:cNvPr>
          <p:cNvSpPr txBox="1"/>
          <p:nvPr/>
        </p:nvSpPr>
        <p:spPr>
          <a:xfrm>
            <a:off x="3831913" y="0"/>
            <a:ext cx="4001448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4000" b="1" kern="0" dirty="0">
                <a:solidFill>
                  <a:srgbClr val="0070C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0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EGER TYPE 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756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B22AE41C-E808-E492-1280-15459E27EFC1}"/>
              </a:ext>
            </a:extLst>
          </p:cNvPr>
          <p:cNvSpPr txBox="1"/>
          <p:nvPr/>
        </p:nvSpPr>
        <p:spPr>
          <a:xfrm>
            <a:off x="-53340" y="1285041"/>
            <a:ext cx="12245340" cy="5260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915" marR="217170" algn="just"/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  obje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6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36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 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36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3600" spc="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81915" marR="217170" algn="just"/>
            <a:r>
              <a:rPr lang="en-US" sz="3600" spc="10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F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ALSE,</a:t>
            </a:r>
            <a:r>
              <a:rPr lang="en-US" sz="3600" spc="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</a:p>
          <a:p>
            <a:pPr marL="81915" marR="217170" algn="just"/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915" marR="217170" algn="just"/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  is 1</a:t>
            </a:r>
            <a:r>
              <a:rPr lang="en-US" sz="36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1915" marR="217170" algn="just"/>
            <a:r>
              <a:rPr lang="en-US" sz="3600" spc="3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0.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                    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</a:t>
            </a:r>
            <a:r>
              <a:rPr lang="en-US" sz="3600" spc="-11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en-US" sz="3600" spc="-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Flag</a:t>
            </a:r>
            <a:r>
              <a:rPr lang="en-US" sz="3600" spc="-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600" spc="-1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3600" spc="-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7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900"/>
              </a:lnSpc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83565" marR="67945" algn="just">
              <a:spcAft>
                <a:spcPts val="0"/>
              </a:spcAft>
            </a:pP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004721-CFA3-9F25-FD97-E5B867A3426A}"/>
              </a:ext>
            </a:extLst>
          </p:cNvPr>
          <p:cNvSpPr txBox="1"/>
          <p:nvPr/>
        </p:nvSpPr>
        <p:spPr>
          <a:xfrm>
            <a:off x="3831912" y="0"/>
            <a:ext cx="4923467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0070C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40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TYPE 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2478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B22AE41C-E808-E492-1280-15459E27EFC1}"/>
              </a:ext>
            </a:extLst>
          </p:cNvPr>
          <p:cNvSpPr txBox="1"/>
          <p:nvPr/>
        </p:nvSpPr>
        <p:spPr>
          <a:xfrm>
            <a:off x="-53340" y="740203"/>
            <a:ext cx="1224534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4140" marR="92075" algn="just"/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ENUMERATION 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lang="en-US" sz="36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3600" spc="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signals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 specified.</a:t>
            </a:r>
            <a:r>
              <a:rPr lang="en-US" sz="36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rm is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       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3600" spc="-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enume</a:t>
            </a:r>
            <a:r>
              <a:rPr lang="en-US" sz="3600" spc="2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ed_type_name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600" spc="-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{,</a:t>
            </a:r>
            <a:r>
              <a:rPr lang="en-US" sz="3600" spc="-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3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1}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6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xample of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ENUME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ATI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ype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specifying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-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 a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fini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6995" algn="ctr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-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</a:t>
            </a:r>
            <a:r>
              <a:rPr lang="en-US" sz="3600" spc="-2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-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1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spc="-4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en-US" sz="3600" spc="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3600" spc="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3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-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600" spc="-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3600" spc="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6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			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spc="-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spc="-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600" spc="-1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3600" spc="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spc="3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ype</a:t>
            </a:r>
            <a:r>
              <a:rPr lang="en-US" sz="3600" spc="-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9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004721-CFA3-9F25-FD97-E5B867A3426A}"/>
              </a:ext>
            </a:extLst>
          </p:cNvPr>
          <p:cNvSpPr txBox="1"/>
          <p:nvPr/>
        </p:nvSpPr>
        <p:spPr>
          <a:xfrm>
            <a:off x="3641412" y="0"/>
            <a:ext cx="5418768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0070C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ENUMERATION </a:t>
            </a:r>
            <a:r>
              <a:rPr lang="en-US" sz="4000" b="1" kern="0" dirty="0">
                <a:solidFill>
                  <a:srgbClr val="0070C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9201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B22AE41C-E808-E492-1280-15459E27EFC1}"/>
              </a:ext>
            </a:extLst>
          </p:cNvPr>
          <p:cNvSpPr txBox="1"/>
          <p:nvPr/>
        </p:nvSpPr>
        <p:spPr>
          <a:xfrm>
            <a:off x="-137160" y="519223"/>
            <a:ext cx="12245340" cy="667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2730" indent="3175" algn="just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6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hose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-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cann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ged.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52730" indent="3175" algn="just"/>
            <a:endParaRPr lang="en-US" sz="3600" spc="15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2730" indent="3175" algn="just"/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nl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sz="3600" spc="-8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6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CONSTANT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represent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3600" spc="-2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in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cir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uit.</a:t>
            </a:r>
            <a:r>
              <a:rPr lang="en-US" sz="3600" spc="1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52730" indent="3175" algn="just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CONSTANT declarati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1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</a:p>
          <a:p>
            <a:pPr marL="252730" indent="3175" algn="just"/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" algn="ctr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32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t_name</a:t>
            </a:r>
            <a:r>
              <a:rPr lang="en-US" sz="32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3200" spc="-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3200" spc="-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7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nstan</a:t>
            </a:r>
            <a:r>
              <a:rPr lang="en-US" sz="3200" spc="3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200" spc="5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10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2070" marR="23495" algn="just"/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purpose</a:t>
            </a:r>
            <a:r>
              <a:rPr lang="en-US" sz="34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4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4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n-US" sz="34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4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400" spc="-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spc="-6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prove</a:t>
            </a:r>
            <a:r>
              <a:rPr lang="en-US" sz="34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4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reada</a:t>
            </a:r>
            <a:r>
              <a:rPr lang="en-US" sz="34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4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ity</a:t>
            </a:r>
            <a:r>
              <a:rPr lang="en-US" sz="34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4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</a:t>
            </a:r>
            <a:r>
              <a:rPr lang="en-US" sz="34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4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using</a:t>
            </a:r>
            <a:r>
              <a:rPr lang="en-US" sz="34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4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34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4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constant</a:t>
            </a:r>
            <a:r>
              <a:rPr lang="en-US" sz="34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4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place </a:t>
            </a:r>
            <a:r>
              <a:rPr lang="en-US" sz="34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 a</a:t>
            </a:r>
            <a:r>
              <a:rPr lang="en-US" sz="34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sz="34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34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numbe</a:t>
            </a:r>
            <a:r>
              <a:rPr lang="en-US" sz="34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34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004721-CFA3-9F25-FD97-E5B867A3426A}"/>
              </a:ext>
            </a:extLst>
          </p:cNvPr>
          <p:cNvSpPr txBox="1"/>
          <p:nvPr/>
        </p:nvSpPr>
        <p:spPr>
          <a:xfrm>
            <a:off x="2810832" y="0"/>
            <a:ext cx="7026588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CONSTANT </a:t>
            </a:r>
            <a:r>
              <a:rPr lang="en-US" sz="4000" b="1" kern="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OBJECT 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8685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B22AE41C-E808-E492-1280-15459E27EFC1}"/>
              </a:ext>
            </a:extLst>
          </p:cNvPr>
          <p:cNvSpPr txBox="1"/>
          <p:nvPr/>
        </p:nvSpPr>
        <p:spPr>
          <a:xfrm>
            <a:off x="-19524" y="1258363"/>
            <a:ext cx="122453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325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60325" algn="ctr"/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325" algn="ctr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n-US" sz="3600" spc="-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600" spc="-1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STD_LOGIC_</a:t>
            </a:r>
            <a:r>
              <a:rPr lang="en-US" sz="3600" spc="-1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3600" spc="-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sz="3600" spc="-1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DOWNTO</a:t>
            </a:r>
            <a:r>
              <a:rPr lang="en-US" sz="3600" spc="-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sz="36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:=</a:t>
            </a:r>
            <a:r>
              <a:rPr lang="en-US" sz="3600" spc="-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"0000"</a:t>
            </a:r>
            <a:r>
              <a:rPr lang="en-US" sz="3600" spc="-85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;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2070" marR="253365" algn="just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word 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en-US" sz="3600" i="1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indicate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"0000".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004721-CFA3-9F25-FD97-E5B867A3426A}"/>
              </a:ext>
            </a:extLst>
          </p:cNvPr>
          <p:cNvSpPr txBox="1"/>
          <p:nvPr/>
        </p:nvSpPr>
        <p:spPr>
          <a:xfrm>
            <a:off x="2224092" y="0"/>
            <a:ext cx="9152568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CONSTANT </a:t>
            </a:r>
            <a:r>
              <a:rPr lang="en-US" sz="4000" b="1" kern="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OBJECT </a:t>
            </a:r>
            <a:r>
              <a:rPr lang="en-US" sz="4000" b="1" kern="0" dirty="0" err="1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US" sz="4000" b="1" kern="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8973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B22AE41C-E808-E492-1280-15459E27EFC1}"/>
              </a:ext>
            </a:extLst>
          </p:cNvPr>
          <p:cNvSpPr txBox="1"/>
          <p:nvPr/>
        </p:nvSpPr>
        <p:spPr>
          <a:xfrm>
            <a:off x="-19524" y="1258363"/>
            <a:ext cx="122453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325"/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spc="-5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VARIABLE</a:t>
            </a:r>
            <a:r>
              <a:rPr lang="en-US" sz="3600" spc="-2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unlike</a:t>
            </a:r>
            <a:r>
              <a:rPr lang="en-US" sz="3600" spc="-4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spc="-4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SIGNAL,</a:t>
            </a:r>
            <a:r>
              <a:rPr lang="en-US" sz="3600" spc="-5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does</a:t>
            </a:r>
            <a:r>
              <a:rPr lang="en-US" sz="3600" spc="-4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3600" spc="-4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necessarily</a:t>
            </a:r>
            <a:r>
              <a:rPr lang="en-US" sz="3600" spc="1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represent</a:t>
            </a:r>
            <a:r>
              <a:rPr lang="en-US" sz="3600" spc="-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spc="-5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wire</a:t>
            </a:r>
            <a:r>
              <a:rPr lang="en-US" sz="3600" spc="-5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US" sz="3600" spc="-3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3600" spc="-8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circuit.</a:t>
            </a:r>
            <a:r>
              <a:rPr lang="en-US" sz="3600" spc="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60325"/>
            <a:endParaRPr lang="en-US" sz="3600" spc="1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0325"/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VARI­ABLE</a:t>
            </a:r>
            <a:r>
              <a:rPr lang="en-US" sz="3600" spc="-6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  <a:r>
              <a:rPr lang="en-US" sz="3600" spc="-3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objects</a:t>
            </a:r>
            <a:r>
              <a:rPr lang="en-US" sz="3600" spc="-3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are</a:t>
            </a:r>
            <a:r>
              <a:rPr lang="en-US" sz="3600" spc="-6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some</a:t>
            </a:r>
            <a:r>
              <a:rPr lang="en-US" sz="3600" spc="3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3600" spc="3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mes</a:t>
            </a:r>
            <a:r>
              <a:rPr lang="en-US" sz="3600" spc="-4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used</a:t>
            </a:r>
            <a:r>
              <a:rPr lang="en-US" sz="3600" spc="-1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n-US" sz="3600" spc="-6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hold</a:t>
            </a:r>
            <a:r>
              <a:rPr lang="en-US" sz="3600" spc="-2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3600" spc="-7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results</a:t>
            </a:r>
            <a:r>
              <a:rPr lang="en-US" sz="3600" spc="-4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US" sz="3600" spc="-7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3600" spc="-1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3600" spc="3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putations</a:t>
            </a:r>
            <a:r>
              <a:rPr lang="en-US" sz="3600" spc="-3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3600" spc="-3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US" sz="3600" spc="-7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3600" spc="-6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index variables</a:t>
            </a:r>
            <a:r>
              <a:rPr lang="en-US" sz="3600" spc="2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US" sz="3600" spc="-35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loops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004721-CFA3-9F25-FD97-E5B867A3426A}"/>
              </a:ext>
            </a:extLst>
          </p:cNvPr>
          <p:cNvSpPr txBox="1"/>
          <p:nvPr/>
        </p:nvSpPr>
        <p:spPr>
          <a:xfrm>
            <a:off x="3031812" y="22860"/>
            <a:ext cx="6714168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VARIABLE </a:t>
            </a:r>
            <a:r>
              <a:rPr lang="en-US" sz="4000" b="1" kern="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OBJECT  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7010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B22AE41C-E808-E492-1280-15459E27EFC1}"/>
              </a:ext>
            </a:extLst>
          </p:cNvPr>
          <p:cNvSpPr txBox="1"/>
          <p:nvPr/>
        </p:nvSpPr>
        <p:spPr>
          <a:xfrm>
            <a:off x="-26671" y="458263"/>
            <a:ext cx="122453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3505" marR="551180" indent="3175" algn="just">
              <a:spcAft>
                <a:spcPts val="0"/>
              </a:spcAft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 provides Boolean, Arithmetic and relational operators.</a:t>
            </a:r>
          </a:p>
          <a:p>
            <a:pPr marL="103505" marR="551180" indent="3175" algn="just">
              <a:spcAft>
                <a:spcPts val="0"/>
              </a:spcAft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are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categorized</a:t>
            </a:r>
            <a:r>
              <a:rPr lang="en-US" sz="36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lang="en-US" sz="36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6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preced</a:t>
            </a:r>
            <a:r>
              <a:rPr lang="en-US" sz="36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nce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the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tor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 as shown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6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004721-CFA3-9F25-FD97-E5B867A3426A}"/>
              </a:ext>
            </a:extLst>
          </p:cNvPr>
          <p:cNvSpPr txBox="1"/>
          <p:nvPr/>
        </p:nvSpPr>
        <p:spPr>
          <a:xfrm>
            <a:off x="3862392" y="-106680"/>
            <a:ext cx="3589968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6231F51-EABB-B778-8413-A0133D75B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318848"/>
              </p:ext>
            </p:extLst>
          </p:nvPr>
        </p:nvGraphicFramePr>
        <p:xfrm>
          <a:off x="30480" y="2651760"/>
          <a:ext cx="1208150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0803">
                  <a:extLst>
                    <a:ext uri="{9D8B030D-6E8A-4147-A177-3AD203B41FA5}">
                      <a16:colId xmlns:a16="http://schemas.microsoft.com/office/drawing/2014/main" val="2429357097"/>
                    </a:ext>
                  </a:extLst>
                </a:gridCol>
                <a:gridCol w="3695204">
                  <a:extLst>
                    <a:ext uri="{9D8B030D-6E8A-4147-A177-3AD203B41FA5}">
                      <a16:colId xmlns:a16="http://schemas.microsoft.com/office/drawing/2014/main" val="3223631737"/>
                    </a:ext>
                  </a:extLst>
                </a:gridCol>
                <a:gridCol w="5525502">
                  <a:extLst>
                    <a:ext uri="{9D8B030D-6E8A-4147-A177-3AD203B41FA5}">
                      <a16:colId xmlns:a16="http://schemas.microsoft.com/office/drawing/2014/main" val="486248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260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OPERATOR CLASS</a:t>
                      </a:r>
                      <a:endParaRPr lang="en-GB" sz="26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OPERATOR</a:t>
                      </a:r>
                      <a:endParaRPr lang="en-GB" sz="26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219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Highest Precedence</a:t>
                      </a:r>
                      <a:endParaRPr lang="en-GB" sz="26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Miscellaneous</a:t>
                      </a:r>
                      <a:endParaRPr lang="en-GB" sz="26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**, ABS, NOT</a:t>
                      </a:r>
                      <a:endParaRPr lang="en-GB" sz="26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652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260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Multiplying</a:t>
                      </a:r>
                      <a:endParaRPr lang="en-GB" sz="26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*, /, MOD, REM</a:t>
                      </a:r>
                      <a:endParaRPr lang="en-GB" sz="26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359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260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Sign</a:t>
                      </a:r>
                      <a:endParaRPr lang="en-GB" sz="26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+, -</a:t>
                      </a:r>
                      <a:endParaRPr lang="en-GB" sz="26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357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260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Adding</a:t>
                      </a:r>
                      <a:endParaRPr lang="en-GB" sz="26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+, -, &amp;</a:t>
                      </a:r>
                      <a:endParaRPr lang="en-GB" sz="26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012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260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Relational</a:t>
                      </a:r>
                      <a:endParaRPr lang="en-GB" sz="26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=, /=, &lt;, &lt;=, &gt;, &gt;=</a:t>
                      </a:r>
                      <a:endParaRPr lang="en-GB" sz="26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555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Lowest Precedence</a:t>
                      </a:r>
                      <a:endParaRPr lang="en-GB" sz="26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Logical</a:t>
                      </a:r>
                      <a:endParaRPr lang="en-GB" sz="26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AND, OR, NAND, NOR, XOR, XNOR</a:t>
                      </a:r>
                      <a:endParaRPr lang="en-GB" sz="26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338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6816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B22AE41C-E808-E492-1280-15459E27EFC1}"/>
              </a:ext>
            </a:extLst>
          </p:cNvPr>
          <p:cNvSpPr txBox="1"/>
          <p:nvPr/>
        </p:nvSpPr>
        <p:spPr>
          <a:xfrm>
            <a:off x="0" y="785923"/>
            <a:ext cx="1224534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3505" marR="551180" indent="3175" algn="just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Logic expression </a:t>
            </a:r>
          </a:p>
          <a:p>
            <a:pPr marL="103505" marR="551180" indent="3175" algn="just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x1</a:t>
            </a:r>
            <a:r>
              <a:rPr lang="en-US" sz="3600" b="1" spc="65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b="1" spc="40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r>
              <a:rPr lang="en-US" sz="3600" b="1" spc="20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b="1" spc="15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x3</a:t>
            </a:r>
            <a:r>
              <a:rPr lang="en-US" sz="3600" b="1" spc="-15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3600" b="1" spc="40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x4</a:t>
            </a:r>
            <a:endParaRPr lang="en-GB" sz="3600" b="1" dirty="0">
              <a:solidFill>
                <a:srgbClr val="00B0F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0490" marR="541655" algn="just"/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oes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meaning of</a:t>
            </a:r>
          </a:p>
          <a:p>
            <a:pPr marL="110490" marR="541655" algn="just"/>
            <a:r>
              <a:rPr lang="en-US" sz="3600" spc="-4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36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600" b="1" i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600" b="1" i="1" spc="-25" dirty="0">
                <a:solidFill>
                  <a:srgbClr val="00B0F0"/>
                </a:solidFill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1 * </a:t>
            </a:r>
            <a:r>
              <a:rPr lang="en-US" sz="3600" b="1" i="1" spc="25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x2 * </a:t>
            </a:r>
            <a:r>
              <a:rPr lang="en-US" sz="3600" b="1" i="1" spc="20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600" b="1" i="1" dirty="0">
                <a:solidFill>
                  <a:srgbClr val="00B0F0"/>
                </a:solidFill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3 </a:t>
            </a:r>
            <a:r>
              <a:rPr lang="en-US" sz="3600" b="1" spc="-5" dirty="0">
                <a:solidFill>
                  <a:srgbClr val="00B0F0"/>
                </a:solidFill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+ </a:t>
            </a:r>
            <a:r>
              <a:rPr lang="en-US" sz="3600" b="1" i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x4</a:t>
            </a:r>
          </a:p>
          <a:p>
            <a:pPr marL="110490" marR="541655" algn="just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because AND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precedence</a:t>
            </a:r>
            <a:r>
              <a:rPr lang="en-US" sz="36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OR.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0490" marR="541655" algn="just"/>
            <a:endParaRPr lang="en-US" sz="3600" spc="-1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0490" marR="541655" algn="just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also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legal VHDL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expression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0490" marR="1183640" algn="just"/>
            <a:r>
              <a:rPr lang="en-US" sz="3600" spc="-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-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leg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h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desired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meaning,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 written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3505" marR="551180" indent="3175" algn="just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b="1" spc="45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600" b="1" spc="45" dirty="0">
                <a:solidFill>
                  <a:srgbClr val="00B0F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600" b="1" spc="45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b="1" spc="10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x2</a:t>
            </a:r>
            <a:r>
              <a:rPr lang="en-US" sz="3600" b="1" spc="40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600" b="1" spc="5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x3)</a:t>
            </a:r>
            <a:r>
              <a:rPr lang="en-US" sz="3600" b="1" spc="20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3600" b="1" spc="5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x4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004721-CFA3-9F25-FD97-E5B867A3426A}"/>
              </a:ext>
            </a:extLst>
          </p:cNvPr>
          <p:cNvSpPr txBox="1"/>
          <p:nvPr/>
        </p:nvSpPr>
        <p:spPr>
          <a:xfrm>
            <a:off x="3824292" y="106680"/>
            <a:ext cx="5555928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OPERATORS </a:t>
            </a:r>
            <a:r>
              <a:rPr lang="en-US" sz="4000" b="1" kern="0" dirty="0" err="1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6988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A1CACB-C11E-BD27-E947-661AE46DAF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500" t="33333" r="37187" b="22444"/>
          <a:stretch/>
        </p:blipFill>
        <p:spPr>
          <a:xfrm>
            <a:off x="7437120" y="807720"/>
            <a:ext cx="4168140" cy="53686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6DD930-EA36-E8E4-9BEC-E7C3C3EA6C4A}"/>
              </a:ext>
            </a:extLst>
          </p:cNvPr>
          <p:cNvSpPr txBox="1"/>
          <p:nvPr/>
        </p:nvSpPr>
        <p:spPr>
          <a:xfrm>
            <a:off x="3054672" y="106680"/>
            <a:ext cx="6401748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 DESIGN ENTITY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52371-3C20-D6BE-8AC3-DC567013FD48}"/>
              </a:ext>
            </a:extLst>
          </p:cNvPr>
          <p:cNvSpPr txBox="1"/>
          <p:nvPr/>
        </p:nvSpPr>
        <p:spPr>
          <a:xfrm>
            <a:off x="-925832" y="984043"/>
            <a:ext cx="792861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82065" algn="just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6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  <a:r>
              <a:rPr lang="en-US" sz="36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6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bed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lang="en-US" sz="36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</a:t>
            </a:r>
            <a:r>
              <a:rPr lang="en-US" sz="3600" spc="-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6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3600" spc="-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lang="en-US" sz="36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US" sz="3600" i="1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entity,</a:t>
            </a:r>
            <a:r>
              <a:rPr lang="en-US" sz="3600" i="1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3600" spc="-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just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entity. </a:t>
            </a:r>
          </a:p>
          <a:p>
            <a:pPr marL="1282065" algn="just"/>
            <a:endParaRPr lang="en-US" sz="3600" i="1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82065" algn="just"/>
            <a:r>
              <a:rPr lang="en-US" sz="3600" i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has</a:t>
            </a:r>
            <a:r>
              <a:rPr lang="en-US" sz="3600" spc="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sz="36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3600" spc="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parts: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82065" algn="just"/>
            <a:endParaRPr lang="en-US" sz="3600" spc="5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53565" indent="-571500" algn="just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declaration</a:t>
            </a:r>
          </a:p>
          <a:p>
            <a:pPr marL="1853565" indent="-571500" algn="just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spc="-7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GB" sz="36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09E7AF-E626-730C-1598-828CC9F587E8}"/>
              </a:ext>
            </a:extLst>
          </p:cNvPr>
          <p:cNvSpPr txBox="1"/>
          <p:nvPr/>
        </p:nvSpPr>
        <p:spPr>
          <a:xfrm>
            <a:off x="6621780" y="6197322"/>
            <a:ext cx="57226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</a:rPr>
              <a:t>G</a:t>
            </a:r>
            <a:r>
              <a:rPr lang="en-US" sz="3000" b="1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eneral</a:t>
            </a:r>
            <a:r>
              <a:rPr lang="en-US" sz="3000" b="1" spc="7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en-US" sz="3000" b="1" spc="-25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s</a:t>
            </a:r>
            <a:r>
              <a:rPr lang="en-US" sz="3000" b="1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tructure</a:t>
            </a:r>
            <a:r>
              <a:rPr lang="en-US" sz="3000" b="1" spc="75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en-US" sz="3000" b="1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of</a:t>
            </a:r>
            <a:r>
              <a:rPr lang="en-US" sz="3000" b="1" spc="55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en-US" sz="3000" b="1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an</a:t>
            </a:r>
            <a:r>
              <a:rPr lang="en-US" sz="3000" b="1" spc="30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 </a:t>
            </a:r>
            <a:r>
              <a:rPr lang="en-US" sz="3000" b="1" dirty="0">
                <a:solidFill>
                  <a:srgbClr val="FF0000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entity</a:t>
            </a:r>
            <a:endParaRPr lang="en-GB" sz="3000" b="1" dirty="0">
              <a:solidFill>
                <a:srgbClr val="FF0000"/>
              </a:solidFill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3880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6DD930-EA36-E8E4-9BEC-E7C3C3EA6C4A}"/>
              </a:ext>
            </a:extLst>
          </p:cNvPr>
          <p:cNvSpPr txBox="1"/>
          <p:nvPr/>
        </p:nvSpPr>
        <p:spPr>
          <a:xfrm>
            <a:off x="2155512" y="106680"/>
            <a:ext cx="7209468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0" dirty="0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 DESIGN ENTITY </a:t>
            </a:r>
            <a:r>
              <a:rPr lang="en-US" sz="4000" b="1" kern="0" dirty="0" err="1">
                <a:solidFill>
                  <a:srgbClr val="FF000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endParaRPr lang="en-GB" sz="4000" b="1" kern="0" dirty="0">
              <a:solidFill>
                <a:srgbClr val="FF0000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52371-3C20-D6BE-8AC3-DC567013FD48}"/>
              </a:ext>
            </a:extLst>
          </p:cNvPr>
          <p:cNvSpPr txBox="1"/>
          <p:nvPr/>
        </p:nvSpPr>
        <p:spPr>
          <a:xfrm>
            <a:off x="-925832" y="984043"/>
            <a:ext cx="12790172" cy="846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39800" marR="462915" indent="-129540">
              <a:tabLst>
                <a:tab pos="2162810" algn="l"/>
              </a:tabLst>
            </a:pP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ARCH</a:t>
            </a:r>
            <a:r>
              <a:rPr lang="en-US" sz="3200" spc="-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TECTURE</a:t>
            </a:r>
            <a:r>
              <a:rPr lang="en-US" sz="32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archit</a:t>
            </a:r>
            <a:r>
              <a:rPr lang="en-US" sz="32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ect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ure_nam</a:t>
            </a:r>
            <a:r>
              <a:rPr lang="en-US" sz="32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3200" spc="-4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entity_name</a:t>
            </a:r>
            <a:r>
              <a:rPr lang="en-US" sz="32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   </a:t>
            </a:r>
          </a:p>
          <a:p>
            <a:pPr marL="939800" marR="462915" indent="-129540">
              <a:tabLst>
                <a:tab pos="2162810" algn="l"/>
              </a:tabLst>
            </a:pPr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[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NAL declar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ns]</a:t>
            </a:r>
          </a:p>
          <a:p>
            <a:pPr marL="939800" marR="462915" indent="-129540">
              <a:tabLst>
                <a:tab pos="2162810" algn="l"/>
              </a:tabLst>
            </a:pPr>
            <a:r>
              <a:rPr lang="en-US" sz="3200" spc="4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[C</a:t>
            </a:r>
            <a:r>
              <a:rPr lang="en-US" sz="32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STANT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declarations]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9800" marR="1124585"/>
            <a:r>
              <a:rPr lang="en-US" sz="3200" spc="9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[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sz="32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declarations]</a:t>
            </a:r>
          </a:p>
          <a:p>
            <a:pPr marL="939800" marR="1124585"/>
            <a:r>
              <a:rPr lang="en-US" sz="3200" spc="-2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32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decl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rat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ons] </a:t>
            </a:r>
          </a:p>
          <a:p>
            <a:pPr marL="939800" marR="112458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[ATTRIBUTE  specific</a:t>
            </a:r>
            <a:r>
              <a:rPr lang="en-US" sz="32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s]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6610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</a:t>
            </a:r>
            <a:r>
              <a:rPr lang="en-US" sz="3200" spc="6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46150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{COMPONENT </a:t>
            </a:r>
            <a:r>
              <a:rPr lang="en-US" sz="32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stantiation 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 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;}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46150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{CONCURRENT</a:t>
            </a:r>
            <a:r>
              <a:rPr lang="en-US" sz="32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NMENT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Arial" panose="020B0604020202020204" pitchFamily="34" charset="0"/>
                <a:cs typeface="Times New Roman" panose="02020603050405020304" pitchFamily="18" charset="0"/>
              </a:rPr>
              <a:t>;}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46150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{PROCESS</a:t>
            </a:r>
            <a:r>
              <a:rPr lang="en-US" sz="3200" spc="-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3200" spc="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3435" marR="1212215" indent="135890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{GENERATE</a:t>
            </a:r>
            <a:r>
              <a:rPr lang="en-US" sz="3200" spc="-9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n-US" sz="32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813435" marR="1212215" indent="135890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[arc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itecture_</a:t>
            </a:r>
            <a:r>
              <a:rPr lang="en-US" sz="3200" spc="-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e]</a:t>
            </a:r>
            <a:r>
              <a:rPr lang="en-US" sz="3200" spc="-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53565" indent="-571500" algn="just">
              <a:buFont typeface="Wingdings" panose="05000000000000000000" pitchFamily="2" charset="2"/>
              <a:buChar char="Ø"/>
            </a:pPr>
            <a:endParaRPr lang="en-US" sz="3200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53565" indent="-571500" algn="just">
              <a:buFont typeface="Wingdings" panose="05000000000000000000" pitchFamily="2" charset="2"/>
              <a:buChar char="Ø"/>
            </a:pPr>
            <a:endParaRPr lang="en-US" sz="32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53565" indent="-571500" algn="just">
              <a:buFont typeface="Wingdings" panose="05000000000000000000" pitchFamily="2" charset="2"/>
              <a:buChar char="Ø"/>
            </a:pPr>
            <a:endParaRPr lang="en-US" sz="3200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53565" indent="-571500" algn="just">
              <a:buFont typeface="Wingdings" panose="05000000000000000000" pitchFamily="2" charset="2"/>
              <a:buChar char="Ø"/>
            </a:pPr>
            <a:endParaRPr lang="en-US" sz="32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53565" indent="-571500" algn="just">
              <a:buFont typeface="Wingdings" panose="05000000000000000000" pitchFamily="2" charset="2"/>
              <a:buChar char="Ø"/>
            </a:pPr>
            <a:endParaRPr lang="en-GB" sz="32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40835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3929</TotalTime>
  <Words>2363</Words>
  <Application>Microsoft Office PowerPoint</Application>
  <PresentationFormat>Widescreen</PresentationFormat>
  <Paragraphs>345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 DELANEY</vt:lpstr>
      <vt:lpstr>Arial</vt:lpstr>
      <vt:lpstr>Arial Black</vt:lpstr>
      <vt:lpstr>Arial Narrow</vt:lpstr>
      <vt:lpstr>Calibri</vt:lpstr>
      <vt:lpstr>Nunito</vt:lpstr>
      <vt:lpstr>Times New Roman</vt:lpstr>
      <vt:lpstr>Tw Cen MT</vt:lpstr>
      <vt:lpstr>Wingdings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Home</dc:creator>
  <cp:lastModifiedBy>Alice Oke</cp:lastModifiedBy>
  <cp:revision>161</cp:revision>
  <dcterms:created xsi:type="dcterms:W3CDTF">2023-10-25T13:01:00Z</dcterms:created>
  <dcterms:modified xsi:type="dcterms:W3CDTF">2024-12-04T06:32:26Z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758DC5E5678E43408584B14A06F44057_12</vt:lpwstr>
  </property>
  <property fmtid="{D5CDD505-2E9C-101B-9397-08002B2CF9AE}" pid="3" name="KSOProductBuildVer">
    <vt:lpwstr>2057-12.2.0.13266</vt:lpwstr>
  </property>
</Properties>
</file>