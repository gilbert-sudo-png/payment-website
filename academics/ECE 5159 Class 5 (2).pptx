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  <p:sldId id="331" r:id="rId3"/>
    <p:sldId id="376" r:id="rId4"/>
    <p:sldId id="377" r:id="rId5"/>
    <p:sldId id="406" r:id="rId6"/>
    <p:sldId id="412" r:id="rId7"/>
    <p:sldId id="413" r:id="rId8"/>
    <p:sldId id="414" r:id="rId9"/>
    <p:sldId id="411" r:id="rId10"/>
    <p:sldId id="415" r:id="rId11"/>
    <p:sldId id="422" r:id="rId12"/>
    <p:sldId id="410" r:id="rId13"/>
    <p:sldId id="408" r:id="rId14"/>
    <p:sldId id="421" r:id="rId15"/>
    <p:sldId id="423" r:id="rId16"/>
    <p:sldId id="426" r:id="rId17"/>
    <p:sldId id="379" r:id="rId18"/>
    <p:sldId id="392" r:id="rId19"/>
    <p:sldId id="393" r:id="rId20"/>
    <p:sldId id="395" r:id="rId21"/>
    <p:sldId id="416" r:id="rId22"/>
    <p:sldId id="417" r:id="rId23"/>
    <p:sldId id="418" r:id="rId24"/>
    <p:sldId id="394" r:id="rId25"/>
    <p:sldId id="419" r:id="rId26"/>
    <p:sldId id="425" r:id="rId27"/>
    <p:sldId id="396" r:id="rId28"/>
    <p:sldId id="42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3T06:41:17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1919 237 24575,'-107'-2'0,"-141"-20"0,163 10 0,-1-4 0,2-3 0,-91-35 0,130 37 0,-142-47 0,155 55 0,0 2 0,-1 1 0,1 2 0,-36 0 0,-519 6 0,581-2 0,-1 0 0,1 1 0,-1-1 0,1 1 0,-1 0 0,1 1 0,-1 0 0,1 0 0,0 0 0,0 1 0,0 0 0,-6 3 0,10-4 0,-1 0 0,1 1 0,0-1 0,-1 1 0,1-1 0,0 1 0,1 0 0,-1-1 0,0 1 0,1 0 0,-1 0 0,1 0 0,0 1 0,0-1 0,0 0 0,1 0 0,-1 1 0,1-1 0,0 0 0,0 1 0,0-1 0,0 0 0,0 0 0,1 1 0,1 5 0,13 56 0,-7-32 0,-1-1 0,2 45 0,10 74 0,0 4 0,-18-34 0,-2-76 0,1 0 0,3-1 0,11 62 0,-4-44 0,-3 0 0,-2 1 0,-6 99 0,5 73 0,-4-231 0,1 0 0,0 0 0,0 0 0,0 0 0,0-1 0,0 1 0,1 0 0,0-1 0,0 1 0,0-1 0,0 0 0,0 1 0,1-1 0,-1 0 0,1 0 0,0-1 0,0 1 0,0-1 0,0 1 0,1-1 0,-1 0 0,1 0 0,-1 0 0,1-1 0,0 1 0,-1-1 0,1 0 0,0 0 0,0 0 0,5 0 0,15 2 0,-1-2 0,1 0 0,0-1 0,25-4 0,-6 1 0,43 2 0,45-2 0,-115 2 0,-1-1 0,1-1 0,0-1 0,-1 0 0,0-1 0,15-7 0,3-1 0,0 1 0,1 2 0,58-11 0,36-9 0,-47 6 0,-34 11 0,0-2 0,44-20 0,-74 28 0,0 0 0,0 2 0,1 0 0,0 1 0,0 1 0,30-2 0,115 7 0,-74 1 0,5-4 0,85 4 0,-169-2 10,-1 1 0,1 0 0,-1 0 0,0 1 0,0 0 0,0 1 0,0 0 0,0 1 0,-1-1 0,0 2 0,14 10 0,-11-6-222,0 1 0,0 0 0,-1 1-1,-1 0 1,0 0 0,12 22 0,-5-3-6614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3T06:41:45.5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1886 1 24575,'-1762'0'0,"1757"0"0,0 0 0,0 0 0,0 0 0,1 1 0,-1 0 0,0 0 0,0 0 0,1 1 0,-1-1 0,1 1 0,-1 0 0,1 1 0,0-1 0,0 1 0,0-1 0,-4 5 0,4-3 0,0 1 0,1-1 0,-1 1 0,1 0 0,0 1 0,1-1 0,-1 0 0,1 1 0,0-1 0,0 1 0,1 0 0,0 0 0,-1 6 0,-3 39 0,3 0 0,7 89 0,0-18 0,-5 1596 0,0-1711 0,0 0 0,0-1 0,0 1 0,1-1 0,0 1 0,1-1 0,-1 0 0,1 1 0,1-1 0,2 7 0,-3-11 0,-1 0 0,1 0 0,0 0 0,0 0 0,0-1 0,0 1 0,0 0 0,0-1 0,0 1 0,1-1 0,-1 0 0,0 0 0,1 0 0,-1 0 0,1 0 0,0 0 0,-1-1 0,1 1 0,-1-1 0,1 0 0,0 0 0,-1 0 0,1 0 0,0 0 0,-1 0 0,1-1 0,3 0 0,10-3 0,0-1 0,0 0 0,0-2 0,0 0 0,-1 0 0,0-1 0,22-17 0,-22 14 0,2 1 0,0 1 0,0 0 0,0 1 0,30-9 0,3 8 0,1 3 0,0 2 0,0 2 0,79 7 0,0 0 0,689-5 0,-803 0 0,-1 1 0,1 1 0,0 1 0,-1 0 0,0 1 0,0 1 0,0 0 0,14 7 0,13 10 0,52 35 0,-75-44 0,-11-9 9,1 1 0,0-1 0,1 0 1,-1-1-1,0 0 0,1 0 0,0-1 0,17 2 0,80-3-649,-78-2-167,5 0-6019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8-23T07:03:48.3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1886 0 24575,'-1762'0'0,"1757"0"0,0 0 0,0 0 0,0 1 0,1-1 0,-1 0 0,0 1 0,0-1 0,1 1 0,-1 0 0,1-1 0,-1 1 0,1 0 0,0 0 0,0 0 0,0 1 0,-4 0 0,4 0 0,0 0 0,1 0 0,-1 0 0,1 0 0,0 0 0,1 1 0,-1-1 0,1 0 0,0 1 0,0-1 0,1 0 0,0 1 0,-1 2 0,-3 17 0,3-1 0,7 39 0,0-9 0,-5 676 0,0-724 0,0-1 0,0 1 0,0 0 0,1 0 0,0-1 0,1 1 0,-1 0 0,1-1 0,1 1 0,2 2 0,-3-4 0,-1 0 0,1 0 0,0 0 0,0 0 0,0-1 0,0 1 0,0 0 0,0-1 0,0 1 0,1 0 0,-1-1 0,0 1 0,1-1 0,-1 0 0,1 1 0,0-1 0,-1 0 0,1 0 0,-1 1 0,1-1 0,0 0 0,-1 0 0,1 0 0,0 0 0,-1-1 0,1 1 0,3 0 0,10-2 0,0 0 0,0 0 0,0-1 0,0 0 0,-1 0 0,0-1 0,22-6 0,-22 5 0,2 1 0,0 0 0,0 0 0,0 1 0,30-4 0,3 3 0,1 2 0,0 0 0,0 1 0,79 3 0,0 0 0,689-2 0,-803 0 0,-1 1 0,1 0 0,0 0 0,-1 0 0,0 1 0,0 0 0,0 0 0,14 3 0,13 4 0,52 16 0,-75-20 0,-11-3 9,1 0 0,0 0 0,1-1 1,-1 1-1,0-1 0,1 0 0,0 0 0,17 0 0,80 0-649,-78-1-167,5-1-6019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64695" y="4738499"/>
            <a:ext cx="913888" cy="118962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/>
          </a:p>
        </p:txBody>
      </p:sp>
      <p:sp>
        <p:nvSpPr>
          <p:cNvPr id="8" name="Title 1"/>
          <p:cNvSpPr>
            <a:spLocks noGrp="1"/>
          </p:cNvSpPr>
          <p:nvPr/>
        </p:nvSpPr>
        <p:spPr>
          <a:xfrm>
            <a:off x="1589405" y="160417"/>
            <a:ext cx="9144000" cy="807781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txBody>
          <a:bodyPr vert="horz" lIns="91440" tIns="45720" rIns="91440" bIns="45720" rtlCol="0" anchor="t">
            <a:no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ECE </a:t>
            </a:r>
            <a:r>
              <a:rPr lang="en-US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5</a:t>
            </a:r>
            <a:r>
              <a:rPr lang="en-US" altLang="en-GB" sz="4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Black" panose="020B0A04020102020204" pitchFamily="34" charset="0"/>
              </a:rPr>
              <a:t>159-Class 5</a:t>
            </a:r>
          </a:p>
        </p:txBody>
      </p:sp>
      <p:sp>
        <p:nvSpPr>
          <p:cNvPr id="9" name="Content Placeholder 2"/>
          <p:cNvSpPr>
            <a:spLocks noGrp="1"/>
          </p:cNvSpPr>
          <p:nvPr/>
        </p:nvSpPr>
        <p:spPr>
          <a:xfrm>
            <a:off x="2564130" y="2010410"/>
            <a:ext cx="7193915" cy="1594485"/>
          </a:xfrm>
          <a:prstGeom prst="rect">
            <a:avLst/>
          </a:prstGeom>
          <a:solidFill>
            <a:schemeClr val="bg1"/>
          </a:solidFill>
          <a:ln w="63500" cmpd="tri">
            <a:solidFill>
              <a:srgbClr val="92D050"/>
            </a:solidFill>
          </a:ln>
        </p:spPr>
        <p:txBody>
          <a:bodyPr vert="horz" lIns="91440" tIns="45720" rIns="91440" bIns="45720" rtlCol="0">
            <a:noAutofit/>
            <a:scene3d>
              <a:camera prst="orthographicFront"/>
              <a:lightRig rig="threePt" dir="t"/>
            </a:scene3d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 </a:t>
            </a:r>
            <a:r>
              <a:rPr 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DIGITAL </a:t>
            </a:r>
            <a:r>
              <a:rPr lang="en-US" altLang="en-GB" sz="5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 DELANEY" panose="02000000000000000000" pitchFamily="2" charset="0"/>
              </a:rPr>
              <a:t>SYSTEM DESIGN WITH VHDL</a:t>
            </a:r>
          </a:p>
        </p:txBody>
      </p:sp>
      <p:sp>
        <p:nvSpPr>
          <p:cNvPr id="10" name="Subtitle 2"/>
          <p:cNvSpPr txBox="1"/>
          <p:nvPr/>
        </p:nvSpPr>
        <p:spPr>
          <a:xfrm>
            <a:off x="4079040" y="4773100"/>
            <a:ext cx="5097097" cy="14907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GB" sz="3200" dirty="0">
                <a:solidFill>
                  <a:schemeClr val="tx2"/>
                </a:solidFill>
                <a:latin typeface="Arial Black" panose="020B0A04020102020204" pitchFamily="34" charset="0"/>
              </a:rPr>
              <a:t>Engr. Professor  Alice </a:t>
            </a:r>
            <a:r>
              <a:rPr lang="en-GB" sz="3200" dirty="0" err="1">
                <a:solidFill>
                  <a:schemeClr val="tx2"/>
                </a:solidFill>
                <a:latin typeface="Arial Black" panose="020B0A04020102020204" pitchFamily="34" charset="0"/>
              </a:rPr>
              <a:t>Oluwafunke</a:t>
            </a:r>
            <a:r>
              <a:rPr lang="en-GB" sz="3200" dirty="0">
                <a:solidFill>
                  <a:schemeClr val="tx2"/>
                </a:solidFill>
                <a:latin typeface="Arial Black" panose="020B0A04020102020204" pitchFamily="34" charset="0"/>
              </a:rPr>
              <a:t> </a:t>
            </a:r>
            <a:r>
              <a:rPr lang="en-GB" sz="3200" dirty="0" err="1">
                <a:solidFill>
                  <a:schemeClr val="tx2"/>
                </a:solidFill>
                <a:latin typeface="Arial Black" panose="020B0A04020102020204" pitchFamily="34" charset="0"/>
              </a:rPr>
              <a:t>Oke</a:t>
            </a:r>
            <a:endParaRPr lang="en-GB" sz="3200" dirty="0">
              <a:solidFill>
                <a:schemeClr val="tx2"/>
              </a:solidFill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GB" sz="2000" dirty="0">
                <a:solidFill>
                  <a:schemeClr val="tx2"/>
                </a:solidFill>
                <a:latin typeface="Arial Narrow" panose="020B0606020202030204" pitchFamily="34" charset="0"/>
              </a:rPr>
              <a:t>Department of Computer Engineering, ACU, Oyo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454855" y="626966"/>
            <a:ext cx="12448735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VHDL entity defined in one source code file can be used as a subcircuit in another source code file.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VHDL, subcircuit is called a component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subcircuit must be declared using a component declaration</a:t>
            </a:r>
          </a:p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 </a:t>
            </a:r>
            <a:r>
              <a:rPr lang="en-US" sz="3600" b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endParaRPr lang="en-US" sz="3600" b="1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    PORT (Cin, x, y : IN STD_LOGIC;</a:t>
            </a:r>
          </a:p>
          <a:p>
            <a:r>
              <a:rPr lang="en-US" sz="3600" b="1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s, </a:t>
            </a:r>
            <a:r>
              <a:rPr lang="en-US" sz="3600" b="1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36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	OUT STD_LOGIC); 			     </a:t>
            </a:r>
          </a:p>
          <a:p>
            <a:r>
              <a:rPr lang="en-US" sz="3600" b="1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END COMPONENT ; </a:t>
            </a:r>
          </a:p>
          <a:p>
            <a:pPr marL="630555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3352800" y="0"/>
            <a:ext cx="57683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40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USING SUBCIRCUITS</a:t>
            </a:r>
          </a:p>
        </p:txBody>
      </p:sp>
    </p:spTree>
    <p:extLst>
      <p:ext uri="{BB962C8B-B14F-4D97-AF65-F5344CB8AC3E}">
        <p14:creationId xmlns:p14="http://schemas.microsoft.com/office/powerpoint/2010/main" val="1363674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584395" y="1343246"/>
            <a:ext cx="1244873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36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36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36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r>
              <a:rPr lang="en-US" sz="3600" b="1" dirty="0">
                <a:solidFill>
                  <a:srgbClr val="00B0F0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6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COMPONENT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         PORT (Cin, x, y : IN STD_LOGIC;</a:t>
            </a:r>
          </a:p>
          <a:p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      s,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	OUT STD_LOGIC); 			     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END COMPONENT ;</a:t>
            </a:r>
          </a:p>
          <a:p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6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package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pPr marL="630555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051560" y="266700"/>
            <a:ext cx="1055370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DECLARING A COMPONENT IN A PACKAGE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154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470095" y="836375"/>
            <a:ext cx="1244873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Concurrent assignment statement is used to assign a value to a signal in an architecture body. E.g.</a:t>
            </a:r>
          </a:p>
          <a:p>
            <a:pPr marL="630555"/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/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s &lt;= x XOR y XOR Cin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endParaRPr lang="en-US" sz="36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provides four different types of concurrent assignment statements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234440" y="12501"/>
            <a:ext cx="972312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CONCURRENT ASS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IGNMENT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D3C2E-D599-9902-443F-66B1219F8337}"/>
              </a:ext>
            </a:extLst>
          </p:cNvPr>
          <p:cNvSpPr txBox="1"/>
          <p:nvPr/>
        </p:nvSpPr>
        <p:spPr>
          <a:xfrm>
            <a:off x="63305" y="4650326"/>
            <a:ext cx="86768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signal assignment</a:t>
            </a: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 signal assignment</a:t>
            </a: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Conditional </a:t>
            </a: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 assignment</a:t>
            </a: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statements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932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507023" y="675441"/>
            <a:ext cx="12448735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3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30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30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30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 sz="3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 (Cin, x, y : IN STD_LOGIC;</a:t>
            </a:r>
          </a:p>
          <a:p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s, </a:t>
            </a:r>
            <a:r>
              <a:rPr lang="en-US" sz="3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OUT STD_LOGIC); 			     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              END </a:t>
            </a:r>
            <a:r>
              <a:rPr lang="en-US" sz="3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lang="en-US" sz="3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3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30555"/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</a:p>
          <a:p>
            <a:pPr marL="630555"/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s &lt;= x XOR y XOR Cin ;</a:t>
            </a:r>
          </a:p>
          <a:p>
            <a:pPr marL="630555"/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	</a:t>
            </a:r>
            <a:r>
              <a:rPr lang="en-US" sz="3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Cout &lt;= (x AND y) OR (x AND Cin) OR (y AND Cin);</a:t>
            </a:r>
          </a:p>
          <a:p>
            <a:pPr marL="630555"/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END </a:t>
            </a:r>
            <a:r>
              <a:rPr lang="en-US" sz="3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3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3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2282483" y="0"/>
            <a:ext cx="5975252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CODE FOR A FULL ADDER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95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197533" y="711371"/>
            <a:ext cx="124487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/>
            <a:r>
              <a:rPr lang="en-US" sz="3200" b="1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Simple Signal assignment 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EXAMPLE OF CONCURRENT ASS</a:t>
            </a:r>
            <a:r>
              <a:rPr lang="en-US" sz="28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IGNMENT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CA65CF-9F83-AF76-1553-0FFC8C898BC6}"/>
              </a:ext>
            </a:extLst>
          </p:cNvPr>
          <p:cNvSpPr txBox="1"/>
          <p:nvPr/>
        </p:nvSpPr>
        <p:spPr>
          <a:xfrm>
            <a:off x="-507023" y="1449162"/>
            <a:ext cx="1244873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4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24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24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4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 sz="24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 (Cin, x, y : IN STD_LOGIC;</a:t>
            </a: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s, </a:t>
            </a:r>
            <a:r>
              <a:rPr lang="en-US" sz="24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OUT STD_LOGIC); 			     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              </a:t>
            </a: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END </a:t>
            </a:r>
            <a:r>
              <a:rPr lang="en-US" sz="24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lang="en-US" sz="24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4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30555"/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</a:p>
          <a:p>
            <a:pPr marL="630555"/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s &lt;= x XOR y XOR Cin;</a:t>
            </a:r>
          </a:p>
          <a:p>
            <a:pPr marL="630555"/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	</a:t>
            </a:r>
            <a:r>
              <a:rPr lang="en-US" sz="2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Cout &lt;= (x AND y) OR (x AND Cin) OR (y AND Cin);</a:t>
            </a:r>
          </a:p>
          <a:p>
            <a:pPr marL="630555"/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END </a:t>
            </a:r>
            <a:r>
              <a:rPr lang="en-US" sz="24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2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24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D26B13B-55B4-12CD-375A-CA7909220DDD}"/>
                  </a:ext>
                </a:extLst>
              </p14:cNvPr>
              <p14:cNvContentPartPr/>
              <p14:nvPr/>
            </p14:nvContentPartPr>
            <p14:xfrm>
              <a:off x="954914" y="5231880"/>
              <a:ext cx="798120" cy="595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D26B13B-55B4-12CD-375A-CA7909220DD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7274" y="5214240"/>
                <a:ext cx="833760" cy="63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887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7B492-B31F-0EA2-5F6B-03C6FF2E0F8D}"/>
              </a:ext>
            </a:extLst>
          </p:cNvPr>
          <p:cNvSpPr txBox="1"/>
          <p:nvPr/>
        </p:nvSpPr>
        <p:spPr>
          <a:xfrm>
            <a:off x="-456028" y="558356"/>
            <a:ext cx="1244873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 Signal assignment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Selected signal assignment allows a signal to be assigned one of several values based on a selection criterion.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a multiplexer: a combinational circuit that selects one of n input lines and provides it on the output with the block diagram and Truth Table as shown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BB6DE-02D2-3526-CEF6-0E9693C818DB}"/>
              </a:ext>
            </a:extLst>
          </p:cNvPr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CONCURRENT ASSIGNMENT STATEMENTS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CBEE8-08C3-7779-63E3-8137956AA1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5" t="36354" r="22557" b="50050"/>
          <a:stretch/>
        </p:blipFill>
        <p:spPr bwMode="auto">
          <a:xfrm>
            <a:off x="505291" y="4624547"/>
            <a:ext cx="4674356" cy="17762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80CF50-FF46-3B7A-5396-89A7E82B7FA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20" t="54955" r="26833" b="9419"/>
          <a:stretch/>
        </p:blipFill>
        <p:spPr bwMode="auto">
          <a:xfrm>
            <a:off x="6696416" y="3024556"/>
            <a:ext cx="4187193" cy="3770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9349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456028" y="751580"/>
            <a:ext cx="124487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Selected Signal assignment for the multiplexer is as shown: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CONCURRENT ASSIGNMENT STATEMENTS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B927A2-DBC0-E17F-9E2C-A46E496C6F98}"/>
              </a:ext>
            </a:extLst>
          </p:cNvPr>
          <p:cNvSpPr txBox="1"/>
          <p:nvPr/>
        </p:nvSpPr>
        <p:spPr>
          <a:xfrm>
            <a:off x="-610775" y="2013407"/>
            <a:ext cx="1244873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2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2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Z           : OUT STD_LOGIC); 			                   	         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WITH s SELECT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Z &lt;= d</a:t>
            </a:r>
            <a:r>
              <a:rPr kumimoji="0" 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‘0’;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d</a:t>
            </a:r>
            <a:r>
              <a:rPr kumimoji="0" lang="en-US" sz="22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OTHERS;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2BEE6E8-BACD-D8CF-5C7B-E63AA86051F8}"/>
                  </a:ext>
                </a:extLst>
              </p14:cNvPr>
              <p14:cNvContentPartPr/>
              <p14:nvPr/>
            </p14:nvContentPartPr>
            <p14:xfrm>
              <a:off x="1107446" y="5556131"/>
              <a:ext cx="803520" cy="831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2BEE6E8-BACD-D8CF-5C7B-E63AA86051F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89446" y="5538491"/>
                <a:ext cx="839160" cy="86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781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7B492-B31F-0EA2-5F6B-03C6FF2E0F8D}"/>
              </a:ext>
            </a:extLst>
          </p:cNvPr>
          <p:cNvSpPr txBox="1"/>
          <p:nvPr/>
        </p:nvSpPr>
        <p:spPr>
          <a:xfrm>
            <a:off x="-456028" y="751580"/>
            <a:ext cx="124487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Conditional Signal assignment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Conditional signal assignment is similar to selected signal assignment. </a:t>
            </a:r>
            <a:r>
              <a:rPr lang="en-US" sz="2400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allows a signal to be set to one of several values. An example using the mux2to1 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BB6DE-02D2-3526-CEF6-0E9693C818DB}"/>
              </a:ext>
            </a:extLst>
          </p:cNvPr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CONCURRENT ASSIGNMENT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1E11D0-98BC-6F4A-9C3F-5524D86B1BAD}"/>
              </a:ext>
            </a:extLst>
          </p:cNvPr>
          <p:cNvSpPr txBox="1"/>
          <p:nvPr/>
        </p:nvSpPr>
        <p:spPr>
          <a:xfrm>
            <a:off x="-582639" y="2268243"/>
            <a:ext cx="124487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4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Z           : OUT STD_LOGIC); 			                   	         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Z &lt;=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WHEN s = ‘0’ ELSE d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154CCCF-67E4-FC15-1BB5-23C28FBA8B6C}"/>
                  </a:ext>
                </a:extLst>
              </p14:cNvPr>
              <p14:cNvContentPartPr/>
              <p14:nvPr/>
            </p14:nvContentPartPr>
            <p14:xfrm>
              <a:off x="1149650" y="5950637"/>
              <a:ext cx="803520" cy="351689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154CCCF-67E4-FC15-1BB5-23C28FBA8B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1650" y="5932657"/>
                <a:ext cx="839160" cy="38728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32820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7B492-B31F-0EA2-5F6B-03C6FF2E0F8D}"/>
              </a:ext>
            </a:extLst>
          </p:cNvPr>
          <p:cNvSpPr txBox="1"/>
          <p:nvPr/>
        </p:nvSpPr>
        <p:spPr>
          <a:xfrm>
            <a:off x="-456028" y="670900"/>
            <a:ext cx="1244873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Statement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Generate statement is often used to describe regularly structured hierarchical code.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example of such circuit is a 16-to-1 multiplexer using five instances of a 4-to-1 multiplexer subcircuit or a 4-bit ripple-carry adder using four instances of full adder.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structure of a regular code for a 16-to-1 multiplexer can be written in a more compact form using a loop.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provides a feature called the FOR GENERATE statement for describing such regularly structured hierarchical code.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BB6DE-02D2-3526-CEF6-0E9693C818DB}"/>
              </a:ext>
            </a:extLst>
          </p:cNvPr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CONCURRENT ASSIGNMENT STATEMENTS</a:t>
            </a:r>
          </a:p>
        </p:txBody>
      </p:sp>
    </p:spTree>
    <p:extLst>
      <p:ext uri="{BB962C8B-B14F-4D97-AF65-F5344CB8AC3E}">
        <p14:creationId xmlns:p14="http://schemas.microsoft.com/office/powerpoint/2010/main" val="11122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426E7-404E-0A2C-DFE0-B7DA0E1DC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FD4861-7EDD-CE15-CB40-E3D49945F3E2}"/>
              </a:ext>
            </a:extLst>
          </p:cNvPr>
          <p:cNvSpPr txBox="1"/>
          <p:nvPr/>
        </p:nvSpPr>
        <p:spPr>
          <a:xfrm>
            <a:off x="-507022" y="1097481"/>
            <a:ext cx="11522026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8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28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28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8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</a:t>
            </a:r>
            <a:r>
              <a:rPr lang="en-US" sz="28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 (Cin, x, y : IN STD_LOGIC;</a:t>
            </a:r>
          </a:p>
          <a:p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s, </a:t>
            </a:r>
            <a:r>
              <a:rPr lang="en-US" sz="28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OUT STD_LOGIC); 			     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              END </a:t>
            </a:r>
            <a:r>
              <a:rPr lang="en-US" sz="28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lang="en-US" sz="28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sz="28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630555"/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</a:p>
          <a:p>
            <a:pPr marL="630555"/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s &lt;= x XOR y XOR Cin ;</a:t>
            </a:r>
          </a:p>
          <a:p>
            <a:pPr marL="630555"/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	</a:t>
            </a:r>
            <a:r>
              <a:rPr lang="en-US" sz="28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Cout &lt;= (x AND y) OR (x AND Cin) OR (y AND Cin);</a:t>
            </a:r>
          </a:p>
          <a:p>
            <a:pPr marL="630555"/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END </a:t>
            </a:r>
            <a:r>
              <a:rPr lang="en-US" sz="28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Logicfunc</a:t>
            </a:r>
            <a:r>
              <a:rPr lang="en-US" sz="28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28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2448F-AFEA-235F-2123-078741574DF5}"/>
              </a:ext>
            </a:extLst>
          </p:cNvPr>
          <p:cNvSpPr txBox="1"/>
          <p:nvPr/>
        </p:nvSpPr>
        <p:spPr>
          <a:xfrm>
            <a:off x="1234440" y="12501"/>
            <a:ext cx="1046988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N-RIPPLY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CIRCUIT AND CODE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D14FA8-618A-9900-7475-B237E941A82F}"/>
              </a:ext>
            </a:extLst>
          </p:cNvPr>
          <p:cNvSpPr txBox="1"/>
          <p:nvPr/>
        </p:nvSpPr>
        <p:spPr>
          <a:xfrm>
            <a:off x="516987" y="638288"/>
            <a:ext cx="64324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Consider this 3-input full adder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31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24ED51-7685-B436-D12F-BE1B629F1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16" t="42458" r="23846" b="19780"/>
          <a:stretch>
            <a:fillRect/>
          </a:stretch>
        </p:blipFill>
        <p:spPr>
          <a:xfrm>
            <a:off x="182880" y="2089398"/>
            <a:ext cx="8396041" cy="44520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87F4C6-6327-1277-B621-BAE07DBEBBBD}"/>
              </a:ext>
            </a:extLst>
          </p:cNvPr>
          <p:cNvSpPr txBox="1"/>
          <p:nvPr/>
        </p:nvSpPr>
        <p:spPr>
          <a:xfrm>
            <a:off x="-228602" y="1594897"/>
            <a:ext cx="68122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circuit for the 3-input full adder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88E7A4-D032-135A-20F4-E4CB5B4DCE56}"/>
              </a:ext>
            </a:extLst>
          </p:cNvPr>
          <p:cNvSpPr txBox="1"/>
          <p:nvPr/>
        </p:nvSpPr>
        <p:spPr>
          <a:xfrm>
            <a:off x="7818121" y="1935890"/>
            <a:ext cx="6098344" cy="1963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I+1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endParaRPr lang="en-GB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= 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= g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p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g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and p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(X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+ Y</a:t>
            </a:r>
            <a:r>
              <a:rPr lang="en-US" sz="2400" kern="100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958F9-6076-2BB6-DA31-29CD314233FB}"/>
              </a:ext>
            </a:extLst>
          </p:cNvPr>
          <p:cNvSpPr txBox="1"/>
          <p:nvPr/>
        </p:nvSpPr>
        <p:spPr>
          <a:xfrm>
            <a:off x="7675101" y="1483680"/>
            <a:ext cx="33539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Analysis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28E473-C546-147A-E59F-8EAAD8890C44}"/>
              </a:ext>
            </a:extLst>
          </p:cNvPr>
          <p:cNvSpPr txBox="1"/>
          <p:nvPr/>
        </p:nvSpPr>
        <p:spPr>
          <a:xfrm>
            <a:off x="1234440" y="68764"/>
            <a:ext cx="10469880" cy="1109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 CIRCUIT 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defRPr/>
            </a:pP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                                  AND 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809341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8CC653-E237-E4C1-5859-2CA0514DB1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115" t="50000" r="31923" b="21217"/>
          <a:stretch>
            <a:fillRect/>
          </a:stretch>
        </p:blipFill>
        <p:spPr>
          <a:xfrm>
            <a:off x="751029" y="2025751"/>
            <a:ext cx="10860453" cy="42906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E02350-B5C6-4C51-532A-91FCF59308E5}"/>
              </a:ext>
            </a:extLst>
          </p:cNvPr>
          <p:cNvSpPr txBox="1"/>
          <p:nvPr/>
        </p:nvSpPr>
        <p:spPr>
          <a:xfrm>
            <a:off x="516987" y="1538629"/>
            <a:ext cx="10469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symbol of an n-bit ripple-carry full adder is presented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8FBD18-8DB6-E9E1-B250-0475E9B76C24}"/>
              </a:ext>
            </a:extLst>
          </p:cNvPr>
          <p:cNvSpPr txBox="1"/>
          <p:nvPr/>
        </p:nvSpPr>
        <p:spPr>
          <a:xfrm>
            <a:off x="1079695" y="12501"/>
            <a:ext cx="918972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CIRCUIT </a:t>
            </a:r>
          </a:p>
        </p:txBody>
      </p:sp>
    </p:spTree>
    <p:extLst>
      <p:ext uri="{BB962C8B-B14F-4D97-AF65-F5344CB8AC3E}">
        <p14:creationId xmlns:p14="http://schemas.microsoft.com/office/powerpoint/2010/main" val="545371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69B3898-D7C1-37E4-E78C-10480D10E0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08" t="41564" r="34692" b="16086"/>
          <a:stretch>
            <a:fillRect/>
          </a:stretch>
        </p:blipFill>
        <p:spPr>
          <a:xfrm>
            <a:off x="72870" y="1682101"/>
            <a:ext cx="5803912" cy="40055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EEE44F-2CDD-7B7C-19F5-C815550573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77" t="36917" r="34231" b="21627"/>
          <a:stretch>
            <a:fillRect/>
          </a:stretch>
        </p:blipFill>
        <p:spPr>
          <a:xfrm>
            <a:off x="5820509" y="1344628"/>
            <a:ext cx="6305842" cy="4005595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F017D3-46BF-B52A-1D8E-B1F9DCAD40C6}"/>
              </a:ext>
            </a:extLst>
          </p:cNvPr>
          <p:cNvCxnSpPr/>
          <p:nvPr/>
        </p:nvCxnSpPr>
        <p:spPr>
          <a:xfrm>
            <a:off x="5669280" y="3471204"/>
            <a:ext cx="4267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619F58-DEFF-8BA7-A883-0F326628E84F}"/>
              </a:ext>
            </a:extLst>
          </p:cNvPr>
          <p:cNvSpPr txBox="1"/>
          <p:nvPr/>
        </p:nvSpPr>
        <p:spPr>
          <a:xfrm>
            <a:off x="1961272" y="5639985"/>
            <a:ext cx="59588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4-bit ripple-carry full adder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6BC15-A12B-DD17-287C-F43EB6FC524D}"/>
              </a:ext>
            </a:extLst>
          </p:cNvPr>
          <p:cNvSpPr txBox="1"/>
          <p:nvPr/>
        </p:nvSpPr>
        <p:spPr>
          <a:xfrm>
            <a:off x="1079695" y="12501"/>
            <a:ext cx="918972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CIRCUIT </a:t>
            </a:r>
          </a:p>
        </p:txBody>
      </p:sp>
    </p:spTree>
    <p:extLst>
      <p:ext uri="{BB962C8B-B14F-4D97-AF65-F5344CB8AC3E}">
        <p14:creationId xmlns:p14="http://schemas.microsoft.com/office/powerpoint/2010/main" val="1823336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175B1-2F60-451A-7C3A-819FE465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E5FFD5-4FD7-4141-D173-D872E4874460}"/>
              </a:ext>
            </a:extLst>
          </p:cNvPr>
          <p:cNvSpPr txBox="1"/>
          <p:nvPr/>
        </p:nvSpPr>
        <p:spPr>
          <a:xfrm>
            <a:off x="516987" y="582016"/>
            <a:ext cx="98790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lvl="0">
              <a:defRPr/>
            </a:pPr>
            <a:r>
              <a:rPr lang="en-US" sz="28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VHDL code for a 4-bit ripple-carry full adder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77D99-5238-6BBB-3FB3-EE7EC6BD53CB}"/>
              </a:ext>
            </a:extLst>
          </p:cNvPr>
          <p:cNvSpPr txBox="1"/>
          <p:nvPr/>
        </p:nvSpPr>
        <p:spPr>
          <a:xfrm>
            <a:off x="-507023" y="1030420"/>
            <a:ext cx="12448735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lang="en-US" sz="20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US" sz="20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lang="en-US" sz="2000" spc="-45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000" spc="-45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adder4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 (Cin                     : IN STD_LOGIC;</a:t>
            </a: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x3, x2, x1, x0   : IN STD_LOGIC;</a:t>
            </a:r>
          </a:p>
          <a:p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y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 y2, y1, y0   : IN STD_LOGIC;</a:t>
            </a:r>
          </a:p>
          <a:p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s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3, s2, s1, s0    : IN STD_LOGIC;</a:t>
            </a:r>
            <a:endParaRPr lang="en-US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Cout                  : OUT STD_LOGIC); 			     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	              </a:t>
            </a: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END adder4 ;</a:t>
            </a: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Structure OF </a:t>
            </a:r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adder4 IS</a:t>
            </a: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SIGNAL c1, c2, c3 : STD_LOGIC;</a:t>
            </a: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			COMPONENT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endParaRPr lang="en-US" sz="20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    PORT (Cin  x, y             : IN STD_LOGIC;</a:t>
            </a: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         s, Cout              : OUT STD_LOGIC); 	</a:t>
            </a: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        END COMPONENT; </a:t>
            </a: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 BEGIN</a:t>
            </a:r>
          </a:p>
          <a:p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      stage0: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MAP (Cin, x0, y0, s0, c1);</a:t>
            </a:r>
          </a:p>
          <a:p>
            <a:pPr marL="630555"/>
            <a:r>
              <a:rPr lang="en-US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			</a:t>
            </a:r>
            <a:endParaRPr lang="en-US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EA7C6-9612-3AEC-E6D5-C0172541E234}"/>
              </a:ext>
            </a:extLst>
          </p:cNvPr>
          <p:cNvSpPr txBox="1"/>
          <p:nvPr/>
        </p:nvSpPr>
        <p:spPr>
          <a:xfrm>
            <a:off x="1079695" y="12501"/>
            <a:ext cx="9189720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CODE </a:t>
            </a:r>
          </a:p>
        </p:txBody>
      </p:sp>
    </p:spTree>
    <p:extLst>
      <p:ext uri="{BB962C8B-B14F-4D97-AF65-F5344CB8AC3E}">
        <p14:creationId xmlns:p14="http://schemas.microsoft.com/office/powerpoint/2010/main" val="3832532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14708-0BA0-74A1-BAD2-23A312A55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443835-3B98-E933-E000-8AFC4B8B2A33}"/>
              </a:ext>
            </a:extLst>
          </p:cNvPr>
          <p:cNvSpPr txBox="1"/>
          <p:nvPr/>
        </p:nvSpPr>
        <p:spPr>
          <a:xfrm>
            <a:off x="-507023" y="1424324"/>
            <a:ext cx="124487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	 stage1: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MAP (Cin, x1, y1, s1, c2);</a:t>
            </a:r>
          </a:p>
          <a:p>
            <a:pPr marL="630555"/>
            <a:r>
              <a:rPr lang="en-US" sz="20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stage2: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MAP (Cin, x2, y2, s2, c3);   </a:t>
            </a: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	        stage3: </a:t>
            </a:r>
            <a:r>
              <a:rPr lang="en-US" sz="20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fulladd</a:t>
            </a:r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 MAP (</a:t>
            </a: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Cin =&gt; c3, Cout =&gt; Cout, x =&gt; x3, y =&gt; y3, s =&gt; s3);</a:t>
            </a:r>
          </a:p>
          <a:p>
            <a:pPr marL="630555"/>
            <a:r>
              <a:rPr lang="en-US" sz="20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END Structure ;</a:t>
            </a:r>
            <a:endParaRPr lang="en-US" sz="20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C84B6-3083-F614-E477-2DF07C1C5804}"/>
              </a:ext>
            </a:extLst>
          </p:cNvPr>
          <p:cNvSpPr txBox="1"/>
          <p:nvPr/>
        </p:nvSpPr>
        <p:spPr>
          <a:xfrm>
            <a:off x="1079694" y="12501"/>
            <a:ext cx="9822767" cy="545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</a:t>
            </a:r>
            <a:r>
              <a:rPr lang="en-US" sz="28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N-BIT RIPPLE CARRY ADDER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CODE </a:t>
            </a:r>
            <a:r>
              <a:rPr kumimoji="0" lang="en-US" sz="2800" b="1" i="0" u="none" strike="noStrike" kern="1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Contd</a:t>
            </a: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6112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477715" y="703541"/>
            <a:ext cx="1244873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4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nother type of </a:t>
            </a: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assignment statement provided by VHDL is </a:t>
            </a:r>
            <a:r>
              <a:rPr lang="en-US" sz="3400" kern="100" dirty="0">
                <a:latin typeface="Nunito" pitchFamily="2" charset="0"/>
                <a:cs typeface="Times New Roman" panose="02020603050405020304" pitchFamily="18" charset="0"/>
              </a:rPr>
              <a:t>sequential</a:t>
            </a:r>
            <a:r>
              <a:rPr lang="en-US" sz="3400" kern="100" dirty="0">
                <a:effectLst/>
                <a:latin typeface="Nunito" pitchFamily="2" charset="0"/>
                <a:cs typeface="Times New Roman" panose="02020603050405020304" pitchFamily="18" charset="0"/>
              </a:rPr>
              <a:t> assignment statements, the order of the statements in the code are executed sequentially. The order is significant in Sequential but not in Concurrent assignment statements.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400" kern="100" dirty="0">
                <a:effectLst/>
                <a:latin typeface="Nunito" pitchFamily="2" charset="0"/>
                <a:cs typeface="Times New Roman" panose="02020603050405020304" pitchFamily="18" charset="0"/>
              </a:rPr>
              <a:t>The semantics of the code can be affected if done otherwise</a:t>
            </a:r>
          </a:p>
          <a:p>
            <a:pPr marL="1202055" indent="-571500">
              <a:buFont typeface="Wingdings" panose="05000000000000000000" pitchFamily="2" charset="2"/>
              <a:buChar char="Ø"/>
            </a:pPr>
            <a:r>
              <a:rPr lang="en-US" sz="34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three variants of the sequential assignment statements are:</a:t>
            </a:r>
            <a:endParaRPr lang="en-US" sz="3400" dirty="0">
              <a:solidFill>
                <a:srgbClr val="FF0000"/>
              </a:solidFill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744980" y="65841"/>
            <a:ext cx="95478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SEQUENTIAL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 ASSIGNMENT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D3C2E-D599-9902-443F-66B1219F8337}"/>
              </a:ext>
            </a:extLst>
          </p:cNvPr>
          <p:cNvSpPr txBox="1"/>
          <p:nvPr/>
        </p:nvSpPr>
        <p:spPr>
          <a:xfrm>
            <a:off x="2910693" y="5166896"/>
            <a:ext cx="567191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statement</a:t>
            </a: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 </a:t>
            </a:r>
          </a:p>
          <a:p>
            <a:pPr marL="1202055" indent="-571500">
              <a:buFont typeface="Arial" panose="020B0604020202020204" pitchFamily="34" charset="0"/>
              <a:buChar char="•"/>
            </a:pPr>
            <a:r>
              <a:rPr lang="en-US" sz="36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 </a:t>
            </a:r>
            <a:r>
              <a:rPr lang="en-US" sz="36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US" sz="36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9634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58615" y="886421"/>
            <a:ext cx="1244873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38480" marR="29845" indent="-457200"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PROCESS statement is used to separate sequ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ntial 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emen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ts 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concurrent 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s.</a:t>
            </a:r>
          </a:p>
          <a:p>
            <a:pPr marL="81280" marR="29845"/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38480" marR="29845" indent="-457200"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appears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inside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US" sz="3200" spc="10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body and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encloses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 s</a:t>
            </a:r>
            <a:r>
              <a:rPr lang="en-US" sz="3200" spc="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tate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n-US" sz="3200" spc="1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t.  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1280" marR="29845"/>
            <a:endParaRPr lang="en-US" sz="3200" spc="1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marR="29845" indent="-457200">
              <a:buFont typeface="Wingdings" panose="05000000000000000000" pitchFamily="2" charset="2"/>
              <a:buChar char="Ø"/>
            </a:pP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spc="1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IF,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ents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appear</a:t>
            </a:r>
            <a:r>
              <a:rPr lang="en-US" sz="3200" spc="7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3200" spc="1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en-US" sz="3200" spc="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5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ESS.</a:t>
            </a:r>
          </a:p>
          <a:p>
            <a:pPr marL="538480" marR="29845" indent="-457200">
              <a:buFont typeface="Wingdings" panose="05000000000000000000" pitchFamily="2" charset="2"/>
              <a:buChar char="Ø"/>
            </a:pP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38480" marR="29845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general form of these statements are: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3032760" y="65841"/>
            <a:ext cx="538734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PROCESS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808619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58615" y="909281"/>
            <a:ext cx="1244873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0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sz="3200" spc="2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-5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200" spc="-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spc="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{,</a:t>
            </a:r>
            <a:r>
              <a:rPr lang="en-US" sz="3200" spc="-8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ignal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name}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)] </a:t>
            </a:r>
          </a:p>
          <a:p>
            <a:pPr marL="899160" marR="659130" indent="-15811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[VARIABLE </a:t>
            </a:r>
            <a:r>
              <a:rPr lang="en-US" sz="3200" spc="5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declarati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3200" spc="5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422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744220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[W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3200" spc="3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[Sim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spc="-8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US" sz="3200" spc="-7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  <a:r>
              <a:rPr lang="en-US" sz="3200" spc="-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nts] </a:t>
            </a: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[Variable </a:t>
            </a:r>
            <a:r>
              <a:rPr lang="en-US" sz="3200" spc="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spc="-2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signment 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Statements] </a:t>
            </a: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[I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Statements]</a:t>
            </a:r>
            <a:endParaRPr lang="en-GB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[CASE </a:t>
            </a:r>
            <a:r>
              <a:rPr lang="en-US" sz="3200" spc="1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effectLst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    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[LOOP 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</a:t>
            </a:r>
            <a:r>
              <a:rPr lang="en-US" sz="3200" spc="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057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n-US" sz="3200" spc="4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</a:t>
            </a:r>
            <a:r>
              <a:rPr lang="en-US" sz="3200" spc="-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spc="-4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_labe</a:t>
            </a:r>
            <a:r>
              <a:rPr lang="en-US" sz="3200" spc="4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539240" y="88701"/>
            <a:ext cx="93954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General Form of a PROCESS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1639687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-58615" y="909281"/>
            <a:ext cx="599459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expression THEN</a:t>
            </a:r>
          </a:p>
          <a:p>
            <a:pPr marL="899160" marR="659130" indent="-158115"/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ELSIF</a:t>
            </a:r>
            <a:endParaRPr lang="en-US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</a:p>
          <a:p>
            <a:pPr marL="75057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ENDIF;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539240" y="88701"/>
            <a:ext cx="93954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General Form of an IF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8CA1D-1C3F-4072-6CCB-7425C0A34018}"/>
              </a:ext>
            </a:extLst>
          </p:cNvPr>
          <p:cNvSpPr txBox="1"/>
          <p:nvPr/>
        </p:nvSpPr>
        <p:spPr>
          <a:xfrm>
            <a:off x="5869745" y="931961"/>
            <a:ext cx="599459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E.g. </a:t>
            </a:r>
          </a:p>
          <a:p>
            <a:pPr marL="899160" marR="659130" indent="-158115"/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‘0’ THEN</a:t>
            </a:r>
          </a:p>
          <a:p>
            <a:pPr marL="899160" marR="659130" indent="-158115"/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F &lt;= x1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spc="-2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&lt;= x2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en-GB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ENDIF;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5827E0E-1313-4495-9265-023C82B78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113169"/>
              </p:ext>
            </p:extLst>
          </p:nvPr>
        </p:nvGraphicFramePr>
        <p:xfrm>
          <a:off x="8665697" y="4540734"/>
          <a:ext cx="354037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197">
                  <a:extLst>
                    <a:ext uri="{9D8B030D-6E8A-4147-A177-3AD203B41FA5}">
                      <a16:colId xmlns:a16="http://schemas.microsoft.com/office/drawing/2014/main" val="1015895340"/>
                    </a:ext>
                  </a:extLst>
                </a:gridCol>
                <a:gridCol w="689317">
                  <a:extLst>
                    <a:ext uri="{9D8B030D-6E8A-4147-A177-3AD203B41FA5}">
                      <a16:colId xmlns:a16="http://schemas.microsoft.com/office/drawing/2014/main" val="824159287"/>
                    </a:ext>
                  </a:extLst>
                </a:gridCol>
                <a:gridCol w="618979">
                  <a:extLst>
                    <a:ext uri="{9D8B030D-6E8A-4147-A177-3AD203B41FA5}">
                      <a16:colId xmlns:a16="http://schemas.microsoft.com/office/drawing/2014/main" val="2917254224"/>
                    </a:ext>
                  </a:extLst>
                </a:gridCol>
                <a:gridCol w="1359877">
                  <a:extLst>
                    <a:ext uri="{9D8B030D-6E8A-4147-A177-3AD203B41FA5}">
                      <a16:colId xmlns:a16="http://schemas.microsoft.com/office/drawing/2014/main" val="168634172"/>
                    </a:ext>
                  </a:extLst>
                </a:gridCol>
              </a:tblGrid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SEL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X1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X2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F=MUL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437475"/>
                  </a:ext>
                </a:extLst>
              </a:tr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535294"/>
                  </a:ext>
                </a:extLst>
              </a:tr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333289"/>
                  </a:ext>
                </a:extLst>
              </a:tr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0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7059428"/>
                  </a:ext>
                </a:extLst>
              </a:tr>
              <a:tr h="373424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  <a:latin typeface="Nunito" pitchFamily="2" charset="0"/>
                        </a:rPr>
                        <a:t>1</a:t>
                      </a:r>
                      <a:endParaRPr lang="en-GB" sz="2400" dirty="0">
                        <a:solidFill>
                          <a:schemeClr val="tx1"/>
                        </a:solidFill>
                        <a:latin typeface="Nunito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38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500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464234" y="23637"/>
            <a:ext cx="11727765" cy="578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PROCESS STATEMENT USING IF-THEN-ELSE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7A44D-0674-A505-12AE-F2D26B62F11B}"/>
              </a:ext>
            </a:extLst>
          </p:cNvPr>
          <p:cNvSpPr txBox="1"/>
          <p:nvPr/>
        </p:nvSpPr>
        <p:spPr>
          <a:xfrm>
            <a:off x="-456029" y="1045329"/>
            <a:ext cx="12448735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          Z       : OUT STD_LOGIC); 			                   	         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PROCESS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)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BEGIN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IF s = ‘0’ THEN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END IF 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END PROCESS 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09287-9C1D-3B88-DAEB-186B633EADC1}"/>
              </a:ext>
            </a:extLst>
          </p:cNvPr>
          <p:cNvSpPr txBox="1"/>
          <p:nvPr/>
        </p:nvSpPr>
        <p:spPr>
          <a:xfrm>
            <a:off x="-667044" y="568275"/>
            <a:ext cx="1285904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STATEMENT using if-then-else statement for 2-to-1 Multiplexer</a:t>
            </a:r>
          </a:p>
        </p:txBody>
      </p:sp>
    </p:spTree>
    <p:extLst>
      <p:ext uri="{BB962C8B-B14F-4D97-AF65-F5344CB8AC3E}">
        <p14:creationId xmlns:p14="http://schemas.microsoft.com/office/powerpoint/2010/main" val="309185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576776" y="65841"/>
            <a:ext cx="11141612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ALTERNATIVE CODE FOR IF-THEN-ELSE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7A44D-0674-A505-12AE-F2D26B62F11B}"/>
              </a:ext>
            </a:extLst>
          </p:cNvPr>
          <p:cNvSpPr txBox="1"/>
          <p:nvPr/>
        </p:nvSpPr>
        <p:spPr>
          <a:xfrm>
            <a:off x="753794" y="890587"/>
            <a:ext cx="104300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         Z        : OUT STD_LOGIC); 			                   	         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PROCESS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)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BEGIN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IF s = ‘1’ THEN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IF 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END PROCESS 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36880309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F7B492-B31F-0EA2-5F6B-03C6FF2E0F8D}"/>
              </a:ext>
            </a:extLst>
          </p:cNvPr>
          <p:cNvSpPr txBox="1"/>
          <p:nvPr/>
        </p:nvSpPr>
        <p:spPr>
          <a:xfrm>
            <a:off x="-413825" y="1056333"/>
            <a:ext cx="1244873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STATEMENT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case statement is similar to selected signal assignment in that the case statement has a selection signal and includes WHEN clauses for various valuations of this selection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FB8E30-DD88-8056-8B01-D44B4EFA8EDF}"/>
              </a:ext>
            </a:extLst>
          </p:cNvPr>
          <p:cNvSpPr txBox="1"/>
          <p:nvPr/>
        </p:nvSpPr>
        <p:spPr>
          <a:xfrm>
            <a:off x="1277920" y="-11547"/>
            <a:ext cx="9891827" cy="61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PROCESS STATEMENT WITH CASE STATEMENT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706F3B-5867-4F0C-9E3C-EFDE2201A71D}"/>
              </a:ext>
            </a:extLst>
          </p:cNvPr>
          <p:cNvSpPr txBox="1"/>
          <p:nvPr/>
        </p:nvSpPr>
        <p:spPr>
          <a:xfrm>
            <a:off x="-297764" y="4806742"/>
            <a:ext cx="1155191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general form of a CASE statement and the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CASE STATEMENT for 2-to-1 Multiplexer </a:t>
            </a:r>
            <a:r>
              <a:rPr kumimoji="0" lang="en-US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 presented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next </a:t>
            </a:r>
          </a:p>
        </p:txBody>
      </p:sp>
    </p:spTree>
    <p:extLst>
      <p:ext uri="{BB962C8B-B14F-4D97-AF65-F5344CB8AC3E}">
        <p14:creationId xmlns:p14="http://schemas.microsoft.com/office/powerpoint/2010/main" val="3440964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307145" y="901661"/>
            <a:ext cx="8394895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CASE expression IS</a:t>
            </a:r>
          </a:p>
          <a:p>
            <a:pPr marL="899160" marR="659130" indent="-158115"/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WHEN  </a:t>
            </a:r>
            <a:r>
              <a:rPr lang="en-US" sz="32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nt_value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 </a:t>
            </a:r>
            <a:r>
              <a:rPr lang="en-US" sz="32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nt_value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</a:p>
          <a:p>
            <a:pPr marL="905510" marR="626745"/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WHEN  OTHERS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2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200" spc="-3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</a:p>
          <a:p>
            <a:pPr marL="750570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END CASE 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539240" y="88701"/>
            <a:ext cx="93954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General Form of a CASE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1697563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FB8E30-DD88-8056-8B01-D44B4EFA8EDF}"/>
              </a:ext>
            </a:extLst>
          </p:cNvPr>
          <p:cNvSpPr txBox="1"/>
          <p:nvPr/>
        </p:nvSpPr>
        <p:spPr>
          <a:xfrm>
            <a:off x="98474" y="-11547"/>
            <a:ext cx="11823894" cy="578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unito" pitchFamily="2" charset="0"/>
                <a:ea typeface="+mn-ea"/>
                <a:cs typeface="Times New Roman" panose="02020603050405020304" pitchFamily="18" charset="0"/>
              </a:rPr>
              <a:t>EXAMPLE OF PROCESS STATEMENT USING CASE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21C1F-392D-0FE7-B0C1-064E20A11643}"/>
              </a:ext>
            </a:extLst>
          </p:cNvPr>
          <p:cNvSpPr txBox="1"/>
          <p:nvPr/>
        </p:nvSpPr>
        <p:spPr>
          <a:xfrm>
            <a:off x="1007013" y="623297"/>
            <a:ext cx="1100679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LIBRARY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kumimoji="0" lang="en-US" sz="2000" b="0" i="0" u="none" strike="noStrike" kern="1200" cap="none" spc="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USE ieee.std_logic_1164.all </a:t>
            </a:r>
            <a:r>
              <a:rPr kumimoji="0" lang="en-US" sz="2000" b="0" i="0" u="none" strike="noStrike" kern="1200" cap="none" spc="-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-4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ENTITY mux2to1 IS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 PORT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: IN STD_LOGIC;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			              Z       : OUT STD_LOGIC); 			                   	         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END mux2to1 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ARCHITECTURE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mux2to1 IS  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BEGIN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PROCESS (d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 )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BEGIN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CASE s IS                               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  	WHEN ‘0’ =&gt;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0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WHEN OTHERS  =&gt;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                        Z &lt;= d</a:t>
            </a: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CASE 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END PROCESS ;</a:t>
            </a:r>
          </a:p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END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</p:spTree>
    <p:extLst>
      <p:ext uri="{BB962C8B-B14F-4D97-AF65-F5344CB8AC3E}">
        <p14:creationId xmlns:p14="http://schemas.microsoft.com/office/powerpoint/2010/main" val="1180419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83B90D-9DD6-319B-4357-AB638E57D9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257" t="13005" r="41004" b="13990"/>
          <a:stretch>
            <a:fillRect/>
          </a:stretch>
        </p:blipFill>
        <p:spPr bwMode="auto">
          <a:xfrm>
            <a:off x="4614202" y="53920"/>
            <a:ext cx="5372833" cy="67353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4CAA37-BA7F-E7A5-8634-55E9C54B13B1}"/>
              </a:ext>
            </a:extLst>
          </p:cNvPr>
          <p:cNvSpPr txBox="1"/>
          <p:nvPr/>
        </p:nvSpPr>
        <p:spPr>
          <a:xfrm>
            <a:off x="-413825" y="1056333"/>
            <a:ext cx="490141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0555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black"/>
                </a:solidFill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VHDL code that describes a process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 of a 2-to-4 binary decoder using a CASE statement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4837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793AA2-3950-8E57-EED1-EB8CCF5F9813}"/>
              </a:ext>
            </a:extLst>
          </p:cNvPr>
          <p:cNvSpPr txBox="1"/>
          <p:nvPr/>
        </p:nvSpPr>
        <p:spPr>
          <a:xfrm>
            <a:off x="307145" y="901661"/>
            <a:ext cx="924833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0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3200" spc="6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variable_name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range LOOP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LOOP [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13C602-7140-EEA3-1AAA-A84F3BC754BD}"/>
              </a:ext>
            </a:extLst>
          </p:cNvPr>
          <p:cNvSpPr txBox="1"/>
          <p:nvPr/>
        </p:nvSpPr>
        <p:spPr>
          <a:xfrm>
            <a:off x="1539240" y="88701"/>
            <a:ext cx="9395460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General Form of LOOP 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Nunito" pitchFamily="2" charset="0"/>
                <a:cs typeface="Times New Roman" panose="02020603050405020304" pitchFamily="18" charset="0"/>
              </a:rPr>
              <a:t>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300EF6-FB72-DA4C-8850-56687BD5D7BC}"/>
              </a:ext>
            </a:extLst>
          </p:cNvPr>
          <p:cNvSpPr txBox="1"/>
          <p:nvPr/>
        </p:nvSpPr>
        <p:spPr>
          <a:xfrm>
            <a:off x="2684585" y="4056341"/>
            <a:ext cx="924833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0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;]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9160" marR="659130" indent="-158115"/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WHILE </a:t>
            </a:r>
            <a:r>
              <a:rPr lang="en-US" sz="3200" spc="65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sz="3200" spc="65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_expression</a:t>
            </a:r>
            <a:r>
              <a:rPr lang="en-US" sz="3200" spc="65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</a:t>
            </a:r>
          </a:p>
          <a:p>
            <a:pPr marL="905510" marR="626745"/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{sta</a:t>
            </a:r>
            <a:r>
              <a:rPr lang="en-US" sz="3200" spc="-1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3200" spc="4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nt ;}</a:t>
            </a:r>
            <a:endParaRPr lang="en-US" sz="3200" dirty="0"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05510" marR="6267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LOOP [</a:t>
            </a:r>
            <a:r>
              <a:rPr lang="en-US" sz="3200" dirty="0" err="1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sz="3200" spc="1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20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labe</a:t>
            </a:r>
            <a:r>
              <a:rPr lang="en-US" sz="3200" spc="60" dirty="0" err="1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3200" spc="-7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3656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D798-DED0-232E-D811-FAC1A8CCC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717721-0828-0951-5A58-D44430D6CF45}"/>
              </a:ext>
            </a:extLst>
          </p:cNvPr>
          <p:cNvSpPr txBox="1"/>
          <p:nvPr/>
        </p:nvSpPr>
        <p:spPr>
          <a:xfrm>
            <a:off x="592601" y="1168947"/>
            <a:ext cx="104968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1045"/>
            <a:r>
              <a:rPr lang="en-US" sz="3200" dirty="0">
                <a:effectLst/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Nunito" pitchFamily="2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VHDL code to represent the months of the  year using a CASE statement</a:t>
            </a:r>
            <a:endParaRPr lang="en-GB" sz="3200" dirty="0">
              <a:effectLst/>
              <a:latin typeface="Nunito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48F06-99AB-C0B4-2030-E5A3EE284200}"/>
              </a:ext>
            </a:extLst>
          </p:cNvPr>
          <p:cNvSpPr txBox="1"/>
          <p:nvPr/>
        </p:nvSpPr>
        <p:spPr>
          <a:xfrm>
            <a:off x="4015154" y="88701"/>
            <a:ext cx="3651738" cy="675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latin typeface="Nunito" pitchFamily="2" charset="0"/>
                <a:cs typeface="Times New Roman" panose="02020603050405020304" pitchFamily="18" charset="0"/>
              </a:rPr>
              <a:t>ASSIGNMENT</a:t>
            </a:r>
            <a:endParaRPr lang="en-US" sz="3600" b="1" kern="100" dirty="0">
              <a:solidFill>
                <a:srgbClr val="FF0000"/>
              </a:solidFill>
              <a:effectLst/>
              <a:latin typeface="Nunito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44006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7889</TotalTime>
  <Words>2441</Words>
  <Application>Microsoft Office PowerPoint</Application>
  <PresentationFormat>Widescreen</PresentationFormat>
  <Paragraphs>315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 DELANEY</vt:lpstr>
      <vt:lpstr>Arial</vt:lpstr>
      <vt:lpstr>Arial Black</vt:lpstr>
      <vt:lpstr>Arial Narrow</vt:lpstr>
      <vt:lpstr>Calibri</vt:lpstr>
      <vt:lpstr>Nunito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Home</dc:creator>
  <cp:lastModifiedBy>Alice Oke</cp:lastModifiedBy>
  <cp:revision>230</cp:revision>
  <dcterms:created xsi:type="dcterms:W3CDTF">2023-10-25T13:01:00Z</dcterms:created>
  <dcterms:modified xsi:type="dcterms:W3CDTF">2025-12-01T14:36:41Z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758DC5E5678E43408584B14A06F44057_12</vt:lpwstr>
  </property>
  <property fmtid="{D5CDD505-2E9C-101B-9397-08002B2CF9AE}" pid="3" name="KSOProductBuildVer">
    <vt:lpwstr>2057-12.2.0.13266</vt:lpwstr>
  </property>
</Properties>
</file>