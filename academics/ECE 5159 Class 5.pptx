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3"/>
    <p:sldId id="331" r:id="rId4"/>
    <p:sldId id="376" r:id="rId5"/>
    <p:sldId id="377" r:id="rId6"/>
    <p:sldId id="406" r:id="rId7"/>
    <p:sldId id="412" r:id="rId8"/>
    <p:sldId id="413" r:id="rId9"/>
    <p:sldId id="414" r:id="rId10"/>
    <p:sldId id="411" r:id="rId11"/>
    <p:sldId id="415" r:id="rId12"/>
    <p:sldId id="422" r:id="rId13"/>
    <p:sldId id="410" r:id="rId14"/>
    <p:sldId id="408" r:id="rId15"/>
    <p:sldId id="421" r:id="rId16"/>
    <p:sldId id="423" r:id="rId17"/>
    <p:sldId id="426" r:id="rId18"/>
    <p:sldId id="379" r:id="rId19"/>
    <p:sldId id="392" r:id="rId20"/>
    <p:sldId id="393" r:id="rId21"/>
    <p:sldId id="395" r:id="rId22"/>
    <p:sldId id="416" r:id="rId23"/>
    <p:sldId id="417" r:id="rId24"/>
    <p:sldId id="418" r:id="rId25"/>
    <p:sldId id="394" r:id="rId26"/>
    <p:sldId id="419" r:id="rId27"/>
    <p:sldId id="425" r:id="rId28"/>
    <p:sldId id="396" r:id="rId29"/>
    <p:sldId id="42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23T06:41: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1919.000 237.000 24575,'-107.000'-2.000'0,"-141.000"-20.000"0,163.000 10.000 0,-1.000-4.000 0,2.000-3.000 0,-91.000-35.000 0,130.000 37.000 0,-142.000-47.000 0,155.000 55.000 0,0.000 2.000 0,-1.000 1.000 0,1.000 2.000 0,-36.000 0.000 0,-519.000 6.000 0,581.000-2.000 0,-1.000 0.000 0,1.000 1.000 0,-1.000-1.000 0,1.000 1.000 0,-1.000 0.000 0,1.000 1.000 0,-1.000 0.000 0,1.000 0.000 0,0.000 0.000 0,0.000 1.000 0,0.000 0.000 0,-6.000 3.000 0,10.000-4.000 0,-1.000 0.000 0,1.000 1.000 0,0.000-1.000 0,-1.000 1.000 0,1.000-1.000 0,0.000 1.000 0,1.000 0.000 0,-1.000-1.000 0,0.000 1.000 0,1.000 0.000 0,-1.000 0.000 0,1.000 0.000 0,0.000 1.000 0,0.000-1.000 0,0.000 0.000 0,1.000 0.000 0,-1.000 1.000 0,1.000-1.000 0,0.000 0.000 0,0.000 1.000 0,0.000-1.000 0,0.000 0.000 0,0.000 0.000 0,1.000 1.000 0,1.000 5.000 0,13.000 56.000 0,-7.000-32.000 0,-1.000-1.000 0,2.000 45.000 0,10.000 74.000 0,0.000 4.000 0,-18.000-34.000 0,-2.000-76.000 0,1.000 0.000 0,3.000-1.000 0,11.000 62.000 0,-4.000-44.000 0,-3.000 0.000 0,-2.000 1.000 0,-6.000 99.000 0,5.000 73.000 0,-4.000-231.000 0,1.000 0.000 0,0.000 0.000 0,0.000 0.000 0,0.000 0.000 0,0.000-1.000 0,0.000 1.000 0,1.000 0.000 0,0.000-1.000 0,0.000 1.000 0,0.000-1.000 0,0.000 0.000 0,0.000 1.000 0,1.000-1.000 0,-1.000 0.000 0,1.000 0.000 0,0.000-1.000 0,0.000 1.000 0,0.000-1.000 0,0.000 1.000 0,1.000-1.000 0,-1.000 0.000 0,1.000 0.000 0,-1.000 0.000 0,1.000-1.000 0,0.000 1.000 0,-1.000-1.000 0,1.000 0.000 0,0.000 0.000 0,0.000 0.000 0,5.000 0.000 0,15.000 2.000 0,-1.000-2.000 0,1.000 0.000 0,0.000-1.000 0,25.000-4.000 0,-6.000 1.000 0,43.000 2.000 0,45.000-2.000 0,-115.000 2.000 0,-1.000-1.000 0,1.000-1.000 0,0.000-1.000 0,-1.000 0.000 0,0.000-1.000 0,15.000-7.000 0,3.000-1.000 0,0.000 1.000 0,1.000 2.000 0,58.000-11.000 0,36.000-9.000 0,-47.000 6.000 0,-34.000 11.000 0,0.000-2.000 0,44.000-20.000 0,-74.000 28.000 0,0.000 0.000 0,0.000 2.000 0,1.000 0.000 0,0.000 1.000 0,0.000 1.000 0,30.000-2.000 0,115.000 7.000 0,-74.000 1.000 0,5.000-4.000 0,85.000 4.000 0,-169.000-2.000 10,-1.000 1.000 0,1.000 0.000 0,-1.000 0.000 0,0.000 1.000 0,0.000 0.000 0,0.000 1.000 0,0.000 0.000 0,0.000 1.000 0,-1.000-1.000 0,0.000 2.000 0,14.000 10.000 0,-11.000-6.000-222,0.000 1.000 0,0.000 0.000 0,-1.000 1.000-1,-1.000 0.000 1,0.000 0.000 0,12.000 22.000 0,-5.000-3.000-6614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23T06:41: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1886.000 1.000 24575,'-1762.000'0.000'0,"1757.000"0.000"0,0.000 0.000 0,0.000 0.000 0,0.000 0.000 0,1.000 1.000 0,-1.000 0.000 0,0.000 0.000 0,0.000 0.000 0,1.000 1.000 0,-1.000-1.000 0,1.000 1.000 0,-1.000 0.000 0,1.000 1.000 0,0.000-1.000 0,0.000 1.000 0,0.000-1.000 0,-4.000 5.000 0,4.000-3.000 0,0.000 1.000 0,1.000-1.000 0,-1.000 1.000 0,1.000 0.000 0,0.000 1.000 0,1.000-1.000 0,-1.000 0.000 0,1.000 1.000 0,0.000-1.000 0,0.000 1.000 0,1.000 0.000 0,0.000 0.000 0,-1.000 6.000 0,-3.000 39.000 0,3.000 0.000 0,7.000 89.000 0,0.000-18.000 0,-5.000 1596.000 0,0.000-1711.000 0,0.000 0.000 0,0.000-1.000 0,0.000 1.000 0,1.000-1.000 0,0.000 1.000 0,1.000-1.000 0,-1.000 0.000 0,1.000 1.000 0,1.000-1.000 0,2.000 7.000 0,-3.000-11.000 0,-1.000 0.000 0,1.000 0.000 0,0.000 0.000 0,0.000 0.000 0,0.000-1.000 0,0.000 1.000 0,0.000 0.000 0,0.000-1.000 0,0.000 1.000 0,1.000-1.000 0,-1.000 0.000 0,0.000 0.000 0,1.000 0.000 0,-1.000 0.000 0,1.000 0.000 0,0.000 0.000 0,-1.000-1.000 0,1.000 1.000 0,-1.000-1.000 0,1.000 0.000 0,0.000 0.000 0,-1.000 0.000 0,1.000 0.000 0,0.000 0.000 0,-1.000 0.000 0,1.000-1.000 0,3.000 0.000 0,10.000-3.000 0,0.000-1.000 0,0.000 0.000 0,0.000-2.000 0,0.000 0.000 0,-1.000 0.000 0,0.000-1.000 0,22.000-17.000 0,-22.000 14.000 0,2.000 1.000 0,0.000 1.000 0,0.000 0.000 0,0.000 1.000 0,30.000-9.000 0,3.000 8.000 0,1.000 3.000 0,0.000 2.000 0,0.000 2.000 0,79.000 7.000 0,0.000 0.000 0,689.000-5.000 0,-803.000 0.000 0,-1.000 1.000 0,1.000 1.000 0,0.000 1.000 0,-1.000 0.000 0,0.000 1.000 0,0.000 1.000 0,0.000 0.000 0,14.000 7.000 0,13.000 10.000 0,52.000 35.000 0,-75.000-44.000 0,-11.000-9.000 9,1.000 1.000 0,0.000-1.000 0,1.000 0.000 1,-1.000-1.000-1,0.000 0.000 0,1.000 0.000 0,0.000-1.000 0,17.000 2.000 0,80.000-3.000-649,-78.000-2.000-167,5.000 0.000-6019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23T07:03: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1886.000 0.000 24575,'-1762.000'0.000'0,"1757.000"0.000"0,0.000 0.000 0,0.000 0.000 0,0.000 1.000 0,1.000-1.000 0,-1.000 0.000 0,0.000 1.000 0,0.000-1.000 0,1.000 1.000 0,-1.000 0.000 0,1.000-1.000 0,-1.000 1.000 0,1.000 0.000 0,0.000 0.000 0,0.000 0.000 0,0.000 1.000 0,-4.000 0.000 0,4.000 0.000 0,0.000 0.000 0,1.000 0.000 0,-1.000 0.000 0,1.000 0.000 0,0.000 0.000 0,1.000 1.000 0,-1.000-1.000 0,1.000 0.000 0,0.000 1.000 0,0.000-1.000 0,1.000 0.000 0,0.000 1.000 0,-1.000 2.000 0,-3.000 17.000 0,3.000-1.000 0,7.000 39.000 0,0.000-9.000 0,-5.000 676.000 0,0.000-724.000 0,0.000-1.000 0,0.000 1.000 0,0.000 0.000 0,1.000 0.000 0,0.000-1.000 0,1.000 1.000 0,-1.000 0.000 0,1.000-1.000 0,1.000 1.000 0,2.000 2.000 0,-3.000-4.000 0,-1.000 0.000 0,1.000 0.000 0,0.000 0.000 0,0.000 0.000 0,0.000-1.000 0,0.000 1.000 0,0.000 0.000 0,0.000-1.000 0,0.000 1.000 0,1.000 0.000 0,-1.000-1.000 0,0.000 1.000 0,1.000-1.000 0,-1.000 0.000 0,1.000 1.000 0,0.000-1.000 0,-1.000 0.000 0,1.000 0.000 0,-1.000 1.000 0,1.000-1.000 0,0.000 0.000 0,-1.000 0.000 0,1.000 0.000 0,0.000 0.000 0,-1.000-1.000 0,1.000 1.000 0,3.000 0.000 0,10.000-2.000 0,0.000 0.000 0,0.000 0.000 0,0.000-1.000 0,0.000 0.000 0,-1.000 0.000 0,0.000-1.000 0,22.000-6.000 0,-22.000 5.000 0,2.000 1.000 0,0.000 0.000 0,0.000 0.000 0,0.000 1.000 0,30.000-4.000 0,3.000 3.000 0,1.000 2.000 0,0.000 0.000 0,0.000 1.000 0,79.000 3.000 0,0.000 0.000 0,689.000-2.000 0,-803.000 0.000 0,-1.000 1.000 0,1.000 0.000 0,0.000 0.000 0,-1.000 0.000 0,0.000 1.000 0,0.000 0.000 0,0.000 0.000 0,14.000 3.000 0,13.000 4.000 0,52.000 16.000 0,-75.000-20.000 0,-11.000-3.000 9,1.000 0.000 0,0.000 0.000 0,1.000-1.000 1,-1.000 1.000-1,0.000-1.000 0,1.000 0.000 0,0.000 0.000 0,17.000 0.000 0,80.000 0.000-649,-78.000-1.000-167,5.000-1.000-6019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3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264695" y="4738499"/>
            <a:ext cx="913888" cy="1189623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1589405" y="160417"/>
            <a:ext cx="9144000" cy="80778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vert="horz" lIns="91440" tIns="45720" rIns="91440" bIns="45720" rtlCol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ECE </a:t>
            </a:r>
            <a:r>
              <a:rPr lang="en-US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  <a:r>
              <a:rPr lang="en-US" altLang="en-GB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159-Class 5</a:t>
            </a:r>
            <a:endParaRPr lang="en-US" altLang="en-GB" sz="4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2564130" y="2010410"/>
            <a:ext cx="7193915" cy="1594485"/>
          </a:xfrm>
          <a:prstGeom prst="rect">
            <a:avLst/>
          </a:prstGeom>
          <a:solidFill>
            <a:schemeClr val="bg1"/>
          </a:solidFill>
          <a:ln w="63500" cmpd="tri">
            <a:solidFill>
              <a:srgbClr val="92D050"/>
            </a:solidFill>
          </a:ln>
        </p:spPr>
        <p:txBody>
          <a:bodyPr vert="horz" lIns="91440" tIns="45720" rIns="91440" bIns="45720" rtlCol="0">
            <a:no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 </a:t>
            </a:r>
            <a:r>
              <a:rPr 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DIGITAL </a:t>
            </a:r>
            <a:r>
              <a:rPr lang="en-US" alt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SYSTEM DESIGN WITH VHDL</a:t>
            </a:r>
            <a:endParaRPr lang="en-US" altLang="en-GB" sz="5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 DELANEY" panose="02000000000000000000" pitchFamily="2" charset="0"/>
            </a:endParaRPr>
          </a:p>
        </p:txBody>
      </p:sp>
      <p:sp>
        <p:nvSpPr>
          <p:cNvPr id="10" name="Subtitle 2"/>
          <p:cNvSpPr txBox="1"/>
          <p:nvPr/>
        </p:nvSpPr>
        <p:spPr>
          <a:xfrm>
            <a:off x="4079040" y="4773100"/>
            <a:ext cx="5097097" cy="1490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sz="3200" dirty="0">
                <a:solidFill>
                  <a:schemeClr val="tx2"/>
                </a:solidFill>
                <a:latin typeface="Arial Black" panose="020B0A04020102020204" pitchFamily="34" charset="0"/>
              </a:rPr>
              <a:t>Engr. Professor  Alice </a:t>
            </a:r>
            <a:r>
              <a:rPr lang="en-GB" sz="3200" dirty="0" err="1">
                <a:solidFill>
                  <a:schemeClr val="tx2"/>
                </a:solidFill>
                <a:latin typeface="Arial Black" panose="020B0A04020102020204" pitchFamily="34" charset="0"/>
              </a:rPr>
              <a:t>Oluwafunke</a:t>
            </a:r>
            <a:r>
              <a:rPr lang="en-GB" sz="3200" dirty="0">
                <a:solidFill>
                  <a:schemeClr val="tx2"/>
                </a:solidFill>
                <a:latin typeface="Arial Black" panose="020B0A04020102020204" pitchFamily="34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Arial Black" panose="020B0A04020102020204" pitchFamily="34" charset="0"/>
              </a:rPr>
              <a:t>Oke</a:t>
            </a:r>
            <a:endParaRPr lang="en-GB" sz="32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GB" sz="2000" dirty="0">
                <a:solidFill>
                  <a:schemeClr val="tx2"/>
                </a:solidFill>
                <a:latin typeface="Arial Narrow" panose="020B0606020202030204" pitchFamily="34" charset="0"/>
              </a:rPr>
              <a:t>Department of Computer Engineering, ACU, Oyo</a:t>
            </a:r>
            <a:endParaRPr lang="en-GB" sz="2000" dirty="0">
              <a:solidFill>
                <a:schemeClr val="tx2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54855" y="626966"/>
            <a:ext cx="12448735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VHDL entity defined in one source code file can be used as a subcircuit in another source code file.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VHDL, subcircuit is called a component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subcircuit must be declared using a component declaration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COMPONENT </a:t>
            </a:r>
            <a:r>
              <a:rPr lang="en-US" sz="3600" b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endParaRPr lang="en-US" sz="3600" b="1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    PORT (Cin, x, y : IN STD_LOGIC;</a:t>
            </a:r>
            <a:endParaRPr lang="en-US" sz="3600" b="1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s, </a:t>
            </a:r>
            <a:r>
              <a:rPr lang="en-US" sz="3600" b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	OUT STD_LOGIC); 			     </a:t>
            </a:r>
            <a:endParaRPr lang="en-US" sz="3600" b="1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END COMPONENT ; </a:t>
            </a:r>
            <a:endParaRPr lang="en-US" sz="3600" b="1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52800" y="0"/>
            <a:ext cx="576834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USING SUBCIRCUITS</a:t>
            </a:r>
            <a:endParaRPr lang="en-US" sz="40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584395" y="1343246"/>
            <a:ext cx="1244873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lang="en-US" sz="36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36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en-US" sz="3600" b="1" dirty="0">
              <a:solidFill>
                <a:srgbClr val="00B0F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00B0F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36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COMPONENT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         PORT (Cin, x, y : IN STD_LOGIC;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      s,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	OUT STD_LOGIC); 			     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	END COMPONENT ;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36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66700"/>
            <a:ext cx="1055370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DECLARING A COMPONENT IN A PACKAGE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720" y="836295"/>
            <a:ext cx="11678920" cy="2820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Concurrent assignment statement is used to assign a value to a signal in an architecture body. E.g.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s &lt;= x XOR y XOR Cin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provides four different types of concurrent assignment statements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12501"/>
            <a:ext cx="972312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CONCURRENT ASS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IGNMENT STATEMENTS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3095" y="5433695"/>
            <a:ext cx="8676005" cy="4559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signal assignment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Selected signal assignment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Conditional 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 assignment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 statements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507023" y="675441"/>
            <a:ext cx="12448735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3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30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lang="en-US" sz="30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30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</a:t>
            </a:r>
            <a:r>
              <a:rPr lang="en-US" sz="3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sz="3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 (Cin, x, y : IN STD_LOGIC;</a:t>
            </a:r>
            <a:endParaRPr lang="en-US" sz="3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s, </a:t>
            </a:r>
            <a:r>
              <a:rPr lang="en-US" sz="3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OUT STD_LOGIC); 			     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	              END </a:t>
            </a:r>
            <a:r>
              <a:rPr lang="en-US" sz="3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3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en-US" sz="3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lang="en-US" sz="3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3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  <a:endParaRPr lang="en-US" sz="3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s &lt;= x XOR y XOR Cin ;</a:t>
            </a:r>
            <a:endParaRPr lang="en-US" sz="3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	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Cout &lt;= (x AND y) OR (x AND Cin) OR (y AND Cin);</a:t>
            </a:r>
            <a:endParaRPr lang="en-US" sz="3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END </a:t>
            </a:r>
            <a:r>
              <a:rPr lang="en-US" sz="3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3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2483" y="0"/>
            <a:ext cx="5975252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CODE FOR A FULL ADDER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97533" y="711371"/>
            <a:ext cx="12448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/>
            <a:r>
              <a:rPr lang="en-US" sz="32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Signal assignment 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EXAMPLE OF CONCURRENT ASS</a:t>
            </a:r>
            <a:r>
              <a:rPr lang="en-US" sz="28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IGNMENT STATEMENTS</a:t>
            </a:r>
            <a:endParaRPr lang="en-US" sz="28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507023" y="1449162"/>
            <a:ext cx="1244873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4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24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24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lang="en-US" sz="24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</a:t>
            </a:r>
            <a:r>
              <a:rPr lang="en-US" sz="24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sz="24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 (Cin, x, y : IN STD_LOGIC;</a:t>
            </a:r>
            <a:endParaRPr lang="en-US" sz="24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s, </a:t>
            </a:r>
            <a:r>
              <a:rPr lang="en-US" sz="24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OUT STD_LOGIC); 			     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	              </a:t>
            </a:r>
            <a:endParaRPr lang="en-US" sz="24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END </a:t>
            </a:r>
            <a:r>
              <a:rPr lang="en-US" sz="24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24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en-US" sz="24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lang="en-US" sz="24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4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  <a:endParaRPr lang="en-US" sz="24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s &lt;= x XOR y XOR Cin;</a:t>
            </a:r>
            <a:endParaRPr lang="en-US" sz="24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	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Cout &lt;= (x AND y) OR (x AND Cin) OR (y AND Cin);</a:t>
            </a:r>
            <a:endParaRPr lang="en-US" sz="24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END </a:t>
            </a:r>
            <a:r>
              <a:rPr lang="en-US" sz="24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24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Ink 7"/>
              <p14:cNvContentPartPr/>
              <p14:nvPr/>
            </p14:nvContentPartPr>
            <p14:xfrm>
              <a:off x="954914" y="5231880"/>
              <a:ext cx="798120" cy="595800"/>
            </p14:xfrm>
          </p:contentPart>
        </mc:Choice>
        <mc:Fallback xmlns="">
          <p:pic>
            <p:nvPicPr>
              <p:cNvPr id="8" name="Ink 7"/>
            </p:nvPicPr>
            <p:blipFill>
              <a:blip r:embed="rId2"/>
            </p:blipFill>
            <p:spPr>
              <a:xfrm>
                <a:off x="954914" y="5231880"/>
                <a:ext cx="798120" cy="5958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56028" y="558356"/>
            <a:ext cx="1244873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Selected Signal assignment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Selected signal assignment allows a signal to be assigned one of several values based on a selection criterion.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a multiplexer: a combinational circuit that selects one of n input lines and provides it on the output with the block diagram and Truth Table as shown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CONCURRENT ASSIGNMENT STATEMENTS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5" t="36354" r="22557" b="50050"/>
          <a:stretch>
            <a:fillRect/>
          </a:stretch>
        </p:blipFill>
        <p:spPr bwMode="auto">
          <a:xfrm>
            <a:off x="505291" y="4624547"/>
            <a:ext cx="4674356" cy="1776255"/>
          </a:xfrm>
          <a:prstGeom prst="rect">
            <a:avLst/>
          </a:prstGeom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20" t="54955" r="26833" b="9419"/>
          <a:stretch>
            <a:fillRect/>
          </a:stretch>
        </p:blipFill>
        <p:spPr bwMode="auto">
          <a:xfrm>
            <a:off x="6696416" y="3024556"/>
            <a:ext cx="4187193" cy="377014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56028" y="751580"/>
            <a:ext cx="124487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Selected Signal assignment for the multiplexer is as shown: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CONCURRENT ASSIGNMENT STATEMENTS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610775" y="2013407"/>
            <a:ext cx="1244873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kumimoji="0" lang="en-US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kumimoji="0" lang="en-US" sz="2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sz="22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2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mux2to1 IS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PORT (d</a:t>
            </a:r>
            <a:r>
              <a:rPr kumimoji="0" lang="en-US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: IN STD_LOGIC;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Z           : OUT STD_LOGIC); 			                   	             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mux2to1 ;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mux2to1 IS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WITH s SELECT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Z &lt;= d</a:t>
            </a:r>
            <a:r>
              <a:rPr kumimoji="0" lang="en-US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WHEN ‘0’;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d</a:t>
            </a:r>
            <a:r>
              <a:rPr kumimoji="0" lang="en-US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WHEN OTHERS;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END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1107446" y="5556131"/>
              <a:ext cx="803520" cy="83160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1107446" y="5556131"/>
                <a:ext cx="803520" cy="8316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56028" y="751580"/>
            <a:ext cx="124487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Conditional Signal assignment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Conditional signal assignment is similar to selected signal assignment. </a:t>
            </a:r>
            <a:r>
              <a:rPr lang="en-US" sz="2400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allows a signal to be set to one of several values. An example using the mux2to1 is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CONCURRENT ASSIGNMENT STATEMENTS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582639" y="2268243"/>
            <a:ext cx="124487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kumimoji="0" lang="en-US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sz="24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mux2to1 IS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PORT (d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: IN STD_LOGIC;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Z           : OUT STD_LOGIC); 			                   	             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mux2to1 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mux2to1 IS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Z &lt;=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WHEN s = ‘0’ ELSE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END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7" name="Ink 6"/>
              <p14:cNvContentPartPr/>
              <p14:nvPr/>
            </p14:nvContentPartPr>
            <p14:xfrm>
              <a:off x="1149650" y="5950637"/>
              <a:ext cx="803520" cy="351689"/>
            </p14:xfrm>
          </p:contentPart>
        </mc:Choice>
        <mc:Fallback xmlns="">
          <p:pic>
            <p:nvPicPr>
              <p:cNvPr id="7" name="Ink 6"/>
            </p:nvPicPr>
            <p:blipFill>
              <a:blip r:embed="rId2"/>
            </p:blipFill>
            <p:spPr>
              <a:xfrm>
                <a:off x="1149650" y="5950637"/>
                <a:ext cx="803520" cy="351689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56028" y="670900"/>
            <a:ext cx="1244873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 statement is often used to describe regularly structured hierarchical code.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example of such circuit is a 16-to-1 multiplexer using five instances of a 4-to-1 multiplexer subcircuit or a 4-bit ripple-carry adder using four instances of full adder.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structure of a regular code for a 16-to-1 multiplexer can be written in a more compact form using a loop.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provides a feature called the FOR GENERATE statement for describing such regularly structured hierarchical code.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CONCURRENT ASSIGNMENT STATEMENTS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507022" y="1097481"/>
            <a:ext cx="11522026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8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28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28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lang="en-US" sz="28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</a:t>
            </a:r>
            <a:r>
              <a:rPr lang="en-US" sz="28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sz="28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 (Cin, x, y : IN STD_LOGIC;</a:t>
            </a:r>
            <a:endParaRPr lang="en-US" sz="28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s, </a:t>
            </a:r>
            <a:r>
              <a:rPr lang="en-US" sz="28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OUT STD_LOGIC); 			     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	              END </a:t>
            </a:r>
            <a:r>
              <a:rPr lang="en-US" sz="28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28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en-US" sz="28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lang="en-US" sz="28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8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  <a:endParaRPr lang="en-US" sz="28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s &lt;= x XOR y XOR Cin ;</a:t>
            </a:r>
            <a:endParaRPr lang="en-US" sz="28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	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Cout &lt;= (x AND y) OR (x AND Cin) OR (y AND Cin);</a:t>
            </a:r>
            <a:endParaRPr lang="en-US" sz="28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END </a:t>
            </a:r>
            <a:r>
              <a:rPr lang="en-US" sz="28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28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N-RIPPLY ADDER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CIRCUIT AND CODE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6987" y="638288"/>
            <a:ext cx="64324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this 3-input full adder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36116" t="42458" r="23846" b="19780"/>
          <a:stretch>
            <a:fillRect/>
          </a:stretch>
        </p:blipFill>
        <p:spPr>
          <a:xfrm>
            <a:off x="182880" y="2089398"/>
            <a:ext cx="8396041" cy="44520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228602" y="1594897"/>
            <a:ext cx="68122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circuit for the 3-input full adder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18121" y="1935890"/>
            <a:ext cx="6098344" cy="1963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I+1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C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GB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= 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C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= g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p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g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p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(X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75101" y="1483680"/>
            <a:ext cx="3353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Analysis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4440" y="68764"/>
            <a:ext cx="10469880" cy="110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N-BIT RIPPLE CARRY ADDER CIRCUIT </a:t>
            </a:r>
            <a:endParaRPr lang="en-US" sz="2800" b="1" kern="100" dirty="0">
              <a:solidFill>
                <a:srgbClr val="FF0000"/>
              </a:solidFill>
              <a:latin typeface="Nunito" pitchFamily="2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                                  AND 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CODE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27115" t="50000" r="31923" b="21217"/>
          <a:stretch>
            <a:fillRect/>
          </a:stretch>
        </p:blipFill>
        <p:spPr>
          <a:xfrm>
            <a:off x="751029" y="2025751"/>
            <a:ext cx="10860453" cy="429064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16987" y="1538629"/>
            <a:ext cx="10469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symbol of an n-bit ripple-carry full adder is presented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9695" y="12501"/>
            <a:ext cx="918972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N-BIT RIPPLE CARRY ADDER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CIRCUIT 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rcRect l="30808" t="41564" r="34692" b="16086"/>
          <a:stretch>
            <a:fillRect/>
          </a:stretch>
        </p:blipFill>
        <p:spPr>
          <a:xfrm>
            <a:off x="72870" y="1682101"/>
            <a:ext cx="5803912" cy="40055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29077" t="36917" r="34231" b="21627"/>
          <a:stretch>
            <a:fillRect/>
          </a:stretch>
        </p:blipFill>
        <p:spPr>
          <a:xfrm>
            <a:off x="5820509" y="1344628"/>
            <a:ext cx="6305842" cy="400559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5669280" y="3471204"/>
            <a:ext cx="42672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61272" y="5639985"/>
            <a:ext cx="5958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4-bit ripple-carry full adder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9695" y="12501"/>
            <a:ext cx="918972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N-BIT RIPPLE CARRY ADDER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CIRCUIT 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16987" y="582016"/>
            <a:ext cx="9879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lvl="0"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VHDL code for a 4-bit ripple-carry full adder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507023" y="1030420"/>
            <a:ext cx="12448735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20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2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lang="en-US" sz="20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adder4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sz="2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 (Cin                     : IN STD_LOGIC;</a:t>
            </a:r>
            <a:endParaRPr lang="en-US" sz="2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x3, x2, x1, x0   : IN STD_LOGIC;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	y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3, y2, y1, y0   : IN STD_LOGIC;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	s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3, s2, s1, s0    : IN STD_LOGIC;</a:t>
            </a:r>
            <a:endParaRPr lang="en-US" sz="2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                  : OUT STD_LOGIC); 			     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	              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END adder4 ;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Structure OF 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adder4 IS</a:t>
            </a:r>
            <a:endParaRPr lang="en-US" sz="2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SIGNAL c1, c2, c3 : STD_LOGIC;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			COMPONENT </a:t>
            </a:r>
            <a:r>
              <a:rPr lang="en-US" sz="2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    PORT (Cin  x, y             : IN STD_LOGIC;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         s, Cout              : OUT STD_LOGIC); 	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     END COMPONENT; 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BEGIN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      stage0: </a:t>
            </a:r>
            <a:r>
              <a:rPr lang="en-US" sz="2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PORT MAP (Cin, x0, y0, s0, c1);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			</a:t>
            </a:r>
            <a:endParaRPr lang="en-US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9695" y="12501"/>
            <a:ext cx="918972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N-BIT RIPPLE CARRY ADDER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CODE 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507023" y="1424324"/>
            <a:ext cx="124487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	 stage1: </a:t>
            </a:r>
            <a:r>
              <a:rPr lang="en-US" sz="2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PORT MAP (Cin, x1, y1, s1, c2);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stage2: </a:t>
            </a:r>
            <a:r>
              <a:rPr lang="en-US" sz="2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PORT MAP (Cin, x2, y2, s2, c3);   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	        stage3: </a:t>
            </a:r>
            <a:r>
              <a:rPr lang="en-US" sz="2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PORT MAP (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Cin =&gt; c3, Cout =&gt; Cout, x =&gt; x3, y =&gt; y3, s =&gt; s3);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END Structure ;</a:t>
            </a:r>
            <a:endParaRPr lang="en-US" sz="2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9694" y="12501"/>
            <a:ext cx="9822767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N-BIT RIPPLE CARRY ADDER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CODE </a:t>
            </a:r>
            <a:r>
              <a:rPr kumimoji="0" lang="en-US" sz="2800" b="1" i="0" u="none" strike="noStrike" kern="1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Contd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77715" y="703541"/>
            <a:ext cx="1244873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nother type of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assignment statement provided by VHDL is </a:t>
            </a:r>
            <a:r>
              <a:rPr lang="en-US" sz="3400" kern="100" dirty="0">
                <a:latin typeface="Nunito" pitchFamily="2" charset="0"/>
                <a:cs typeface="Times New Roman" panose="02020603050405020304" pitchFamily="18" charset="0"/>
              </a:rPr>
              <a:t>sequential</a:t>
            </a:r>
            <a:r>
              <a:rPr lang="en-US" sz="3400" kern="100" dirty="0">
                <a:effectLst/>
                <a:latin typeface="Nunito" pitchFamily="2" charset="0"/>
                <a:cs typeface="Times New Roman" panose="02020603050405020304" pitchFamily="18" charset="0"/>
              </a:rPr>
              <a:t> assignment statements, the order of the statements in the code are executed sequentially. The order is significant in Sequential but not in Concurrent assignment statements.</a:t>
            </a:r>
            <a:endParaRPr lang="en-US" sz="3400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400" kern="100" dirty="0">
                <a:effectLst/>
                <a:latin typeface="Nunito" pitchFamily="2" charset="0"/>
                <a:cs typeface="Times New Roman" panose="02020603050405020304" pitchFamily="18" charset="0"/>
              </a:rPr>
              <a:t>The semantics of the code can be affected if done otherwise</a:t>
            </a:r>
            <a:endParaRPr lang="en-US" sz="3400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three variants of the sequential assignment statements are:</a:t>
            </a:r>
            <a:endParaRPr lang="en-US" sz="3400" dirty="0">
              <a:solidFill>
                <a:srgbClr val="FF0000"/>
              </a:solidFill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44980" y="65841"/>
            <a:ext cx="954786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SEQUENTIAL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 ASSIGNMENT STATEMENTS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10693" y="5166896"/>
            <a:ext cx="56719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statement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 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58615" y="886421"/>
            <a:ext cx="1244873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8480" marR="29845" indent="-457200"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PROCESS statement is used to separate sequ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ntial 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</a:t>
            </a:r>
            <a:r>
              <a:rPr lang="en-US" sz="32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emen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 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32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concurrent 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" marR="29845"/>
            <a:r>
              <a:rPr lang="en-US" sz="32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spc="1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8480" marR="29845" indent="-457200"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appears</a:t>
            </a:r>
            <a:r>
              <a:rPr lang="en-US" sz="32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32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 and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encloses</a:t>
            </a:r>
            <a:r>
              <a:rPr lang="en-US" sz="32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 s</a:t>
            </a:r>
            <a:r>
              <a:rPr lang="en-US" sz="32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tate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n-US" sz="3200" spc="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t.  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spc="1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" marR="29845"/>
            <a:endParaRPr lang="en-US" sz="3200" spc="1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8480" marR="29845" indent="-457200"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IF,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ents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32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appear</a:t>
            </a:r>
            <a:r>
              <a:rPr lang="en-US" sz="32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32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5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ESS.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8480" marR="29845" indent="-457200">
              <a:buFont typeface="Wingdings" panose="05000000000000000000" pitchFamily="2" charset="2"/>
              <a:buChar char="Ø"/>
            </a:pP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8480" marR="29845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general form of these statements are:</a:t>
            </a: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32760" y="65841"/>
            <a:ext cx="538734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PROCESS 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STATEMENT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58615" y="909281"/>
            <a:ext cx="1244873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10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en-US" sz="3200" spc="2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-5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</a:t>
            </a:r>
            <a:r>
              <a:rPr lang="en-US" sz="3200" spc="6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7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{,</a:t>
            </a:r>
            <a:r>
              <a:rPr lang="en-US" sz="3200" spc="-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ignal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name}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)] 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[VARIABLE 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declarati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422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4220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[W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[Sim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-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3200" spc="-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  <a:r>
              <a:rPr lang="en-US" sz="32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nts] 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[Variable 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signment 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Statements] 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[I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Statements]</a:t>
            </a:r>
            <a:endParaRPr lang="en-GB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[CASE 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Statements]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[LOOP 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057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en-US" sz="3200" spc="-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4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_labe</a:t>
            </a:r>
            <a:r>
              <a:rPr lang="en-US" sz="3200" spc="4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39240" y="88701"/>
            <a:ext cx="939546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General Form of a PROCESS 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STATEMENT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58615" y="909281"/>
            <a:ext cx="599459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expression THEN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ELSIF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057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ENDIF;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39240" y="88701"/>
            <a:ext cx="939546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General Form of an IF 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STATEMENT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9745" y="931961"/>
            <a:ext cx="599459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‘0’ THEN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F &lt;= x1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 spc="-2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&lt;= x2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GB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ENDIF;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65697" y="4540734"/>
          <a:ext cx="354037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197"/>
                <a:gridCol w="689317"/>
                <a:gridCol w="618979"/>
                <a:gridCol w="1359877"/>
              </a:tblGrid>
              <a:tr h="37342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SEL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X1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X2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F=MUL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</a:tr>
              <a:tr h="37342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</a:tr>
              <a:tr h="37342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</a:tr>
              <a:tr h="37342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</a:tr>
              <a:tr h="37342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4234" y="23637"/>
            <a:ext cx="11727765" cy="578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30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PROCESS STATEMENT USING IF-THEN-ELSE</a:t>
            </a:r>
            <a:endParaRPr kumimoji="0" lang="en-US" sz="30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456029" y="1045329"/>
            <a:ext cx="12448735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kumimoji="0" lang="en-US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sz="20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mux2to1 IS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PORT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: IN STD_LOGIC;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          Z       : OUT STD_LOGIC); 			                   	            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mux2to1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mux2to1 IS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PROCESS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BEGIN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IF s = ‘0’ THEN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END IF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END PROCESS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END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667044" y="568275"/>
            <a:ext cx="128590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 STATEMENT using if-then-else statement for 2-to-1 Multiplexer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6776" y="65841"/>
            <a:ext cx="11141612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ALTERNATIVE CODE FOR IF-THEN-ELSE STATEMENT</a:t>
            </a:r>
            <a:endParaRPr kumimoji="0" lang="en-US" sz="32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3794" y="890587"/>
            <a:ext cx="104300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kumimoji="0" lang="en-US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sz="20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mux2to1 IS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PORT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: IN STD_LOGIC;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         Z        : OUT STD_LOGIC); 			                   	            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mux2to1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mux2to1 IS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PROCESS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BEGIN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IF s = ‘1’ THEN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IF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END PROCESS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END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13825" y="1056333"/>
            <a:ext cx="1244873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case statement is similar to selected signal assignment in that the case statement has a selection signal and includes WHEN clauses for various valuations of this selection signal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77920" y="-11547"/>
            <a:ext cx="9891827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PROCESS STATEMENT WITH CASE STATEMENT </a:t>
            </a:r>
            <a:endParaRPr kumimoji="0" lang="en-US" sz="32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297764" y="4806742"/>
            <a:ext cx="115519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general form of a CASE statement and the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STATEMENT for 2-to-1 Multiplexer 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 presented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next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7145" y="901661"/>
            <a:ext cx="839489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CASE expression IS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WHEN  </a:t>
            </a:r>
            <a:r>
              <a:rPr lang="en-US" sz="3200" spc="-2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nt_value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 </a:t>
            </a:r>
            <a:r>
              <a:rPr lang="en-US" sz="3200" spc="-2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nt_value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WHEN  OTHERS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057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END CASE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39240" y="88701"/>
            <a:ext cx="939546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General Form of a CASE 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STATEMENT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8474" y="-11547"/>
            <a:ext cx="11823894" cy="578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30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PROCESS STATEMENT USING CASE STATEMENT</a:t>
            </a:r>
            <a:endParaRPr kumimoji="0" lang="en-US" sz="30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" pitchFamily="2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7013" y="623297"/>
            <a:ext cx="1100679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kumimoji="0" lang="en-US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sz="20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mux2to1 IS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PORT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: IN STD_LOGIC;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          Z       : OUT STD_LOGIC); 			                   	            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mux2to1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mux2to1 IS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PROCESS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BEGIN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CASE s IS                             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	WHEN ‘0’ =&gt;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WHEN OTHERS  =&gt;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   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CASE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END PROCESS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END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1"/>
          <a:srcRect l="26257" t="13005" r="41004" b="13990"/>
          <a:stretch>
            <a:fillRect/>
          </a:stretch>
        </p:blipFill>
        <p:spPr bwMode="auto">
          <a:xfrm>
            <a:off x="4614202" y="53920"/>
            <a:ext cx="5372833" cy="6735355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-413825" y="1056333"/>
            <a:ext cx="490141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code that describes a process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 of a 2-to-4 binary decoder using a CASE statement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7145" y="901661"/>
            <a:ext cx="924833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10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32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32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</a:t>
            </a:r>
            <a:r>
              <a:rPr lang="en-US" sz="3200" spc="6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7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3200" spc="6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variable_name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range LOOP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LOOP [</a:t>
            </a:r>
            <a:r>
              <a:rPr lang="en-US" sz="32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32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</a:t>
            </a:r>
            <a:r>
              <a:rPr lang="en-US" sz="3200" spc="6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7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39240" y="88701"/>
            <a:ext cx="939546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General Form of LOOP 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STATEMENTS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84585" y="4056341"/>
            <a:ext cx="924833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10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32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32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</a:t>
            </a:r>
            <a:r>
              <a:rPr lang="en-US" sz="3200" spc="6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7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WHILE </a:t>
            </a:r>
            <a:r>
              <a:rPr lang="en-US" sz="3200" spc="65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3200" spc="6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_expression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LOOP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LOOP [</a:t>
            </a:r>
            <a:r>
              <a:rPr lang="en-US" sz="32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32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</a:t>
            </a:r>
            <a:r>
              <a:rPr lang="en-US" sz="3200" spc="6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7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2601" y="1168947"/>
            <a:ext cx="104968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10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VHDL code to represent the months of the  year using a CASE statement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15154" y="88701"/>
            <a:ext cx="3651738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ASSIGNMENT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0</TotalTime>
  <Words>10860</Words>
  <Application>WPS Presentation</Application>
  <PresentationFormat>Widescreen</PresentationFormat>
  <Paragraphs>408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SimSun</vt:lpstr>
      <vt:lpstr>Wingdings</vt:lpstr>
      <vt:lpstr>Arial Black</vt:lpstr>
      <vt:lpstr>AR DELANEY</vt:lpstr>
      <vt:lpstr>Verdana</vt:lpstr>
      <vt:lpstr>Arial Narrow</vt:lpstr>
      <vt:lpstr>Nunito</vt:lpstr>
      <vt:lpstr>Segoe Print</vt:lpstr>
      <vt:lpstr>Times New Roman</vt:lpstr>
      <vt:lpstr>Calibri</vt:lpstr>
      <vt:lpstr>Tw Cen MT</vt:lpstr>
      <vt:lpstr>Microsoft YaHei</vt:lpstr>
      <vt:lpstr>Arial Unicode MS</vt:lpstr>
      <vt:lpstr>Droplet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Home</dc:creator>
  <cp:lastModifiedBy>WRLD KING</cp:lastModifiedBy>
  <cp:revision>231</cp:revision>
  <dcterms:created xsi:type="dcterms:W3CDTF">2023-10-25T13:01:00Z</dcterms:created>
  <dcterms:modified xsi:type="dcterms:W3CDTF">2026-01-28T09:24:16Z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758DC5E5678E43408584B14A06F44057_12</vt:lpwstr>
  </property>
  <property fmtid="{D5CDD505-2E9C-101B-9397-08002B2CF9AE}" pid="3" name="KSOProductBuildVer">
    <vt:lpwstr>1033-12.2.0.21931</vt:lpwstr>
  </property>
</Properties>
</file>