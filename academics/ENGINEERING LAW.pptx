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124"/>
  </p:handoutMasterIdLst>
  <p:sldIdLst>
    <p:sldId id="700" r:id="rId3"/>
    <p:sldId id="701" r:id="rId5"/>
    <p:sldId id="707" r:id="rId6"/>
    <p:sldId id="711" r:id="rId7"/>
    <p:sldId id="712" r:id="rId8"/>
    <p:sldId id="981" r:id="rId9"/>
    <p:sldId id="713" r:id="rId10"/>
    <p:sldId id="996" r:id="rId11"/>
    <p:sldId id="997" r:id="rId12"/>
    <p:sldId id="714" r:id="rId13"/>
    <p:sldId id="956" r:id="rId14"/>
    <p:sldId id="715" r:id="rId15"/>
    <p:sldId id="716" r:id="rId16"/>
    <p:sldId id="717" r:id="rId17"/>
    <p:sldId id="718" r:id="rId18"/>
    <p:sldId id="719" r:id="rId19"/>
    <p:sldId id="973" r:id="rId20"/>
    <p:sldId id="975" r:id="rId21"/>
    <p:sldId id="976" r:id="rId22"/>
    <p:sldId id="977" r:id="rId23"/>
    <p:sldId id="978" r:id="rId24"/>
    <p:sldId id="980" r:id="rId25"/>
    <p:sldId id="734" r:id="rId26"/>
    <p:sldId id="735" r:id="rId27"/>
    <p:sldId id="746" r:id="rId28"/>
    <p:sldId id="747" r:id="rId29"/>
    <p:sldId id="748" r:id="rId30"/>
    <p:sldId id="749" r:id="rId31"/>
    <p:sldId id="982" r:id="rId32"/>
    <p:sldId id="750" r:id="rId33"/>
    <p:sldId id="751" r:id="rId34"/>
    <p:sldId id="752" r:id="rId35"/>
    <p:sldId id="753" r:id="rId36"/>
    <p:sldId id="754" r:id="rId37"/>
    <p:sldId id="755" r:id="rId38"/>
    <p:sldId id="758" r:id="rId39"/>
    <p:sldId id="759" r:id="rId40"/>
    <p:sldId id="760" r:id="rId41"/>
    <p:sldId id="761" r:id="rId42"/>
    <p:sldId id="763" r:id="rId43"/>
    <p:sldId id="984" r:id="rId44"/>
    <p:sldId id="985" r:id="rId45"/>
    <p:sldId id="986" r:id="rId46"/>
    <p:sldId id="764" r:id="rId47"/>
    <p:sldId id="765" r:id="rId48"/>
    <p:sldId id="992" r:id="rId49"/>
    <p:sldId id="768" r:id="rId50"/>
    <p:sldId id="769" r:id="rId51"/>
    <p:sldId id="770" r:id="rId52"/>
    <p:sldId id="773" r:id="rId53"/>
    <p:sldId id="775" r:id="rId54"/>
    <p:sldId id="1010" r:id="rId55"/>
    <p:sldId id="1011" r:id="rId56"/>
    <p:sldId id="785" r:id="rId57"/>
    <p:sldId id="786" r:id="rId58"/>
    <p:sldId id="787" r:id="rId59"/>
    <p:sldId id="788" r:id="rId60"/>
    <p:sldId id="792" r:id="rId61"/>
    <p:sldId id="793" r:id="rId62"/>
    <p:sldId id="794" r:id="rId63"/>
    <p:sldId id="795" r:id="rId64"/>
    <p:sldId id="796" r:id="rId65"/>
    <p:sldId id="797" r:id="rId66"/>
    <p:sldId id="798" r:id="rId67"/>
    <p:sldId id="812" r:id="rId68"/>
    <p:sldId id="813" r:id="rId69"/>
    <p:sldId id="814" r:id="rId70"/>
    <p:sldId id="815" r:id="rId71"/>
    <p:sldId id="816" r:id="rId72"/>
    <p:sldId id="817" r:id="rId73"/>
    <p:sldId id="818" r:id="rId74"/>
    <p:sldId id="819" r:id="rId75"/>
    <p:sldId id="1026" r:id="rId76"/>
    <p:sldId id="1027" r:id="rId77"/>
    <p:sldId id="834" r:id="rId78"/>
    <p:sldId id="835" r:id="rId79"/>
    <p:sldId id="836" r:id="rId80"/>
    <p:sldId id="837" r:id="rId81"/>
    <p:sldId id="838" r:id="rId82"/>
    <p:sldId id="839" r:id="rId83"/>
    <p:sldId id="840" r:id="rId84"/>
    <p:sldId id="841" r:id="rId85"/>
    <p:sldId id="842" r:id="rId86"/>
    <p:sldId id="846" r:id="rId87"/>
    <p:sldId id="847" r:id="rId88"/>
    <p:sldId id="848" r:id="rId89"/>
    <p:sldId id="858" r:id="rId90"/>
    <p:sldId id="860" r:id="rId91"/>
    <p:sldId id="862" r:id="rId92"/>
    <p:sldId id="863" r:id="rId93"/>
    <p:sldId id="864" r:id="rId94"/>
    <p:sldId id="865" r:id="rId95"/>
    <p:sldId id="866" r:id="rId96"/>
    <p:sldId id="867" r:id="rId97"/>
    <p:sldId id="868" r:id="rId98"/>
    <p:sldId id="869" r:id="rId99"/>
    <p:sldId id="870" r:id="rId100"/>
    <p:sldId id="871" r:id="rId101"/>
    <p:sldId id="872" r:id="rId102"/>
    <p:sldId id="873" r:id="rId103"/>
    <p:sldId id="884" r:id="rId104"/>
    <p:sldId id="885" r:id="rId105"/>
    <p:sldId id="886" r:id="rId106"/>
    <p:sldId id="893" r:id="rId107"/>
    <p:sldId id="894" r:id="rId108"/>
    <p:sldId id="895" r:id="rId109"/>
    <p:sldId id="896" r:id="rId110"/>
    <p:sldId id="897" r:id="rId111"/>
    <p:sldId id="898" r:id="rId112"/>
    <p:sldId id="917" r:id="rId113"/>
    <p:sldId id="918" r:id="rId114"/>
    <p:sldId id="919" r:id="rId115"/>
    <p:sldId id="920" r:id="rId116"/>
    <p:sldId id="1028" r:id="rId117"/>
    <p:sldId id="921" r:id="rId118"/>
    <p:sldId id="922" r:id="rId119"/>
    <p:sldId id="1029" r:id="rId120"/>
    <p:sldId id="928" r:id="rId121"/>
    <p:sldId id="1030" r:id="rId122"/>
    <p:sldId id="955" r:id="rId123"/>
  </p:sldIdLst>
  <p:sldSz cx="9144000" cy="6858000" type="screen4x3"/>
  <p:notesSz cx="9185275" cy="7038975"/>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b="1" kern="1200">
        <a:solidFill>
          <a:schemeClr val="tx1"/>
        </a:solidFill>
        <a:latin typeface="Georgia" panose="02040502050405020303" pitchFamily="18" charset="0"/>
        <a:ea typeface="+mn-ea"/>
        <a:cs typeface="+mn-cs"/>
      </a:defRPr>
    </a:lvl1pPr>
    <a:lvl2pPr marL="457200" algn="ctr" rtl="0" eaLnBrk="0" fontAlgn="base" hangingPunct="0">
      <a:spcBef>
        <a:spcPct val="0"/>
      </a:spcBef>
      <a:spcAft>
        <a:spcPct val="0"/>
      </a:spcAft>
      <a:defRPr b="1" kern="1200">
        <a:solidFill>
          <a:schemeClr val="tx1"/>
        </a:solidFill>
        <a:latin typeface="Georgia" panose="02040502050405020303" pitchFamily="18" charset="0"/>
        <a:ea typeface="+mn-ea"/>
        <a:cs typeface="+mn-cs"/>
      </a:defRPr>
    </a:lvl2pPr>
    <a:lvl3pPr marL="914400" algn="ctr" rtl="0" eaLnBrk="0" fontAlgn="base" hangingPunct="0">
      <a:spcBef>
        <a:spcPct val="0"/>
      </a:spcBef>
      <a:spcAft>
        <a:spcPct val="0"/>
      </a:spcAft>
      <a:defRPr b="1" kern="1200">
        <a:solidFill>
          <a:schemeClr val="tx1"/>
        </a:solidFill>
        <a:latin typeface="Georgia" panose="02040502050405020303" pitchFamily="18" charset="0"/>
        <a:ea typeface="+mn-ea"/>
        <a:cs typeface="+mn-cs"/>
      </a:defRPr>
    </a:lvl3pPr>
    <a:lvl4pPr marL="1371600" algn="ctr" rtl="0" eaLnBrk="0" fontAlgn="base" hangingPunct="0">
      <a:spcBef>
        <a:spcPct val="0"/>
      </a:spcBef>
      <a:spcAft>
        <a:spcPct val="0"/>
      </a:spcAft>
      <a:defRPr b="1" kern="1200">
        <a:solidFill>
          <a:schemeClr val="tx1"/>
        </a:solidFill>
        <a:latin typeface="Georgia" panose="02040502050405020303" pitchFamily="18" charset="0"/>
        <a:ea typeface="+mn-ea"/>
        <a:cs typeface="+mn-cs"/>
      </a:defRPr>
    </a:lvl4pPr>
    <a:lvl5pPr marL="1828800" algn="ctr" rtl="0" eaLnBrk="0" fontAlgn="base" hangingPunct="0">
      <a:spcBef>
        <a:spcPct val="0"/>
      </a:spcBef>
      <a:spcAft>
        <a:spcPct val="0"/>
      </a:spcAft>
      <a:defRPr b="1" kern="1200">
        <a:solidFill>
          <a:schemeClr val="tx1"/>
        </a:solidFill>
        <a:latin typeface="Georgia" panose="02040502050405020303" pitchFamily="18" charset="0"/>
        <a:ea typeface="+mn-ea"/>
        <a:cs typeface="+mn-cs"/>
      </a:defRPr>
    </a:lvl5pPr>
    <a:lvl6pPr marL="2286000" algn="l" defTabSz="914400" rtl="0" eaLnBrk="1" latinLnBrk="0" hangingPunct="1">
      <a:defRPr b="1" kern="1200">
        <a:solidFill>
          <a:schemeClr val="tx1"/>
        </a:solidFill>
        <a:latin typeface="Georgia" panose="02040502050405020303" pitchFamily="18" charset="0"/>
        <a:ea typeface="+mn-ea"/>
        <a:cs typeface="+mn-cs"/>
      </a:defRPr>
    </a:lvl6pPr>
    <a:lvl7pPr marL="2743200" algn="l" defTabSz="914400" rtl="0" eaLnBrk="1" latinLnBrk="0" hangingPunct="1">
      <a:defRPr b="1" kern="1200">
        <a:solidFill>
          <a:schemeClr val="tx1"/>
        </a:solidFill>
        <a:latin typeface="Georgia" panose="02040502050405020303" pitchFamily="18" charset="0"/>
        <a:ea typeface="+mn-ea"/>
        <a:cs typeface="+mn-cs"/>
      </a:defRPr>
    </a:lvl7pPr>
    <a:lvl8pPr marL="3200400" algn="l" defTabSz="914400" rtl="0" eaLnBrk="1" latinLnBrk="0" hangingPunct="1">
      <a:defRPr b="1" kern="1200">
        <a:solidFill>
          <a:schemeClr val="tx1"/>
        </a:solidFill>
        <a:latin typeface="Georgia" panose="02040502050405020303" pitchFamily="18" charset="0"/>
        <a:ea typeface="+mn-ea"/>
        <a:cs typeface="+mn-cs"/>
      </a:defRPr>
    </a:lvl8pPr>
    <a:lvl9pPr marL="3657600" algn="l" defTabSz="914400" rtl="0" eaLnBrk="1" latinLnBrk="0" hangingPunct="1">
      <a:defRPr b="1" kern="1200">
        <a:solidFill>
          <a:schemeClr val="tx1"/>
        </a:solidFill>
        <a:latin typeface="Georgia" panose="02040502050405020303" pitchFamily="18" charset="0"/>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8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333333"/>
    <a:srgbClr val="66FFCC"/>
    <a:srgbClr val="111111"/>
    <a:srgbClr val="00CC00"/>
    <a:srgbClr val="006600"/>
    <a:srgbClr val="FF3300"/>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9" autoAdjust="0"/>
    <p:restoredTop sz="94640" autoAdjust="0"/>
  </p:normalViewPr>
  <p:slideViewPr>
    <p:cSldViewPr showGuides="1">
      <p:cViewPr varScale="1">
        <p:scale>
          <a:sx n="65" d="100"/>
          <a:sy n="65" d="100"/>
        </p:scale>
        <p:origin x="804" y="78"/>
      </p:cViewPr>
      <p:guideLst>
        <p:guide orient="horz" pos="3120"/>
        <p:guide pos="28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55" d="100"/>
          <a:sy n="55" d="100"/>
        </p:scale>
        <p:origin x="-1722" y="-78"/>
      </p:cViewPr>
      <p:guideLst>
        <p:guide orient="horz" pos="2216"/>
        <p:guide pos="2886"/>
      </p:guideLst>
    </p:cSldViewPr>
  </p:notes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7" Type="http://schemas.openxmlformats.org/officeDocument/2006/relationships/tableStyles" Target="tableStyles.xml"/><Relationship Id="rId126" Type="http://schemas.openxmlformats.org/officeDocument/2006/relationships/viewProps" Target="viewProps.xml"/><Relationship Id="rId125" Type="http://schemas.openxmlformats.org/officeDocument/2006/relationships/presProps" Target="presProps.xml"/><Relationship Id="rId124" Type="http://schemas.openxmlformats.org/officeDocument/2006/relationships/handoutMaster" Target="handoutMasters/handoutMaster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DD47D5E-8BF1-4E6F-B4D2-D41BD7DAAC7D}" type="doc">
      <dgm:prSet loTypeId="urn:microsoft.com/office/officeart/2005/8/layout/radial5" loCatId="cycle" qsTypeId="urn:microsoft.com/office/officeart/2005/8/quickstyle/simple1" qsCatId="simple" csTypeId="urn:microsoft.com/office/officeart/2005/8/colors/colorful1#1" csCatId="colorful" phldr="1"/>
      <dgm:spPr/>
      <dgm:t>
        <a:bodyPr/>
        <a:lstStyle/>
        <a:p>
          <a:endParaRPr lang="en-US"/>
        </a:p>
      </dgm:t>
    </dgm:pt>
    <dgm:pt modelId="{A703A083-A5FA-495D-8522-66F883E613CA}">
      <dgm:prSet phldrT="[Text]" custT="1"/>
      <dgm:spPr/>
      <dgm:t>
        <a:bodyPr/>
        <a:lstStyle/>
        <a:p>
          <a:r>
            <a:rPr lang="en-US" sz="2000" dirty="0"/>
            <a:t>B.E.M.E</a:t>
          </a:r>
        </a:p>
      </dgm:t>
    </dgm:pt>
    <dgm:pt modelId="{F96FC8EC-DAF3-431A-B16F-287176C8B00C}" cxnId="{7DBA0546-17FA-45AF-A9AD-F8B43F172DEA}" type="parTrans">
      <dgm:prSet/>
      <dgm:spPr/>
      <dgm:t>
        <a:bodyPr/>
        <a:lstStyle/>
        <a:p>
          <a:endParaRPr lang="en-US"/>
        </a:p>
      </dgm:t>
    </dgm:pt>
    <dgm:pt modelId="{4D0A9DE9-3051-4ED5-A63D-3AFD3845B86B}" cxnId="{7DBA0546-17FA-45AF-A9AD-F8B43F172DEA}" type="sibTrans">
      <dgm:prSet/>
      <dgm:spPr/>
      <dgm:t>
        <a:bodyPr/>
        <a:lstStyle/>
        <a:p>
          <a:endParaRPr lang="en-US"/>
        </a:p>
      </dgm:t>
    </dgm:pt>
    <dgm:pt modelId="{AC75FEBF-FA45-46C3-A318-426B7F22DCA1}">
      <dgm:prSet phldrT="[Text]" custT="1"/>
      <dgm:spPr/>
      <dgm:t>
        <a:bodyPr/>
        <a:lstStyle/>
        <a:p>
          <a:r>
            <a:rPr lang="en-US" sz="2000" dirty="0"/>
            <a:t>Heading</a:t>
          </a:r>
        </a:p>
      </dgm:t>
    </dgm:pt>
    <dgm:pt modelId="{4BB9484E-35A9-47CB-93C5-6F9C36B48DD9}" cxnId="{9BB77CDF-CA1B-4E69-85A2-7DD12F9F45C2}" type="parTrans">
      <dgm:prSet/>
      <dgm:spPr/>
      <dgm:t>
        <a:bodyPr/>
        <a:lstStyle/>
        <a:p>
          <a:endParaRPr lang="en-US"/>
        </a:p>
      </dgm:t>
    </dgm:pt>
    <dgm:pt modelId="{A3B4B8CC-07A8-4FDC-9D05-DB357E52AD80}" cxnId="{9BB77CDF-CA1B-4E69-85A2-7DD12F9F45C2}" type="sibTrans">
      <dgm:prSet/>
      <dgm:spPr/>
      <dgm:t>
        <a:bodyPr/>
        <a:lstStyle/>
        <a:p>
          <a:endParaRPr lang="en-US"/>
        </a:p>
      </dgm:t>
    </dgm:pt>
    <dgm:pt modelId="{BF50191F-7EFF-4A1B-90EA-4C6ED7FC7A8E}">
      <dgm:prSet phldrT="[Text]" custT="1"/>
      <dgm:spPr/>
      <dgm:t>
        <a:bodyPr/>
        <a:lstStyle/>
        <a:p>
          <a:r>
            <a:rPr lang="en-US" sz="2000" dirty="0"/>
            <a:t>Item</a:t>
          </a:r>
        </a:p>
      </dgm:t>
    </dgm:pt>
    <dgm:pt modelId="{20C7A169-8AF0-4FEC-97CE-E8AAF36AA6F3}" cxnId="{EEA11ECA-848F-470D-8C1C-3A85ED7C0159}" type="parTrans">
      <dgm:prSet/>
      <dgm:spPr/>
      <dgm:t>
        <a:bodyPr/>
        <a:lstStyle/>
        <a:p>
          <a:endParaRPr lang="en-US"/>
        </a:p>
      </dgm:t>
    </dgm:pt>
    <dgm:pt modelId="{160C7C24-FC4D-402F-BEBD-0C905FA9AB9B}" cxnId="{EEA11ECA-848F-470D-8C1C-3A85ED7C0159}" type="sibTrans">
      <dgm:prSet/>
      <dgm:spPr/>
      <dgm:t>
        <a:bodyPr/>
        <a:lstStyle/>
        <a:p>
          <a:endParaRPr lang="en-US"/>
        </a:p>
      </dgm:t>
    </dgm:pt>
    <dgm:pt modelId="{72EBF346-672F-4A36-ACAA-46A610B82C47}">
      <dgm:prSet phldrT="[Text]" custT="1"/>
      <dgm:spPr/>
      <dgm:t>
        <a:bodyPr/>
        <a:lstStyle/>
        <a:p>
          <a:r>
            <a:rPr lang="en-US" sz="2000" dirty="0"/>
            <a:t>Description</a:t>
          </a:r>
        </a:p>
      </dgm:t>
    </dgm:pt>
    <dgm:pt modelId="{5ABBB9D2-6815-40B3-A6E5-33306ECF3F19}" cxnId="{0FBCF7E4-8210-4DAB-B964-62563D250033}" type="parTrans">
      <dgm:prSet/>
      <dgm:spPr/>
      <dgm:t>
        <a:bodyPr/>
        <a:lstStyle/>
        <a:p>
          <a:endParaRPr lang="en-US"/>
        </a:p>
      </dgm:t>
    </dgm:pt>
    <dgm:pt modelId="{02EC69A1-69A1-43E8-B55C-5DEEBBEE3AED}" cxnId="{0FBCF7E4-8210-4DAB-B964-62563D250033}" type="sibTrans">
      <dgm:prSet/>
      <dgm:spPr/>
      <dgm:t>
        <a:bodyPr/>
        <a:lstStyle/>
        <a:p>
          <a:endParaRPr lang="en-US"/>
        </a:p>
      </dgm:t>
    </dgm:pt>
    <dgm:pt modelId="{DBFFAE8C-DF61-42C3-AF3F-F2EE341B5A82}">
      <dgm:prSet phldrT="[Text]" custT="1"/>
      <dgm:spPr/>
      <dgm:t>
        <a:bodyPr/>
        <a:lstStyle/>
        <a:p>
          <a:r>
            <a:rPr lang="en-US" sz="2000" dirty="0"/>
            <a:t>Unit</a:t>
          </a:r>
        </a:p>
      </dgm:t>
    </dgm:pt>
    <dgm:pt modelId="{F40F0654-C4F6-4086-84A5-6E6A66DE6964}" cxnId="{128A3B94-2000-427D-8857-D7FF93130C9C}" type="parTrans">
      <dgm:prSet/>
      <dgm:spPr/>
      <dgm:t>
        <a:bodyPr/>
        <a:lstStyle/>
        <a:p>
          <a:endParaRPr lang="en-US"/>
        </a:p>
      </dgm:t>
    </dgm:pt>
    <dgm:pt modelId="{7658B18C-976B-472B-A6EA-33BE42106DC9}" cxnId="{128A3B94-2000-427D-8857-D7FF93130C9C}" type="sibTrans">
      <dgm:prSet/>
      <dgm:spPr/>
      <dgm:t>
        <a:bodyPr/>
        <a:lstStyle/>
        <a:p>
          <a:endParaRPr lang="en-US"/>
        </a:p>
      </dgm:t>
    </dgm:pt>
    <dgm:pt modelId="{5D167AE3-D32A-464E-9333-5AE65C0F3252}">
      <dgm:prSet custT="1"/>
      <dgm:spPr/>
      <dgm:t>
        <a:bodyPr/>
        <a:lstStyle/>
        <a:p>
          <a:r>
            <a:rPr lang="en-US" sz="2000" dirty="0"/>
            <a:t>Quantity</a:t>
          </a:r>
        </a:p>
      </dgm:t>
    </dgm:pt>
    <dgm:pt modelId="{27834737-79A9-4A74-82CE-FFF06B2BFC9B}" cxnId="{BBDACD80-DA65-47B5-97B5-A9992F400F72}" type="parTrans">
      <dgm:prSet/>
      <dgm:spPr/>
      <dgm:t>
        <a:bodyPr/>
        <a:lstStyle/>
        <a:p>
          <a:endParaRPr lang="en-US"/>
        </a:p>
      </dgm:t>
    </dgm:pt>
    <dgm:pt modelId="{44B4A6C5-8E2F-4913-AFA8-7BD21F14C5DC}" cxnId="{BBDACD80-DA65-47B5-97B5-A9992F400F72}" type="sibTrans">
      <dgm:prSet/>
      <dgm:spPr/>
      <dgm:t>
        <a:bodyPr/>
        <a:lstStyle/>
        <a:p>
          <a:endParaRPr lang="en-US"/>
        </a:p>
      </dgm:t>
    </dgm:pt>
    <dgm:pt modelId="{6DFE5403-9D97-41D8-85A3-658E8320F4E2}">
      <dgm:prSet custT="1"/>
      <dgm:spPr/>
      <dgm:t>
        <a:bodyPr/>
        <a:lstStyle/>
        <a:p>
          <a:r>
            <a:rPr lang="en-US" sz="2000" dirty="0"/>
            <a:t>Rate</a:t>
          </a:r>
        </a:p>
      </dgm:t>
    </dgm:pt>
    <dgm:pt modelId="{9F29D224-C0D4-4C9E-97A7-BDE24E973A43}" cxnId="{CC15C001-FD59-49DA-B388-19CCCD53CB6D}" type="parTrans">
      <dgm:prSet/>
      <dgm:spPr/>
      <dgm:t>
        <a:bodyPr/>
        <a:lstStyle/>
        <a:p>
          <a:endParaRPr lang="en-US"/>
        </a:p>
      </dgm:t>
    </dgm:pt>
    <dgm:pt modelId="{7730DF09-B07B-4EF9-AEC1-C3754B406F00}" cxnId="{CC15C001-FD59-49DA-B388-19CCCD53CB6D}" type="sibTrans">
      <dgm:prSet/>
      <dgm:spPr/>
      <dgm:t>
        <a:bodyPr/>
        <a:lstStyle/>
        <a:p>
          <a:endParaRPr lang="en-US"/>
        </a:p>
      </dgm:t>
    </dgm:pt>
    <dgm:pt modelId="{C43E6A35-6EFE-4142-8570-8F467B55593C}">
      <dgm:prSet custT="1"/>
      <dgm:spPr/>
      <dgm:t>
        <a:bodyPr/>
        <a:lstStyle/>
        <a:p>
          <a:r>
            <a:rPr lang="en-US" sz="2000" dirty="0"/>
            <a:t>Amount</a:t>
          </a:r>
        </a:p>
      </dgm:t>
    </dgm:pt>
    <dgm:pt modelId="{BC994035-A0F9-4319-AFFB-960431041FB4}" cxnId="{84FB2EDD-FAF5-4E64-A017-88195FF518CB}" type="parTrans">
      <dgm:prSet/>
      <dgm:spPr/>
      <dgm:t>
        <a:bodyPr/>
        <a:lstStyle/>
        <a:p>
          <a:endParaRPr lang="en-US"/>
        </a:p>
      </dgm:t>
    </dgm:pt>
    <dgm:pt modelId="{5AD75F1D-6908-4C82-850E-909AF154ABFC}" cxnId="{84FB2EDD-FAF5-4E64-A017-88195FF518CB}" type="sibTrans">
      <dgm:prSet/>
      <dgm:spPr/>
      <dgm:t>
        <a:bodyPr/>
        <a:lstStyle/>
        <a:p>
          <a:endParaRPr lang="en-US"/>
        </a:p>
      </dgm:t>
    </dgm:pt>
    <dgm:pt modelId="{5171619F-D22D-475E-BF5D-B12F996A2887}">
      <dgm:prSet custT="1"/>
      <dgm:spPr/>
      <dgm:t>
        <a:bodyPr/>
        <a:lstStyle/>
        <a:p>
          <a:r>
            <a:rPr lang="en-US" sz="2000" dirty="0"/>
            <a:t>Summary</a:t>
          </a:r>
        </a:p>
      </dgm:t>
    </dgm:pt>
    <dgm:pt modelId="{D216E94C-04E1-4B7E-A79C-5D8DFFB88AF7}" cxnId="{962BDE75-64AC-4A84-BAD0-6B152622A7DC}" type="parTrans">
      <dgm:prSet/>
      <dgm:spPr/>
      <dgm:t>
        <a:bodyPr/>
        <a:lstStyle/>
        <a:p>
          <a:endParaRPr lang="en-US"/>
        </a:p>
      </dgm:t>
    </dgm:pt>
    <dgm:pt modelId="{CA01C94D-2A87-41DE-A0A5-B7A9D653784B}" cxnId="{962BDE75-64AC-4A84-BAD0-6B152622A7DC}" type="sibTrans">
      <dgm:prSet/>
      <dgm:spPr/>
      <dgm:t>
        <a:bodyPr/>
        <a:lstStyle/>
        <a:p>
          <a:endParaRPr lang="en-US"/>
        </a:p>
      </dgm:t>
    </dgm:pt>
    <dgm:pt modelId="{9197F43B-CC63-4978-8F3E-F17923526048}" type="pres">
      <dgm:prSet presAssocID="{EDD47D5E-8BF1-4E6F-B4D2-D41BD7DAAC7D}" presName="Name0" presStyleCnt="0">
        <dgm:presLayoutVars>
          <dgm:chMax val="1"/>
          <dgm:dir/>
          <dgm:animLvl val="ctr"/>
          <dgm:resizeHandles val="exact"/>
        </dgm:presLayoutVars>
      </dgm:prSet>
      <dgm:spPr/>
    </dgm:pt>
    <dgm:pt modelId="{1945ACC4-83DB-4AB6-B42F-C35556074C32}" type="pres">
      <dgm:prSet presAssocID="{A703A083-A5FA-495D-8522-66F883E613CA}" presName="centerShape" presStyleLbl="node0" presStyleIdx="0" presStyleCnt="1" custScaleX="171561"/>
      <dgm:spPr/>
    </dgm:pt>
    <dgm:pt modelId="{0C9FF0C7-8F2A-4C98-AC63-CEDC3BDB545E}" type="pres">
      <dgm:prSet presAssocID="{4BB9484E-35A9-47CB-93C5-6F9C36B48DD9}" presName="parTrans" presStyleLbl="sibTrans2D1" presStyleIdx="0" presStyleCnt="8"/>
      <dgm:spPr/>
    </dgm:pt>
    <dgm:pt modelId="{E3217B92-8725-4D6C-BCB5-5CFEB8AC563A}" type="pres">
      <dgm:prSet presAssocID="{4BB9484E-35A9-47CB-93C5-6F9C36B48DD9}" presName="connectorText" presStyleLbl="sibTrans2D1" presStyleIdx="0" presStyleCnt="8"/>
      <dgm:spPr/>
    </dgm:pt>
    <dgm:pt modelId="{7752D946-D5CC-4372-A3BF-8C43442A4950}" type="pres">
      <dgm:prSet presAssocID="{AC75FEBF-FA45-46C3-A318-426B7F22DCA1}" presName="node" presStyleLbl="node1" presStyleIdx="0" presStyleCnt="8" custScaleX="171561">
        <dgm:presLayoutVars>
          <dgm:bulletEnabled val="1"/>
        </dgm:presLayoutVars>
      </dgm:prSet>
      <dgm:spPr/>
    </dgm:pt>
    <dgm:pt modelId="{86F70A20-E999-41BA-9801-A7C0528FFF67}" type="pres">
      <dgm:prSet presAssocID="{20C7A169-8AF0-4FEC-97CE-E8AAF36AA6F3}" presName="parTrans" presStyleLbl="sibTrans2D1" presStyleIdx="1" presStyleCnt="8"/>
      <dgm:spPr/>
    </dgm:pt>
    <dgm:pt modelId="{66E75045-B6FE-4DD7-97F5-441961E68B0E}" type="pres">
      <dgm:prSet presAssocID="{20C7A169-8AF0-4FEC-97CE-E8AAF36AA6F3}" presName="connectorText" presStyleLbl="sibTrans2D1" presStyleIdx="1" presStyleCnt="8"/>
      <dgm:spPr/>
    </dgm:pt>
    <dgm:pt modelId="{C4A0D20A-4CD3-4C84-9872-CDCA106E1275}" type="pres">
      <dgm:prSet presAssocID="{BF50191F-7EFF-4A1B-90EA-4C6ED7FC7A8E}" presName="node" presStyleLbl="node1" presStyleIdx="1" presStyleCnt="8" custScaleX="171561">
        <dgm:presLayoutVars>
          <dgm:bulletEnabled val="1"/>
        </dgm:presLayoutVars>
      </dgm:prSet>
      <dgm:spPr/>
    </dgm:pt>
    <dgm:pt modelId="{5F5E1440-4972-43FB-8C84-64E7861DACB5}" type="pres">
      <dgm:prSet presAssocID="{5ABBB9D2-6815-40B3-A6E5-33306ECF3F19}" presName="parTrans" presStyleLbl="sibTrans2D1" presStyleIdx="2" presStyleCnt="8"/>
      <dgm:spPr/>
    </dgm:pt>
    <dgm:pt modelId="{99C5399B-314B-44B4-97F5-B85E5E781D2B}" type="pres">
      <dgm:prSet presAssocID="{5ABBB9D2-6815-40B3-A6E5-33306ECF3F19}" presName="connectorText" presStyleLbl="sibTrans2D1" presStyleIdx="2" presStyleCnt="8"/>
      <dgm:spPr/>
    </dgm:pt>
    <dgm:pt modelId="{47DC14B7-E9DD-4347-944D-7DB8D5B621BD}" type="pres">
      <dgm:prSet presAssocID="{72EBF346-672F-4A36-ACAA-46A610B82C47}" presName="node" presStyleLbl="node1" presStyleIdx="2" presStyleCnt="8" custScaleX="171561">
        <dgm:presLayoutVars>
          <dgm:bulletEnabled val="1"/>
        </dgm:presLayoutVars>
      </dgm:prSet>
      <dgm:spPr/>
    </dgm:pt>
    <dgm:pt modelId="{4F70645C-709F-46A8-815D-FF2C0F88BFE1}" type="pres">
      <dgm:prSet presAssocID="{F40F0654-C4F6-4086-84A5-6E6A66DE6964}" presName="parTrans" presStyleLbl="sibTrans2D1" presStyleIdx="3" presStyleCnt="8"/>
      <dgm:spPr/>
    </dgm:pt>
    <dgm:pt modelId="{171C2A47-DF8B-409D-90D7-0EE60734BFF6}" type="pres">
      <dgm:prSet presAssocID="{F40F0654-C4F6-4086-84A5-6E6A66DE6964}" presName="connectorText" presStyleLbl="sibTrans2D1" presStyleIdx="3" presStyleCnt="8"/>
      <dgm:spPr/>
    </dgm:pt>
    <dgm:pt modelId="{959D5186-DC01-43AB-AC29-0C58D7F3ADDA}" type="pres">
      <dgm:prSet presAssocID="{DBFFAE8C-DF61-42C3-AF3F-F2EE341B5A82}" presName="node" presStyleLbl="node1" presStyleIdx="3" presStyleCnt="8" custScaleX="171561">
        <dgm:presLayoutVars>
          <dgm:bulletEnabled val="1"/>
        </dgm:presLayoutVars>
      </dgm:prSet>
      <dgm:spPr/>
    </dgm:pt>
    <dgm:pt modelId="{22CC6FC9-E3D9-4B5B-A8DD-2727A1FD6521}" type="pres">
      <dgm:prSet presAssocID="{27834737-79A9-4A74-82CE-FFF06B2BFC9B}" presName="parTrans" presStyleLbl="sibTrans2D1" presStyleIdx="4" presStyleCnt="8"/>
      <dgm:spPr/>
    </dgm:pt>
    <dgm:pt modelId="{ABF39210-F481-4A4C-943D-95217C5ABD33}" type="pres">
      <dgm:prSet presAssocID="{27834737-79A9-4A74-82CE-FFF06B2BFC9B}" presName="connectorText" presStyleLbl="sibTrans2D1" presStyleIdx="4" presStyleCnt="8"/>
      <dgm:spPr/>
    </dgm:pt>
    <dgm:pt modelId="{E5B29D41-8E6B-46D4-A871-9AF6BAF5A3B3}" type="pres">
      <dgm:prSet presAssocID="{5D167AE3-D32A-464E-9333-5AE65C0F3252}" presName="node" presStyleLbl="node1" presStyleIdx="4" presStyleCnt="8" custScaleX="171561" custRadScaleRad="98392" custRadScaleInc="2657">
        <dgm:presLayoutVars>
          <dgm:bulletEnabled val="1"/>
        </dgm:presLayoutVars>
      </dgm:prSet>
      <dgm:spPr/>
    </dgm:pt>
    <dgm:pt modelId="{B395FC3E-58C4-47DB-BA1A-73C780EED74F}" type="pres">
      <dgm:prSet presAssocID="{9F29D224-C0D4-4C9E-97A7-BDE24E973A43}" presName="parTrans" presStyleLbl="sibTrans2D1" presStyleIdx="5" presStyleCnt="8"/>
      <dgm:spPr/>
    </dgm:pt>
    <dgm:pt modelId="{07F6DD3E-7342-4595-A33F-501027814F2A}" type="pres">
      <dgm:prSet presAssocID="{9F29D224-C0D4-4C9E-97A7-BDE24E973A43}" presName="connectorText" presStyleLbl="sibTrans2D1" presStyleIdx="5" presStyleCnt="8"/>
      <dgm:spPr/>
    </dgm:pt>
    <dgm:pt modelId="{32A936D0-D9DD-4B91-8314-7C210A0D8E4D}" type="pres">
      <dgm:prSet presAssocID="{6DFE5403-9D97-41D8-85A3-658E8320F4E2}" presName="node" presStyleLbl="node1" presStyleIdx="5" presStyleCnt="8" custScaleX="171561">
        <dgm:presLayoutVars>
          <dgm:bulletEnabled val="1"/>
        </dgm:presLayoutVars>
      </dgm:prSet>
      <dgm:spPr/>
    </dgm:pt>
    <dgm:pt modelId="{2C55FB49-7F3C-45C8-B66B-DEEB115275E5}" type="pres">
      <dgm:prSet presAssocID="{BC994035-A0F9-4319-AFFB-960431041FB4}" presName="parTrans" presStyleLbl="sibTrans2D1" presStyleIdx="6" presStyleCnt="8"/>
      <dgm:spPr/>
    </dgm:pt>
    <dgm:pt modelId="{5165D447-60E6-4DE9-853B-FF11CA83EF7D}" type="pres">
      <dgm:prSet presAssocID="{BC994035-A0F9-4319-AFFB-960431041FB4}" presName="connectorText" presStyleLbl="sibTrans2D1" presStyleIdx="6" presStyleCnt="8"/>
      <dgm:spPr/>
    </dgm:pt>
    <dgm:pt modelId="{19CAAA8A-C2FB-408B-9142-AEC295991E20}" type="pres">
      <dgm:prSet presAssocID="{C43E6A35-6EFE-4142-8570-8F467B55593C}" presName="node" presStyleLbl="node1" presStyleIdx="6" presStyleCnt="8" custScaleX="171561">
        <dgm:presLayoutVars>
          <dgm:bulletEnabled val="1"/>
        </dgm:presLayoutVars>
      </dgm:prSet>
      <dgm:spPr/>
    </dgm:pt>
    <dgm:pt modelId="{D979C0F2-2055-4CAF-AE93-81040730B53D}" type="pres">
      <dgm:prSet presAssocID="{D216E94C-04E1-4B7E-A79C-5D8DFFB88AF7}" presName="parTrans" presStyleLbl="sibTrans2D1" presStyleIdx="7" presStyleCnt="8"/>
      <dgm:spPr/>
    </dgm:pt>
    <dgm:pt modelId="{391BCE14-8F22-497D-A04F-E395C34BBF28}" type="pres">
      <dgm:prSet presAssocID="{D216E94C-04E1-4B7E-A79C-5D8DFFB88AF7}" presName="connectorText" presStyleLbl="sibTrans2D1" presStyleIdx="7" presStyleCnt="8"/>
      <dgm:spPr/>
    </dgm:pt>
    <dgm:pt modelId="{BC2745BB-97F2-4F6C-8A4A-C57319954F95}" type="pres">
      <dgm:prSet presAssocID="{5171619F-D22D-475E-BF5D-B12F996A2887}" presName="node" presStyleLbl="node1" presStyleIdx="7" presStyleCnt="8" custScaleX="171561">
        <dgm:presLayoutVars>
          <dgm:bulletEnabled val="1"/>
        </dgm:presLayoutVars>
      </dgm:prSet>
      <dgm:spPr/>
    </dgm:pt>
  </dgm:ptLst>
  <dgm:cxnLst>
    <dgm:cxn modelId="{CC15C001-FD59-49DA-B388-19CCCD53CB6D}" srcId="{A703A083-A5FA-495D-8522-66F883E613CA}" destId="{6DFE5403-9D97-41D8-85A3-658E8320F4E2}" srcOrd="5" destOrd="0" parTransId="{9F29D224-C0D4-4C9E-97A7-BDE24E973A43}" sibTransId="{7730DF09-B07B-4EF9-AEC1-C3754B406F00}"/>
    <dgm:cxn modelId="{0632EE0E-0277-4145-8333-89C16A909A23}" type="presOf" srcId="{BF50191F-7EFF-4A1B-90EA-4C6ED7FC7A8E}" destId="{C4A0D20A-4CD3-4C84-9872-CDCA106E1275}" srcOrd="0" destOrd="0" presId="urn:microsoft.com/office/officeart/2005/8/layout/radial5"/>
    <dgm:cxn modelId="{DAEF2011-A1FB-4479-A8DE-DB47C5A5C1EE}" type="presOf" srcId="{9F29D224-C0D4-4C9E-97A7-BDE24E973A43}" destId="{07F6DD3E-7342-4595-A33F-501027814F2A}" srcOrd="1" destOrd="0" presId="urn:microsoft.com/office/officeart/2005/8/layout/radial5"/>
    <dgm:cxn modelId="{436B092F-918D-44EC-BEB5-D1829160D88A}" type="presOf" srcId="{BC994035-A0F9-4319-AFFB-960431041FB4}" destId="{5165D447-60E6-4DE9-853B-FF11CA83EF7D}" srcOrd="1" destOrd="0" presId="urn:microsoft.com/office/officeart/2005/8/layout/radial5"/>
    <dgm:cxn modelId="{EBA4A334-0108-44CC-986A-389A51D1B28B}" type="presOf" srcId="{5ABBB9D2-6815-40B3-A6E5-33306ECF3F19}" destId="{5F5E1440-4972-43FB-8C84-64E7861DACB5}" srcOrd="0" destOrd="0" presId="urn:microsoft.com/office/officeart/2005/8/layout/radial5"/>
    <dgm:cxn modelId="{87E71F5B-CC41-4593-953C-363A65756020}" type="presOf" srcId="{4BB9484E-35A9-47CB-93C5-6F9C36B48DD9}" destId="{E3217B92-8725-4D6C-BCB5-5CFEB8AC563A}" srcOrd="1" destOrd="0" presId="urn:microsoft.com/office/officeart/2005/8/layout/radial5"/>
    <dgm:cxn modelId="{B83DC25B-CC9B-4127-AC35-9F2B665AEA1E}" type="presOf" srcId="{5ABBB9D2-6815-40B3-A6E5-33306ECF3F19}" destId="{99C5399B-314B-44B4-97F5-B85E5E781D2B}" srcOrd="1" destOrd="0" presId="urn:microsoft.com/office/officeart/2005/8/layout/radial5"/>
    <dgm:cxn modelId="{1C31AA42-7AFC-48F3-9788-99F3186F5575}" type="presOf" srcId="{F40F0654-C4F6-4086-84A5-6E6A66DE6964}" destId="{4F70645C-709F-46A8-815D-FF2C0F88BFE1}" srcOrd="0" destOrd="0" presId="urn:microsoft.com/office/officeart/2005/8/layout/radial5"/>
    <dgm:cxn modelId="{7DBA0546-17FA-45AF-A9AD-F8B43F172DEA}" srcId="{EDD47D5E-8BF1-4E6F-B4D2-D41BD7DAAC7D}" destId="{A703A083-A5FA-495D-8522-66F883E613CA}" srcOrd="0" destOrd="0" parTransId="{F96FC8EC-DAF3-431A-B16F-287176C8B00C}" sibTransId="{4D0A9DE9-3051-4ED5-A63D-3AFD3845B86B}"/>
    <dgm:cxn modelId="{BC83174A-696E-4D31-857A-4BB0201903EF}" type="presOf" srcId="{9F29D224-C0D4-4C9E-97A7-BDE24E973A43}" destId="{B395FC3E-58C4-47DB-BA1A-73C780EED74F}" srcOrd="0" destOrd="0" presId="urn:microsoft.com/office/officeart/2005/8/layout/radial5"/>
    <dgm:cxn modelId="{CAD08F4C-BC82-4D4D-84EE-3C0A16794EA8}" type="presOf" srcId="{27834737-79A9-4A74-82CE-FFF06B2BFC9B}" destId="{ABF39210-F481-4A4C-943D-95217C5ABD33}" srcOrd="1" destOrd="0" presId="urn:microsoft.com/office/officeart/2005/8/layout/radial5"/>
    <dgm:cxn modelId="{0C75046D-0CDD-41D6-853E-1132D92675AA}" type="presOf" srcId="{A703A083-A5FA-495D-8522-66F883E613CA}" destId="{1945ACC4-83DB-4AB6-B42F-C35556074C32}" srcOrd="0" destOrd="0" presId="urn:microsoft.com/office/officeart/2005/8/layout/radial5"/>
    <dgm:cxn modelId="{B19EAD6F-B340-43BF-9F98-FE98DF68CD69}" type="presOf" srcId="{6DFE5403-9D97-41D8-85A3-658E8320F4E2}" destId="{32A936D0-D9DD-4B91-8314-7C210A0D8E4D}" srcOrd="0" destOrd="0" presId="urn:microsoft.com/office/officeart/2005/8/layout/radial5"/>
    <dgm:cxn modelId="{962BDE75-64AC-4A84-BAD0-6B152622A7DC}" srcId="{A703A083-A5FA-495D-8522-66F883E613CA}" destId="{5171619F-D22D-475E-BF5D-B12F996A2887}" srcOrd="7" destOrd="0" parTransId="{D216E94C-04E1-4B7E-A79C-5D8DFFB88AF7}" sibTransId="{CA01C94D-2A87-41DE-A0A5-B7A9D653784B}"/>
    <dgm:cxn modelId="{D29A3D5A-3930-42C1-B519-7BD219477CDF}" type="presOf" srcId="{BC994035-A0F9-4319-AFFB-960431041FB4}" destId="{2C55FB49-7F3C-45C8-B66B-DEEB115275E5}" srcOrd="0" destOrd="0" presId="urn:microsoft.com/office/officeart/2005/8/layout/radial5"/>
    <dgm:cxn modelId="{BBDACD80-DA65-47B5-97B5-A9992F400F72}" srcId="{A703A083-A5FA-495D-8522-66F883E613CA}" destId="{5D167AE3-D32A-464E-9333-5AE65C0F3252}" srcOrd="4" destOrd="0" parTransId="{27834737-79A9-4A74-82CE-FFF06B2BFC9B}" sibTransId="{44B4A6C5-8E2F-4913-AFA8-7BD21F14C5DC}"/>
    <dgm:cxn modelId="{07176B8C-AA69-4C8C-A911-D80054B328EB}" type="presOf" srcId="{4BB9484E-35A9-47CB-93C5-6F9C36B48DD9}" destId="{0C9FF0C7-8F2A-4C98-AC63-CEDC3BDB545E}" srcOrd="0" destOrd="0" presId="urn:microsoft.com/office/officeart/2005/8/layout/radial5"/>
    <dgm:cxn modelId="{EB2E8E8E-4CB2-454D-8BBE-7B4436D4DDD1}" type="presOf" srcId="{5171619F-D22D-475E-BF5D-B12F996A2887}" destId="{BC2745BB-97F2-4F6C-8A4A-C57319954F95}" srcOrd="0" destOrd="0" presId="urn:microsoft.com/office/officeart/2005/8/layout/radial5"/>
    <dgm:cxn modelId="{7B160391-3C94-4512-9778-1EF5564E9060}" type="presOf" srcId="{C43E6A35-6EFE-4142-8570-8F467B55593C}" destId="{19CAAA8A-C2FB-408B-9142-AEC295991E20}" srcOrd="0" destOrd="0" presId="urn:microsoft.com/office/officeart/2005/8/layout/radial5"/>
    <dgm:cxn modelId="{2E356891-AC97-46A2-8922-02F3A9110973}" type="presOf" srcId="{EDD47D5E-8BF1-4E6F-B4D2-D41BD7DAAC7D}" destId="{9197F43B-CC63-4978-8F3E-F17923526048}" srcOrd="0" destOrd="0" presId="urn:microsoft.com/office/officeart/2005/8/layout/radial5"/>
    <dgm:cxn modelId="{128A3B94-2000-427D-8857-D7FF93130C9C}" srcId="{A703A083-A5FA-495D-8522-66F883E613CA}" destId="{DBFFAE8C-DF61-42C3-AF3F-F2EE341B5A82}" srcOrd="3" destOrd="0" parTransId="{F40F0654-C4F6-4086-84A5-6E6A66DE6964}" sibTransId="{7658B18C-976B-472B-A6EA-33BE42106DC9}"/>
    <dgm:cxn modelId="{ACA8AD95-1851-4A5E-A6AD-6CCCC33FE818}" type="presOf" srcId="{72EBF346-672F-4A36-ACAA-46A610B82C47}" destId="{47DC14B7-E9DD-4347-944D-7DB8D5B621BD}" srcOrd="0" destOrd="0" presId="urn:microsoft.com/office/officeart/2005/8/layout/radial5"/>
    <dgm:cxn modelId="{89BF66A5-BD46-44B3-8739-4DE42BF613CE}" type="presOf" srcId="{D216E94C-04E1-4B7E-A79C-5D8DFFB88AF7}" destId="{D979C0F2-2055-4CAF-AE93-81040730B53D}" srcOrd="0" destOrd="0" presId="urn:microsoft.com/office/officeart/2005/8/layout/radial5"/>
    <dgm:cxn modelId="{17A8D4A9-8568-4859-BBF2-5C3BB421D98F}" type="presOf" srcId="{F40F0654-C4F6-4086-84A5-6E6A66DE6964}" destId="{171C2A47-DF8B-409D-90D7-0EE60734BFF6}" srcOrd="1" destOrd="0" presId="urn:microsoft.com/office/officeart/2005/8/layout/radial5"/>
    <dgm:cxn modelId="{D14A19C2-B143-49E2-AEC4-136703F8DC34}" type="presOf" srcId="{5D167AE3-D32A-464E-9333-5AE65C0F3252}" destId="{E5B29D41-8E6B-46D4-A871-9AF6BAF5A3B3}" srcOrd="0" destOrd="0" presId="urn:microsoft.com/office/officeart/2005/8/layout/radial5"/>
    <dgm:cxn modelId="{CB844DC2-F5BA-4F86-AE7B-6EE959E76789}" type="presOf" srcId="{27834737-79A9-4A74-82CE-FFF06B2BFC9B}" destId="{22CC6FC9-E3D9-4B5B-A8DD-2727A1FD6521}" srcOrd="0" destOrd="0" presId="urn:microsoft.com/office/officeart/2005/8/layout/radial5"/>
    <dgm:cxn modelId="{EEA11ECA-848F-470D-8C1C-3A85ED7C0159}" srcId="{A703A083-A5FA-495D-8522-66F883E613CA}" destId="{BF50191F-7EFF-4A1B-90EA-4C6ED7FC7A8E}" srcOrd="1" destOrd="0" parTransId="{20C7A169-8AF0-4FEC-97CE-E8AAF36AA6F3}" sibTransId="{160C7C24-FC4D-402F-BEBD-0C905FA9AB9B}"/>
    <dgm:cxn modelId="{F801B1D4-5404-450A-851D-89F516F5BE0B}" type="presOf" srcId="{D216E94C-04E1-4B7E-A79C-5D8DFFB88AF7}" destId="{391BCE14-8F22-497D-A04F-E395C34BBF28}" srcOrd="1" destOrd="0" presId="urn:microsoft.com/office/officeart/2005/8/layout/radial5"/>
    <dgm:cxn modelId="{84FB2EDD-FAF5-4E64-A017-88195FF518CB}" srcId="{A703A083-A5FA-495D-8522-66F883E613CA}" destId="{C43E6A35-6EFE-4142-8570-8F467B55593C}" srcOrd="6" destOrd="0" parTransId="{BC994035-A0F9-4319-AFFB-960431041FB4}" sibTransId="{5AD75F1D-6908-4C82-850E-909AF154ABFC}"/>
    <dgm:cxn modelId="{9BB77CDF-CA1B-4E69-85A2-7DD12F9F45C2}" srcId="{A703A083-A5FA-495D-8522-66F883E613CA}" destId="{AC75FEBF-FA45-46C3-A318-426B7F22DCA1}" srcOrd="0" destOrd="0" parTransId="{4BB9484E-35A9-47CB-93C5-6F9C36B48DD9}" sibTransId="{A3B4B8CC-07A8-4FDC-9D05-DB357E52AD80}"/>
    <dgm:cxn modelId="{0FBCF7E4-8210-4DAB-B964-62563D250033}" srcId="{A703A083-A5FA-495D-8522-66F883E613CA}" destId="{72EBF346-672F-4A36-ACAA-46A610B82C47}" srcOrd="2" destOrd="0" parTransId="{5ABBB9D2-6815-40B3-A6E5-33306ECF3F19}" sibTransId="{02EC69A1-69A1-43E8-B55C-5DEEBBEE3AED}"/>
    <dgm:cxn modelId="{000398E7-2749-4157-B680-8530B0E04687}" type="presOf" srcId="{20C7A169-8AF0-4FEC-97CE-E8AAF36AA6F3}" destId="{86F70A20-E999-41BA-9801-A7C0528FFF67}" srcOrd="0" destOrd="0" presId="urn:microsoft.com/office/officeart/2005/8/layout/radial5"/>
    <dgm:cxn modelId="{6011B7EE-5370-4E1E-B27F-E385A94F7393}" type="presOf" srcId="{20C7A169-8AF0-4FEC-97CE-E8AAF36AA6F3}" destId="{66E75045-B6FE-4DD7-97F5-441961E68B0E}" srcOrd="1" destOrd="0" presId="urn:microsoft.com/office/officeart/2005/8/layout/radial5"/>
    <dgm:cxn modelId="{46D77EF0-C5CD-4669-B05E-CC27A7EC1F65}" type="presOf" srcId="{AC75FEBF-FA45-46C3-A318-426B7F22DCA1}" destId="{7752D946-D5CC-4372-A3BF-8C43442A4950}" srcOrd="0" destOrd="0" presId="urn:microsoft.com/office/officeart/2005/8/layout/radial5"/>
    <dgm:cxn modelId="{931D1FFB-01BB-4593-AA69-0F01CBCC791D}" type="presOf" srcId="{DBFFAE8C-DF61-42C3-AF3F-F2EE341B5A82}" destId="{959D5186-DC01-43AB-AC29-0C58D7F3ADDA}" srcOrd="0" destOrd="0" presId="urn:microsoft.com/office/officeart/2005/8/layout/radial5"/>
    <dgm:cxn modelId="{2470DA2C-B2EC-4D26-9078-3D76F21865AD}" type="presParOf" srcId="{9197F43B-CC63-4978-8F3E-F17923526048}" destId="{1945ACC4-83DB-4AB6-B42F-C35556074C32}" srcOrd="0" destOrd="0" presId="urn:microsoft.com/office/officeart/2005/8/layout/radial5"/>
    <dgm:cxn modelId="{44325D02-00EC-4DA2-9787-E7B4FAD208B3}" type="presParOf" srcId="{9197F43B-CC63-4978-8F3E-F17923526048}" destId="{0C9FF0C7-8F2A-4C98-AC63-CEDC3BDB545E}" srcOrd="1" destOrd="0" presId="urn:microsoft.com/office/officeart/2005/8/layout/radial5"/>
    <dgm:cxn modelId="{1565DC06-CE69-47FE-863D-3A626758C176}" type="presParOf" srcId="{0C9FF0C7-8F2A-4C98-AC63-CEDC3BDB545E}" destId="{E3217B92-8725-4D6C-BCB5-5CFEB8AC563A}" srcOrd="0" destOrd="0" presId="urn:microsoft.com/office/officeart/2005/8/layout/radial5"/>
    <dgm:cxn modelId="{2120FC19-947E-45BB-925D-DD34EBDEE703}" type="presParOf" srcId="{9197F43B-CC63-4978-8F3E-F17923526048}" destId="{7752D946-D5CC-4372-A3BF-8C43442A4950}" srcOrd="2" destOrd="0" presId="urn:microsoft.com/office/officeart/2005/8/layout/radial5"/>
    <dgm:cxn modelId="{2801561B-CFC4-48AE-88F4-B2201DD4F3F3}" type="presParOf" srcId="{9197F43B-CC63-4978-8F3E-F17923526048}" destId="{86F70A20-E999-41BA-9801-A7C0528FFF67}" srcOrd="3" destOrd="0" presId="urn:microsoft.com/office/officeart/2005/8/layout/radial5"/>
    <dgm:cxn modelId="{F99AC3D4-9F62-42B0-A8ED-664AE67C5C3D}" type="presParOf" srcId="{86F70A20-E999-41BA-9801-A7C0528FFF67}" destId="{66E75045-B6FE-4DD7-97F5-441961E68B0E}" srcOrd="0" destOrd="0" presId="urn:microsoft.com/office/officeart/2005/8/layout/radial5"/>
    <dgm:cxn modelId="{6A4A7515-0D2D-4C5C-95B9-E17509950F58}" type="presParOf" srcId="{9197F43B-CC63-4978-8F3E-F17923526048}" destId="{C4A0D20A-4CD3-4C84-9872-CDCA106E1275}" srcOrd="4" destOrd="0" presId="urn:microsoft.com/office/officeart/2005/8/layout/radial5"/>
    <dgm:cxn modelId="{F03B35A7-4497-4FD9-BA96-C51A7959BD05}" type="presParOf" srcId="{9197F43B-CC63-4978-8F3E-F17923526048}" destId="{5F5E1440-4972-43FB-8C84-64E7861DACB5}" srcOrd="5" destOrd="0" presId="urn:microsoft.com/office/officeart/2005/8/layout/radial5"/>
    <dgm:cxn modelId="{292B0E8D-EA3A-4FEE-BE03-556C31627507}" type="presParOf" srcId="{5F5E1440-4972-43FB-8C84-64E7861DACB5}" destId="{99C5399B-314B-44B4-97F5-B85E5E781D2B}" srcOrd="0" destOrd="0" presId="urn:microsoft.com/office/officeart/2005/8/layout/radial5"/>
    <dgm:cxn modelId="{0B4A3171-FC8F-4D9C-A45C-45E21E256C10}" type="presParOf" srcId="{9197F43B-CC63-4978-8F3E-F17923526048}" destId="{47DC14B7-E9DD-4347-944D-7DB8D5B621BD}" srcOrd="6" destOrd="0" presId="urn:microsoft.com/office/officeart/2005/8/layout/radial5"/>
    <dgm:cxn modelId="{88469DB1-CA98-48AF-8D37-DBAEC5CCDE9B}" type="presParOf" srcId="{9197F43B-CC63-4978-8F3E-F17923526048}" destId="{4F70645C-709F-46A8-815D-FF2C0F88BFE1}" srcOrd="7" destOrd="0" presId="urn:microsoft.com/office/officeart/2005/8/layout/radial5"/>
    <dgm:cxn modelId="{A3AB6529-47BC-4317-B58F-7763A688A613}" type="presParOf" srcId="{4F70645C-709F-46A8-815D-FF2C0F88BFE1}" destId="{171C2A47-DF8B-409D-90D7-0EE60734BFF6}" srcOrd="0" destOrd="0" presId="urn:microsoft.com/office/officeart/2005/8/layout/radial5"/>
    <dgm:cxn modelId="{8E98D76F-2F01-4624-9C28-7B863C9EA119}" type="presParOf" srcId="{9197F43B-CC63-4978-8F3E-F17923526048}" destId="{959D5186-DC01-43AB-AC29-0C58D7F3ADDA}" srcOrd="8" destOrd="0" presId="urn:microsoft.com/office/officeart/2005/8/layout/radial5"/>
    <dgm:cxn modelId="{8745AFE3-ADF4-49BA-959C-9C726D6F3B08}" type="presParOf" srcId="{9197F43B-CC63-4978-8F3E-F17923526048}" destId="{22CC6FC9-E3D9-4B5B-A8DD-2727A1FD6521}" srcOrd="9" destOrd="0" presId="urn:microsoft.com/office/officeart/2005/8/layout/radial5"/>
    <dgm:cxn modelId="{83E2E835-F97A-4826-85D1-211ECF36BC2D}" type="presParOf" srcId="{22CC6FC9-E3D9-4B5B-A8DD-2727A1FD6521}" destId="{ABF39210-F481-4A4C-943D-95217C5ABD33}" srcOrd="0" destOrd="0" presId="urn:microsoft.com/office/officeart/2005/8/layout/radial5"/>
    <dgm:cxn modelId="{CB3447B8-281C-4182-A82F-440D35D445E5}" type="presParOf" srcId="{9197F43B-CC63-4978-8F3E-F17923526048}" destId="{E5B29D41-8E6B-46D4-A871-9AF6BAF5A3B3}" srcOrd="10" destOrd="0" presId="urn:microsoft.com/office/officeart/2005/8/layout/radial5"/>
    <dgm:cxn modelId="{6D5A8462-F4A3-40FF-9979-2AC8FFE4A361}" type="presParOf" srcId="{9197F43B-CC63-4978-8F3E-F17923526048}" destId="{B395FC3E-58C4-47DB-BA1A-73C780EED74F}" srcOrd="11" destOrd="0" presId="urn:microsoft.com/office/officeart/2005/8/layout/radial5"/>
    <dgm:cxn modelId="{D6A7767D-F56A-4030-9BA6-18336E3092CC}" type="presParOf" srcId="{B395FC3E-58C4-47DB-BA1A-73C780EED74F}" destId="{07F6DD3E-7342-4595-A33F-501027814F2A}" srcOrd="0" destOrd="0" presId="urn:microsoft.com/office/officeart/2005/8/layout/radial5"/>
    <dgm:cxn modelId="{0B9132C7-8F62-40DB-84FF-48B3F5C8CBE5}" type="presParOf" srcId="{9197F43B-CC63-4978-8F3E-F17923526048}" destId="{32A936D0-D9DD-4B91-8314-7C210A0D8E4D}" srcOrd="12" destOrd="0" presId="urn:microsoft.com/office/officeart/2005/8/layout/radial5"/>
    <dgm:cxn modelId="{C4773DE9-2EC0-4EE7-A0DF-8A66384A638E}" type="presParOf" srcId="{9197F43B-CC63-4978-8F3E-F17923526048}" destId="{2C55FB49-7F3C-45C8-B66B-DEEB115275E5}" srcOrd="13" destOrd="0" presId="urn:microsoft.com/office/officeart/2005/8/layout/radial5"/>
    <dgm:cxn modelId="{959E5133-E9EE-4920-A1DB-5FF5B9018CDB}" type="presParOf" srcId="{2C55FB49-7F3C-45C8-B66B-DEEB115275E5}" destId="{5165D447-60E6-4DE9-853B-FF11CA83EF7D}" srcOrd="0" destOrd="0" presId="urn:microsoft.com/office/officeart/2005/8/layout/radial5"/>
    <dgm:cxn modelId="{2772587D-3A26-48B9-850B-C32F04B0AAA5}" type="presParOf" srcId="{9197F43B-CC63-4978-8F3E-F17923526048}" destId="{19CAAA8A-C2FB-408B-9142-AEC295991E20}" srcOrd="14" destOrd="0" presId="urn:microsoft.com/office/officeart/2005/8/layout/radial5"/>
    <dgm:cxn modelId="{D9E179EC-9E3C-4DA3-B775-B99C0261133B}" type="presParOf" srcId="{9197F43B-CC63-4978-8F3E-F17923526048}" destId="{D979C0F2-2055-4CAF-AE93-81040730B53D}" srcOrd="15" destOrd="0" presId="urn:microsoft.com/office/officeart/2005/8/layout/radial5"/>
    <dgm:cxn modelId="{B6290116-55E4-429E-95F3-5CFA341CE21C}" type="presParOf" srcId="{D979C0F2-2055-4CAF-AE93-81040730B53D}" destId="{391BCE14-8F22-497D-A04F-E395C34BBF28}" srcOrd="0" destOrd="0" presId="urn:microsoft.com/office/officeart/2005/8/layout/radial5"/>
    <dgm:cxn modelId="{1688AB8E-0A95-4325-8808-2F190B6F3D3B}" type="presParOf" srcId="{9197F43B-CC63-4978-8F3E-F17923526048}" destId="{BC2745BB-97F2-4F6C-8A4A-C57319954F95}" srcOrd="16" destOrd="0" presId="urn:microsoft.com/office/officeart/2005/8/layout/radial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45ACC4-83DB-4AB6-B42F-C35556074C32}">
      <dsp:nvSpPr>
        <dsp:cNvPr id="0" name=""/>
        <dsp:cNvSpPr/>
      </dsp:nvSpPr>
      <dsp:spPr>
        <a:xfrm>
          <a:off x="3151202" y="2126760"/>
          <a:ext cx="2338554" cy="1363103"/>
        </a:xfrm>
        <a:prstGeom prst="ellipse">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B.E.M.E</a:t>
          </a:r>
        </a:p>
      </dsp:txBody>
      <dsp:txXfrm>
        <a:off x="3493675" y="2326382"/>
        <a:ext cx="1653608" cy="963859"/>
      </dsp:txXfrm>
    </dsp:sp>
    <dsp:sp modelId="{0C9FF0C7-8F2A-4C98-AC63-CEDC3BDB545E}">
      <dsp:nvSpPr>
        <dsp:cNvPr id="0" name=""/>
        <dsp:cNvSpPr/>
      </dsp:nvSpPr>
      <dsp:spPr>
        <a:xfrm rot="16200000">
          <a:off x="4095662" y="1474300"/>
          <a:ext cx="449634" cy="48200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163107" y="1638146"/>
        <a:ext cx="314744" cy="289201"/>
      </dsp:txXfrm>
    </dsp:sp>
    <dsp:sp modelId="{7752D946-D5CC-4372-A3BF-8C43442A4950}">
      <dsp:nvSpPr>
        <dsp:cNvPr id="0" name=""/>
        <dsp:cNvSpPr/>
      </dsp:nvSpPr>
      <dsp:spPr>
        <a:xfrm>
          <a:off x="3226013" y="2501"/>
          <a:ext cx="2188932" cy="1275891"/>
        </a:xfrm>
        <a:prstGeom prst="ellipse">
          <a:avLst/>
        </a:prstGeom>
        <a:solidFill>
          <a:schemeClr val="accent2">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Heading</a:t>
          </a:r>
        </a:p>
      </dsp:txBody>
      <dsp:txXfrm>
        <a:off x="3546575" y="189351"/>
        <a:ext cx="1547808" cy="902191"/>
      </dsp:txXfrm>
    </dsp:sp>
    <dsp:sp modelId="{86F70A20-E999-41BA-9801-A7C0528FFF67}">
      <dsp:nvSpPr>
        <dsp:cNvPr id="0" name=""/>
        <dsp:cNvSpPr/>
      </dsp:nvSpPr>
      <dsp:spPr>
        <a:xfrm rot="18900000">
          <a:off x="4952619" y="1787911"/>
          <a:ext cx="294517" cy="48200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965558" y="1915550"/>
        <a:ext cx="206162" cy="289201"/>
      </dsp:txXfrm>
    </dsp:sp>
    <dsp:sp modelId="{C4A0D20A-4CD3-4C84-9872-CDCA106E1275}">
      <dsp:nvSpPr>
        <dsp:cNvPr id="0" name=""/>
        <dsp:cNvSpPr/>
      </dsp:nvSpPr>
      <dsp:spPr>
        <a:xfrm>
          <a:off x="4758925" y="637454"/>
          <a:ext cx="2188932" cy="1275891"/>
        </a:xfrm>
        <a:prstGeom prst="ellipse">
          <a:avLst/>
        </a:prstGeom>
        <a:solidFill>
          <a:schemeClr val="accent3">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Item</a:t>
          </a:r>
        </a:p>
      </dsp:txBody>
      <dsp:txXfrm>
        <a:off x="5079487" y="824304"/>
        <a:ext cx="1547808" cy="902191"/>
      </dsp:txXfrm>
    </dsp:sp>
    <dsp:sp modelId="{5F5E1440-4972-43FB-8C84-64E7861DACB5}">
      <dsp:nvSpPr>
        <dsp:cNvPr id="0" name=""/>
        <dsp:cNvSpPr/>
      </dsp:nvSpPr>
      <dsp:spPr>
        <a:xfrm rot="10800000">
          <a:off x="5417847" y="2567310"/>
          <a:ext cx="50815" cy="482003"/>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5433091" y="2663711"/>
        <a:ext cx="35571" cy="289201"/>
      </dsp:txXfrm>
    </dsp:sp>
    <dsp:sp modelId="{47DC14B7-E9DD-4347-944D-7DB8D5B621BD}">
      <dsp:nvSpPr>
        <dsp:cNvPr id="0" name=""/>
        <dsp:cNvSpPr/>
      </dsp:nvSpPr>
      <dsp:spPr>
        <a:xfrm>
          <a:off x="5393878" y="2170366"/>
          <a:ext cx="2188932" cy="1275891"/>
        </a:xfrm>
        <a:prstGeom prst="ellipse">
          <a:avLst/>
        </a:prstGeom>
        <a:solidFill>
          <a:schemeClr val="accent4">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Description</a:t>
          </a:r>
        </a:p>
      </dsp:txBody>
      <dsp:txXfrm>
        <a:off x="5714440" y="2357216"/>
        <a:ext cx="1547808" cy="902191"/>
      </dsp:txXfrm>
    </dsp:sp>
    <dsp:sp modelId="{4F70645C-709F-46A8-815D-FF2C0F88BFE1}">
      <dsp:nvSpPr>
        <dsp:cNvPr id="0" name=""/>
        <dsp:cNvSpPr/>
      </dsp:nvSpPr>
      <dsp:spPr>
        <a:xfrm rot="2700000">
          <a:off x="4952619" y="3346708"/>
          <a:ext cx="294517" cy="482003"/>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965558" y="3411871"/>
        <a:ext cx="206162" cy="289201"/>
      </dsp:txXfrm>
    </dsp:sp>
    <dsp:sp modelId="{959D5186-DC01-43AB-AC29-0C58D7F3ADDA}">
      <dsp:nvSpPr>
        <dsp:cNvPr id="0" name=""/>
        <dsp:cNvSpPr/>
      </dsp:nvSpPr>
      <dsp:spPr>
        <a:xfrm>
          <a:off x="4758925" y="3703277"/>
          <a:ext cx="2188932" cy="1275891"/>
        </a:xfrm>
        <a:prstGeom prst="ellipse">
          <a:avLst/>
        </a:prstGeom>
        <a:solidFill>
          <a:schemeClr val="accent5">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Unit</a:t>
          </a:r>
        </a:p>
      </dsp:txBody>
      <dsp:txXfrm>
        <a:off x="5079487" y="3890127"/>
        <a:ext cx="1547808" cy="902191"/>
      </dsp:txXfrm>
    </dsp:sp>
    <dsp:sp modelId="{22CC6FC9-E3D9-4B5B-A8DD-2727A1FD6521}">
      <dsp:nvSpPr>
        <dsp:cNvPr id="0" name=""/>
        <dsp:cNvSpPr/>
      </dsp:nvSpPr>
      <dsp:spPr>
        <a:xfrm rot="5435870">
          <a:off x="4093685" y="3643356"/>
          <a:ext cx="431133" cy="482003"/>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4159030" y="3675091"/>
        <a:ext cx="301793" cy="289201"/>
      </dsp:txXfrm>
    </dsp:sp>
    <dsp:sp modelId="{E5B29D41-8E6B-46D4-A871-9AF6BAF5A3B3}">
      <dsp:nvSpPr>
        <dsp:cNvPr id="0" name=""/>
        <dsp:cNvSpPr/>
      </dsp:nvSpPr>
      <dsp:spPr>
        <a:xfrm>
          <a:off x="3203758" y="4303255"/>
          <a:ext cx="2188932" cy="1275891"/>
        </a:xfrm>
        <a:prstGeom prst="ellipse">
          <a:avLst/>
        </a:prstGeom>
        <a:solidFill>
          <a:schemeClr val="accent6">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Quantity</a:t>
          </a:r>
        </a:p>
      </dsp:txBody>
      <dsp:txXfrm>
        <a:off x="3524320" y="4490105"/>
        <a:ext cx="1547808" cy="902191"/>
      </dsp:txXfrm>
    </dsp:sp>
    <dsp:sp modelId="{B395FC3E-58C4-47DB-BA1A-73C780EED74F}">
      <dsp:nvSpPr>
        <dsp:cNvPr id="0" name=""/>
        <dsp:cNvSpPr/>
      </dsp:nvSpPr>
      <dsp:spPr>
        <a:xfrm rot="8100000">
          <a:off x="3393822" y="3346708"/>
          <a:ext cx="294517" cy="48200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3469238" y="3411871"/>
        <a:ext cx="206162" cy="289201"/>
      </dsp:txXfrm>
    </dsp:sp>
    <dsp:sp modelId="{32A936D0-D9DD-4B91-8314-7C210A0D8E4D}">
      <dsp:nvSpPr>
        <dsp:cNvPr id="0" name=""/>
        <dsp:cNvSpPr/>
      </dsp:nvSpPr>
      <dsp:spPr>
        <a:xfrm>
          <a:off x="1693102" y="3703277"/>
          <a:ext cx="2188932" cy="1275891"/>
        </a:xfrm>
        <a:prstGeom prst="ellipse">
          <a:avLst/>
        </a:prstGeom>
        <a:solidFill>
          <a:schemeClr val="accent2">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Rate</a:t>
          </a:r>
        </a:p>
      </dsp:txBody>
      <dsp:txXfrm>
        <a:off x="2013664" y="3890127"/>
        <a:ext cx="1547808" cy="902191"/>
      </dsp:txXfrm>
    </dsp:sp>
    <dsp:sp modelId="{2C55FB49-7F3C-45C8-B66B-DEEB115275E5}">
      <dsp:nvSpPr>
        <dsp:cNvPr id="0" name=""/>
        <dsp:cNvSpPr/>
      </dsp:nvSpPr>
      <dsp:spPr>
        <a:xfrm>
          <a:off x="3172296" y="2567310"/>
          <a:ext cx="50815" cy="48200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3172296" y="2663711"/>
        <a:ext cx="35571" cy="289201"/>
      </dsp:txXfrm>
    </dsp:sp>
    <dsp:sp modelId="{19CAAA8A-C2FB-408B-9142-AEC295991E20}">
      <dsp:nvSpPr>
        <dsp:cNvPr id="0" name=""/>
        <dsp:cNvSpPr/>
      </dsp:nvSpPr>
      <dsp:spPr>
        <a:xfrm>
          <a:off x="1058149" y="2170366"/>
          <a:ext cx="2188932" cy="1275891"/>
        </a:xfrm>
        <a:prstGeom prst="ellipse">
          <a:avLst/>
        </a:prstGeom>
        <a:solidFill>
          <a:schemeClr val="accent3">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Amount</a:t>
          </a:r>
        </a:p>
      </dsp:txBody>
      <dsp:txXfrm>
        <a:off x="1378711" y="2357216"/>
        <a:ext cx="1547808" cy="902191"/>
      </dsp:txXfrm>
    </dsp:sp>
    <dsp:sp modelId="{D979C0F2-2055-4CAF-AE93-81040730B53D}">
      <dsp:nvSpPr>
        <dsp:cNvPr id="0" name=""/>
        <dsp:cNvSpPr/>
      </dsp:nvSpPr>
      <dsp:spPr>
        <a:xfrm rot="13500000">
          <a:off x="3393822" y="1787911"/>
          <a:ext cx="294517" cy="482003"/>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3469238" y="1915550"/>
        <a:ext cx="206162" cy="289201"/>
      </dsp:txXfrm>
    </dsp:sp>
    <dsp:sp modelId="{BC2745BB-97F2-4F6C-8A4A-C57319954F95}">
      <dsp:nvSpPr>
        <dsp:cNvPr id="0" name=""/>
        <dsp:cNvSpPr/>
      </dsp:nvSpPr>
      <dsp:spPr>
        <a:xfrm>
          <a:off x="1693102" y="637454"/>
          <a:ext cx="2188932" cy="1275891"/>
        </a:xfrm>
        <a:prstGeom prst="ellipse">
          <a:avLst/>
        </a:prstGeom>
        <a:solidFill>
          <a:schemeClr val="accent4">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Summary</a:t>
          </a:r>
        </a:p>
      </dsp:txBody>
      <dsp:txXfrm>
        <a:off x="2013664" y="824304"/>
        <a:ext cx="1547808" cy="902191"/>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23963" y="3343275"/>
            <a:ext cx="6737350" cy="3187700"/>
          </a:xfrm>
          <a:prstGeom prst="rect">
            <a:avLst/>
          </a:prstGeom>
          <a:noFill/>
          <a:ln w="12700">
            <a:noFill/>
            <a:miter lim="800000"/>
          </a:ln>
          <a:effectLst/>
        </p:spPr>
        <p:txBody>
          <a:bodyPr vert="horz" wrap="square" lIns="92062" tIns="45223" rIns="92062" bIns="45223"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27651" name="Rectangle 3"/>
          <p:cNvSpPr>
            <a:spLocks noGrp="1" noRot="1" noChangeAspect="1" noChangeArrowheads="1" noTextEdit="1"/>
          </p:cNvSpPr>
          <p:nvPr>
            <p:ph type="sldImg" idx="2"/>
          </p:nvPr>
        </p:nvSpPr>
        <p:spPr bwMode="auto">
          <a:xfrm>
            <a:off x="2824163" y="522288"/>
            <a:ext cx="3536950" cy="2652712"/>
          </a:xfrm>
          <a:prstGeom prst="rect">
            <a:avLst/>
          </a:prstGeom>
          <a:noFill/>
          <a:ln w="12700">
            <a:solidFill>
              <a:schemeClr val="tx1"/>
            </a:solidFill>
            <a:miter lim="800000"/>
          </a:ln>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5202864" y="6685804"/>
            <a:ext cx="3980286" cy="351949"/>
          </a:xfrm>
          <a:prstGeom prst="rect">
            <a:avLst/>
          </a:prstGeom>
        </p:spPr>
        <p:txBody>
          <a:bodyPr/>
          <a:lstStyle/>
          <a:p>
            <a:pPr>
              <a:defRPr/>
            </a:pPr>
            <a:fld id="{C338B20D-4879-4B6E-B5A0-0841005876A8}"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idx="3"/>
          </p:nvPr>
        </p:nvSpPr>
        <p:spPr/>
        <p:txBody>
          <a:bodyPr/>
          <a:p>
            <a:endParaRPr lang="en-US"/>
          </a:p>
        </p:txBody>
      </p:sp>
      <p:sp>
        <p:nvSpPr>
          <p:cNvPr id="3" name="Slide Image Placeholder 2"/>
          <p:cNvSpPr>
            <a:spLocks noGrp="1"/>
          </p:cNvSpPr>
          <p:nvPr>
            <p:ph type="sldImg" idx="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a:t>Before getting into the details of professional licensing, let’s answer the question “What is a professional engineer?  Like other professions such as medicine, law, or accounting, engineering is a profession regulated by certain laws.  Thus ...</a:t>
            </a:r>
            <a:endParaRPr lang="en-US"/>
          </a:p>
        </p:txBody>
      </p:sp>
      <p:sp>
        <p:nvSpPr>
          <p:cNvPr id="59395" name="Rectangle 3"/>
          <p:cNvSpPr>
            <a:spLocks noGrp="1" noRot="1" noChangeAspect="1" noChangeArrowheads="1" noTextEdit="1"/>
          </p:cNvSpPr>
          <p:nvPr>
            <p:ph type="sldImg"/>
          </p:nvPr>
        </p:nvSpPr>
        <p:spPr bwMode="auto">
          <a:xfrm>
            <a:off x="2840038" y="533400"/>
            <a:ext cx="3505200" cy="2628900"/>
          </a:xfrm>
          <a:noFill/>
          <a:ln cap="flat">
            <a:solidFill>
              <a:srgbClr val="000000"/>
            </a:solidFill>
            <a:miter lim="800000"/>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xfrm>
            <a:off x="5202864" y="6685804"/>
            <a:ext cx="3980286" cy="35194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1C02968A-469B-4843-BB9F-E3CDF018D158}" type="slidenum">
              <a:rPr lang="en-US" smtClean="0">
                <a:latin typeface="Times New Roman" panose="02020603050405020304" pitchFamily="18" charset="0"/>
              </a:rPr>
            </a:fld>
            <a:endParaRPr lang="en-US">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24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xfrm>
            <a:off x="5202864" y="6685804"/>
            <a:ext cx="3980286" cy="35194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386EC4DE-DE70-4004-87D8-C36BF1B15DA1}" type="slidenum">
              <a:rPr lang="en-US" smtClean="0">
                <a:latin typeface="Times New Roman" panose="02020603050405020304" pitchFamily="18" charset="0"/>
              </a:rPr>
            </a:fld>
            <a:endParaRPr lang="en-US">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3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AU"/>
          </a:p>
        </p:txBody>
      </p:sp>
      <p:sp>
        <p:nvSpPr>
          <p:cNvPr id="103428" name="Slide Number Placeholder 3"/>
          <p:cNvSpPr>
            <a:spLocks noGrp="1"/>
          </p:cNvSpPr>
          <p:nvPr>
            <p:ph type="sldNum" sz="quarter" idx="5"/>
          </p:nvPr>
        </p:nvSpPr>
        <p:spPr bwMode="auto">
          <a:xfrm>
            <a:off x="5202864" y="6685804"/>
            <a:ext cx="3980286" cy="35194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D177DCC-86C0-4063-A11B-77BC93336390}" type="slidenum">
              <a:rPr lang="en-AU" smtClean="0"/>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hemeOverride" Target="../theme/themeOverride3.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grpSp>
        <p:nvGrpSpPr>
          <p:cNvPr id="5" name="Group 15"/>
          <p:cNvGrpSpPr/>
          <p:nvPr/>
        </p:nvGrpSpPr>
        <p:grpSpPr bwMode="auto">
          <a:xfrm>
            <a:off x="-3175" y="4953000"/>
            <a:ext cx="9147175" cy="1911350"/>
            <a:chOff x="-3765" y="4832896"/>
            <a:chExt cx="9147765" cy="2032192"/>
          </a:xfrm>
        </p:grpSpPr>
        <p:sp>
          <p:nvSpPr>
            <p:cNvPr id="6" name="Freeform 5"/>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7" name="Freeform 6"/>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8" name="Freeform 7"/>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en-US"/>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lstStyle>
          <a:p>
            <a:pPr>
              <a:defRPr/>
            </a:pPr>
            <a:endParaRPr lang="en-US"/>
          </a:p>
        </p:txBody>
      </p:sp>
      <p:sp>
        <p:nvSpPr>
          <p:cNvPr id="12" name="Slide Number Placeholder 26"/>
          <p:cNvSpPr>
            <a:spLocks noGrp="1"/>
          </p:cNvSpPr>
          <p:nvPr>
            <p:ph type="sldNum" sz="quarter" idx="11"/>
          </p:nvPr>
        </p:nvSpPr>
        <p:spPr/>
        <p:txBody>
          <a:bodyPr/>
          <a:lstStyle>
            <a:lvl1pPr>
              <a:defRPr>
                <a:solidFill>
                  <a:srgbClr val="FFFFFF"/>
                </a:solidFill>
              </a:defRPr>
            </a:lvl1pPr>
          </a:lstStyle>
          <a:p>
            <a:pPr>
              <a:defRPr/>
            </a:pPr>
            <a:fld id="{608152DA-108A-4B71-BD52-6915B52C344F}" type="slidenum">
              <a:rPr lang="en-US"/>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Title 6"/>
          <p:cNvSpPr>
            <a:spLocks noGrp="1"/>
          </p:cNvSpPr>
          <p:nvPr>
            <p:ph type="title"/>
          </p:nvPr>
        </p:nvSpPr>
        <p:spPr/>
        <p:txBody>
          <a:bodyPr rtlCol="0"/>
          <a:lstStyle/>
          <a:p>
            <a:r>
              <a:rPr lang="en-US"/>
              <a:t>Click to edit Master title style</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a:t>Afram Fondamentals of Well-Logging</a:t>
            </a:r>
            <a:endParaRPr lang="en-US"/>
          </a:p>
        </p:txBody>
      </p:sp>
      <p:sp>
        <p:nvSpPr>
          <p:cNvPr id="6" name="Slide Number Placeholder 17"/>
          <p:cNvSpPr>
            <a:spLocks noGrp="1"/>
          </p:cNvSpPr>
          <p:nvPr>
            <p:ph type="sldNum" sz="quarter" idx="12"/>
          </p:nvPr>
        </p:nvSpPr>
        <p:spPr/>
        <p:txBody>
          <a:bodyPr/>
          <a:lstStyle>
            <a:lvl1pPr>
              <a:defRPr/>
            </a:lvl1pPr>
          </a:lstStyle>
          <a:p>
            <a:pPr>
              <a:defRPr/>
            </a:pPr>
            <a:fld id="{A2B5CF83-1F53-4043-8700-93E6329EBC98}" type="slidenum">
              <a:rPr lang="en-US"/>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hangingPunct="1">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hangingPunct="1">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en-US"/>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endParaRPr lang="en-US"/>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smtClean="0"/>
            </a:lvl1pPr>
          </a:lstStyle>
          <a:p>
            <a:pPr>
              <a:defRPr/>
            </a:pPr>
            <a:r>
              <a:rPr lang="en-US"/>
              <a:t>Afram Fondamentals of Well-Logging</a:t>
            </a:r>
            <a:endParaRPr lang="en-US"/>
          </a:p>
        </p:txBody>
      </p:sp>
      <p:sp>
        <p:nvSpPr>
          <p:cNvPr id="8" name="Slide Number Placeholder 5"/>
          <p:cNvSpPr>
            <a:spLocks noGrp="1"/>
          </p:cNvSpPr>
          <p:nvPr>
            <p:ph type="sldNum" sz="quarter" idx="12"/>
          </p:nvPr>
        </p:nvSpPr>
        <p:spPr/>
        <p:txBody>
          <a:bodyPr/>
          <a:lstStyle>
            <a:lvl1pPr>
              <a:defRPr/>
            </a:lvl1pPr>
          </a:lstStyle>
          <a:p>
            <a:pPr>
              <a:defRPr/>
            </a:pPr>
            <a:fld id="{035138A8-9E2B-4AFC-9740-FCD8DDA9E52F}" type="slidenum">
              <a:rPr lang="en-US"/>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Title 7"/>
          <p:cNvSpPr>
            <a:spLocks noGrp="1"/>
          </p:cNvSpPr>
          <p:nvPr>
            <p:ph type="title"/>
          </p:nvPr>
        </p:nvSpPr>
        <p:spPr/>
        <p:txBody>
          <a:bodyPr rtlCol="0"/>
          <a:lstStyle/>
          <a:p>
            <a:r>
              <a:rPr lang="en-US"/>
              <a:t>Click to edit Master title style</a:t>
            </a:r>
            <a:endParaRPr lang="en-US"/>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Footer Placeholder 5"/>
          <p:cNvSpPr>
            <a:spLocks noGrp="1"/>
          </p:cNvSpPr>
          <p:nvPr>
            <p:ph type="ftr" sz="quarter" idx="11"/>
          </p:nvPr>
        </p:nvSpPr>
        <p:spPr/>
        <p:txBody>
          <a:bodyPr/>
          <a:lstStyle>
            <a:lvl1pPr>
              <a:defRPr smtClean="0"/>
            </a:lvl1pPr>
          </a:lstStyle>
          <a:p>
            <a:pPr>
              <a:defRPr/>
            </a:pPr>
            <a:r>
              <a:rPr lang="en-US"/>
              <a:t>Afram Fondamentals of Well-Logging</a:t>
            </a:r>
            <a:endParaRPr lang="en-US"/>
          </a:p>
        </p:txBody>
      </p:sp>
      <p:sp>
        <p:nvSpPr>
          <p:cNvPr id="7" name="Slide Number Placeholder 6"/>
          <p:cNvSpPr>
            <a:spLocks noGrp="1"/>
          </p:cNvSpPr>
          <p:nvPr>
            <p:ph type="sldNum" sz="quarter" idx="12"/>
          </p:nvPr>
        </p:nvSpPr>
        <p:spPr/>
        <p:txBody>
          <a:bodyPr/>
          <a:lstStyle>
            <a:lvl1pPr>
              <a:defRPr/>
            </a:lvl1pPr>
          </a:lstStyle>
          <a:p>
            <a:pPr>
              <a:defRPr/>
            </a:pPr>
            <a:fld id="{0A526325-8130-48EE-8B7F-A53A346C8700}" type="slidenum">
              <a:rPr lang="en-US"/>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p>
        </p:txBody>
      </p:sp>
      <p:sp>
        <p:nvSpPr>
          <p:cNvPr id="8" name="Footer Placeholder 7"/>
          <p:cNvSpPr>
            <a:spLocks noGrp="1"/>
          </p:cNvSpPr>
          <p:nvPr>
            <p:ph type="ftr" sz="quarter" idx="11"/>
          </p:nvPr>
        </p:nvSpPr>
        <p:spPr/>
        <p:txBody>
          <a:bodyPr/>
          <a:lstStyle>
            <a:lvl1pPr>
              <a:defRPr smtClean="0"/>
            </a:lvl1pPr>
          </a:lstStyle>
          <a:p>
            <a:pPr>
              <a:defRPr/>
            </a:pPr>
            <a:r>
              <a:rPr lang="en-US"/>
              <a:t>Afram Fondamentals of Well-Logging</a:t>
            </a:r>
            <a:endParaRPr lang="en-US"/>
          </a:p>
        </p:txBody>
      </p:sp>
      <p:sp>
        <p:nvSpPr>
          <p:cNvPr id="9" name="Slide Number Placeholder 8"/>
          <p:cNvSpPr>
            <a:spLocks noGrp="1"/>
          </p:cNvSpPr>
          <p:nvPr>
            <p:ph type="sldNum" sz="quarter" idx="12"/>
          </p:nvPr>
        </p:nvSpPr>
        <p:spPr/>
        <p:txBody>
          <a:bodyPr/>
          <a:lstStyle>
            <a:lvl1pPr>
              <a:defRPr/>
            </a:lvl1pPr>
          </a:lstStyle>
          <a:p>
            <a:pPr>
              <a:defRPr/>
            </a:pPr>
            <a:fld id="{281275D0-341A-4149-8E61-72D3EE68D0F7}" type="slidenum">
              <a:rPr lang="en-US"/>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p>
        </p:txBody>
      </p:sp>
      <p:sp>
        <p:nvSpPr>
          <p:cNvPr id="3" name="Footer Placeholder 21"/>
          <p:cNvSpPr>
            <a:spLocks noGrp="1"/>
          </p:cNvSpPr>
          <p:nvPr>
            <p:ph type="ftr" sz="quarter" idx="11"/>
          </p:nvPr>
        </p:nvSpPr>
        <p:spPr/>
        <p:txBody>
          <a:bodyPr/>
          <a:lstStyle>
            <a:lvl1pPr>
              <a:defRPr/>
            </a:lvl1pPr>
          </a:lstStyle>
          <a:p>
            <a:pPr>
              <a:defRPr/>
            </a:pPr>
            <a:r>
              <a:rPr lang="en-US"/>
              <a:t>Afram Fondamentals of Well-Logging</a:t>
            </a:r>
            <a:endParaRPr lang="en-US"/>
          </a:p>
        </p:txBody>
      </p:sp>
      <p:sp>
        <p:nvSpPr>
          <p:cNvPr id="4" name="Slide Number Placeholder 17"/>
          <p:cNvSpPr>
            <a:spLocks noGrp="1"/>
          </p:cNvSpPr>
          <p:nvPr>
            <p:ph type="sldNum" sz="quarter" idx="12"/>
          </p:nvPr>
        </p:nvSpPr>
        <p:spPr/>
        <p:txBody>
          <a:bodyPr/>
          <a:lstStyle>
            <a:lvl1pPr>
              <a:defRPr/>
            </a:lvl1pPr>
          </a:lstStyle>
          <a:p>
            <a:pPr>
              <a:defRPr/>
            </a:pPr>
            <a:fld id="{E58E7603-B951-4DBC-99E9-C4A0247FFA2C}" type="slidenum">
              <a:rPr lang="en-US"/>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lstStyle>
          <a:p>
            <a:r>
              <a:rPr lang="en-US"/>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en-US"/>
              <a:t>Click to edit Master text styles</a:t>
            </a:r>
            <a:endParaRPr lang="en-US"/>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Footer Placeholder 5"/>
          <p:cNvSpPr>
            <a:spLocks noGrp="1"/>
          </p:cNvSpPr>
          <p:nvPr>
            <p:ph type="ftr" sz="quarter" idx="11"/>
          </p:nvPr>
        </p:nvSpPr>
        <p:spPr/>
        <p:txBody>
          <a:bodyPr/>
          <a:lstStyle>
            <a:lvl1pPr>
              <a:defRPr smtClean="0"/>
            </a:lvl1pPr>
          </a:lstStyle>
          <a:p>
            <a:pPr>
              <a:defRPr/>
            </a:pPr>
            <a:r>
              <a:rPr lang="en-US"/>
              <a:t>Afram Fondamentals of Well-Logging</a:t>
            </a:r>
            <a:endParaRPr lang="en-US"/>
          </a:p>
        </p:txBody>
      </p:sp>
      <p:sp>
        <p:nvSpPr>
          <p:cNvPr id="7" name="Slide Number Placeholder 6"/>
          <p:cNvSpPr>
            <a:spLocks noGrp="1"/>
          </p:cNvSpPr>
          <p:nvPr>
            <p:ph type="sldNum" sz="quarter" idx="12"/>
          </p:nvPr>
        </p:nvSpPr>
        <p:spPr/>
        <p:txBody>
          <a:bodyPr/>
          <a:lstStyle>
            <a:lvl1pPr>
              <a:defRPr/>
            </a:lvl1pPr>
          </a:lstStyle>
          <a:p>
            <a:pPr>
              <a:defRPr/>
            </a:pPr>
            <a:fld id="{1D9CAE6E-A42D-4891-AFF6-5836D01551F3}" type="slidenum">
              <a:rPr lang="en-US"/>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2">
        <a:schemeClr val="bg1"/>
      </p:bgRef>
    </p:bg>
    <p:spTree>
      <p:nvGrpSpPr>
        <p:cNvPr id="1" name=""/>
        <p:cNvGrpSpPr/>
        <p:nvPr/>
      </p:nvGrpSpPr>
      <p:grpSpPr>
        <a:xfrm>
          <a:off x="0" y="0"/>
          <a:ext cx="0" cy="0"/>
          <a:chOff x="0" y="0"/>
          <a:chExt cx="0" cy="0"/>
        </a:xfrm>
      </p:grpSpPr>
      <p:sp>
        <p:nvSpPr>
          <p:cNvPr id="5" name="Freeform 4"/>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6" name="Freeform 5"/>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7" name="Right Triangle 6"/>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hangingPunct="1">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hangingPunct="1">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415" indent="0" algn="r">
              <a:buNone/>
              <a:defRPr sz="1400"/>
            </a:lvl1pPr>
            <a:lvl2pPr>
              <a:defRPr sz="1200"/>
            </a:lvl2pPr>
            <a:lvl3pPr>
              <a:defRPr sz="1000"/>
            </a:lvl3pPr>
            <a:lvl4pPr>
              <a:defRPr sz="900"/>
            </a:lvl4pPr>
            <a:lvl5pPr>
              <a:defRPr sz="900"/>
            </a:lvl5pPr>
          </a:lstStyle>
          <a:p>
            <a:pPr lvl="0"/>
            <a:r>
              <a:rPr lang="en-US"/>
              <a:t>Click to edit Master text styles</a:t>
            </a:r>
            <a:endParaRPr lang="en-US"/>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en-US"/>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lstStyle>
          <a:p>
            <a:pPr>
              <a:defRPr/>
            </a:pPr>
            <a:endParaRPr lang="en-US"/>
          </a:p>
        </p:txBody>
      </p:sp>
      <p:sp>
        <p:nvSpPr>
          <p:cNvPr id="12" name="Footer Placeholder 5"/>
          <p:cNvSpPr>
            <a:spLocks noGrp="1"/>
          </p:cNvSpPr>
          <p:nvPr>
            <p:ph type="ftr" sz="quarter" idx="11"/>
          </p:nvPr>
        </p:nvSpPr>
        <p:spPr/>
        <p:txBody>
          <a:bodyPr/>
          <a:lstStyle>
            <a:lvl1pPr>
              <a:defRPr smtClean="0">
                <a:solidFill>
                  <a:schemeClr val="tx1"/>
                </a:solidFill>
              </a:defRPr>
            </a:lvl1pPr>
          </a:lstStyle>
          <a:p>
            <a:pPr>
              <a:defRPr/>
            </a:pPr>
            <a:r>
              <a:rPr lang="en-US"/>
              <a:t>Afram Fondamentals of Well-Logging</a:t>
            </a:r>
            <a:endParaRPr lang="en-US"/>
          </a:p>
        </p:txBody>
      </p:sp>
      <p:sp>
        <p:nvSpPr>
          <p:cNvPr id="13" name="Slide Number Placeholder 6"/>
          <p:cNvSpPr>
            <a:spLocks noGrp="1"/>
          </p:cNvSpPr>
          <p:nvPr>
            <p:ph type="sldNum" sz="quarter" idx="12"/>
          </p:nvPr>
        </p:nvSpPr>
        <p:spPr/>
        <p:txBody>
          <a:bodyPr/>
          <a:lstStyle>
            <a:lvl1pPr>
              <a:defRPr>
                <a:solidFill>
                  <a:schemeClr val="tx1"/>
                </a:solidFill>
              </a:defRPr>
            </a:lvl1pPr>
          </a:lstStyle>
          <a:p>
            <a:pPr>
              <a:defRPr/>
            </a:pPr>
            <a:fld id="{ECC42F80-D66E-4A0C-89F3-FC2A8D27E292}" type="slidenum">
              <a:rPr lang="en-US"/>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a:t>Afram Fondamentals of Well-Logging</a:t>
            </a:r>
            <a:endParaRPr lang="en-US"/>
          </a:p>
        </p:txBody>
      </p:sp>
      <p:sp>
        <p:nvSpPr>
          <p:cNvPr id="6" name="Slide Number Placeholder 17"/>
          <p:cNvSpPr>
            <a:spLocks noGrp="1"/>
          </p:cNvSpPr>
          <p:nvPr>
            <p:ph type="sldNum" sz="quarter" idx="12"/>
          </p:nvPr>
        </p:nvSpPr>
        <p:spPr/>
        <p:txBody>
          <a:bodyPr/>
          <a:lstStyle>
            <a:lvl1pPr>
              <a:defRPr/>
            </a:lvl1pPr>
          </a:lstStyle>
          <a:p>
            <a:pPr>
              <a:defRPr/>
            </a:pPr>
            <a:fld id="{C842D24E-FC4E-4CE9-BADA-D9B269593BF0}" type="slidenum">
              <a:rPr lang="en-US"/>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a:t>Afram Fondamentals of Well-Logging</a:t>
            </a:r>
            <a:endParaRPr lang="en-US"/>
          </a:p>
        </p:txBody>
      </p:sp>
      <p:sp>
        <p:nvSpPr>
          <p:cNvPr id="6" name="Slide Number Placeholder 17"/>
          <p:cNvSpPr>
            <a:spLocks noGrp="1"/>
          </p:cNvSpPr>
          <p:nvPr>
            <p:ph type="sldNum" sz="quarter" idx="12"/>
          </p:nvPr>
        </p:nvSpPr>
        <p:spPr/>
        <p:txBody>
          <a:bodyPr/>
          <a:lstStyle>
            <a:lvl1pPr>
              <a:defRPr/>
            </a:lvl1pPr>
          </a:lstStyle>
          <a:p>
            <a:pPr>
              <a:defRPr/>
            </a:pPr>
            <a:fld id="{4CE89E0D-24C8-4620-92A1-5380C0471526}" type="slidenum">
              <a:rPr lang="en-US"/>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fld id="{7187BF64-AB1F-4E0E-AE59-B01B8CC25EDD}" type="datetimeFigureOut">
              <a:rPr lang="en-US"/>
            </a:fld>
            <a:endParaRPr lang="en-US"/>
          </a:p>
        </p:txBody>
      </p:sp>
      <p:sp>
        <p:nvSpPr>
          <p:cNvPr id="4" name="Footer Placeholder 3"/>
          <p:cNvSpPr>
            <a:spLocks noGrp="1"/>
          </p:cNvSpPr>
          <p:nvPr>
            <p:ph type="ftr" sz="quarter" idx="11"/>
          </p:nvPr>
        </p:nvSpPr>
        <p:spPr/>
        <p:txBody>
          <a:bodyPr/>
          <a:lstStyle>
            <a:lvl1pPr algn="l">
              <a:defRPr sz="1200">
                <a:solidFill>
                  <a:schemeClr val="tx2">
                    <a:shade val="90000"/>
                  </a:schemeClr>
                </a:solidFill>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98D356EB-6166-42FC-ACF7-408026A6A482}"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Freeform 11"/>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14" name="Right Triangle 13"/>
          <p:cNvSpPr/>
          <p:nvPr/>
        </p:nvSpPr>
        <p:spPr bwMode="auto">
          <a:xfrm>
            <a:off x="-6042" y="5791253"/>
            <a:ext cx="3402314" cy="1080868"/>
          </a:xfrm>
          <a:prstGeom prst="rtTriangle">
            <a:avLst/>
          </a:prstGeom>
          <a:blipFill>
            <a:blip r:embed="rId1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a:p>
        </p:txBody>
      </p:sp>
      <p:sp>
        <p:nvSpPr>
          <p:cNvPr id="2057" name="Text Placeholder 29"/>
          <p:cNvSpPr>
            <a:spLocks noGrp="1"/>
          </p:cNvSpPr>
          <p:nvPr>
            <p:ph type="body" idx="1"/>
          </p:nvPr>
        </p:nvSpPr>
        <p:spPr bwMode="auto">
          <a:xfrm>
            <a:off x="457200" y="1481138"/>
            <a:ext cx="8229600" cy="4525962"/>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lstStyle>
          <a:p>
            <a:pPr>
              <a:defRPr/>
            </a:pPr>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smtClean="0">
                <a:solidFill>
                  <a:schemeClr val="tx1"/>
                </a:solidFill>
              </a:defRPr>
            </a:lvl1pPr>
          </a:lstStyle>
          <a:p>
            <a:pPr>
              <a:defRPr/>
            </a:pPr>
            <a:r>
              <a:rPr lang="en-US"/>
              <a:t>Afram Fondamentals of Well-Logging</a:t>
            </a: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lstStyle>
          <a:p>
            <a:pPr>
              <a:defRPr/>
            </a:pPr>
            <a:fld id="{3996209E-97D0-45C7-A71E-E9D7B2993EE0}" type="slidenum">
              <a:rPr lang="en-US"/>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anose="020B0602030504020204" pitchFamily="34" charset="0"/>
        </a:defRPr>
      </a:lvl2pPr>
      <a:lvl3pPr algn="l" rtl="0" eaLnBrk="0" fontAlgn="base" hangingPunct="0">
        <a:spcBef>
          <a:spcPct val="0"/>
        </a:spcBef>
        <a:spcAft>
          <a:spcPct val="0"/>
        </a:spcAft>
        <a:defRPr sz="4100" b="1">
          <a:solidFill>
            <a:schemeClr val="tx2"/>
          </a:solidFill>
          <a:latin typeface="Lucida Sans Unicode" panose="020B0602030504020204" pitchFamily="34" charset="0"/>
        </a:defRPr>
      </a:lvl3pPr>
      <a:lvl4pPr algn="l" rtl="0" eaLnBrk="0" fontAlgn="base" hangingPunct="0">
        <a:spcBef>
          <a:spcPct val="0"/>
        </a:spcBef>
        <a:spcAft>
          <a:spcPct val="0"/>
        </a:spcAft>
        <a:defRPr sz="4100" b="1">
          <a:solidFill>
            <a:schemeClr val="tx2"/>
          </a:solidFill>
          <a:latin typeface="Lucida Sans Unicode" panose="020B0602030504020204" pitchFamily="34" charset="0"/>
        </a:defRPr>
      </a:lvl4pPr>
      <a:lvl5pPr algn="l" rtl="0" eaLnBrk="0" fontAlgn="base" hangingPunct="0">
        <a:spcBef>
          <a:spcPct val="0"/>
        </a:spcBef>
        <a:spcAft>
          <a:spcPct val="0"/>
        </a:spcAft>
        <a:defRPr sz="4100" b="1">
          <a:solidFill>
            <a:schemeClr val="tx2"/>
          </a:solidFill>
          <a:latin typeface="Lucida Sans Unicode" panose="020B0602030504020204" pitchFamily="34" charset="0"/>
        </a:defRPr>
      </a:lvl5pPr>
      <a:lvl6pPr marL="457200" algn="l" rtl="0" fontAlgn="base">
        <a:spcBef>
          <a:spcPct val="0"/>
        </a:spcBef>
        <a:spcAft>
          <a:spcPct val="0"/>
        </a:spcAft>
        <a:defRPr sz="4100" b="1">
          <a:solidFill>
            <a:schemeClr val="tx2"/>
          </a:solidFill>
          <a:latin typeface="Lucida Sans Unicode" panose="020B0602030504020204" pitchFamily="34" charset="0"/>
        </a:defRPr>
      </a:lvl6pPr>
      <a:lvl7pPr marL="914400" algn="l" rtl="0" fontAlgn="base">
        <a:spcBef>
          <a:spcPct val="0"/>
        </a:spcBef>
        <a:spcAft>
          <a:spcPct val="0"/>
        </a:spcAft>
        <a:defRPr sz="4100" b="1">
          <a:solidFill>
            <a:schemeClr val="tx2"/>
          </a:solidFill>
          <a:latin typeface="Lucida Sans Unicode" panose="020B0602030504020204" pitchFamily="34" charset="0"/>
        </a:defRPr>
      </a:lvl7pPr>
      <a:lvl8pPr marL="1371600" algn="l" rtl="0" fontAlgn="base">
        <a:spcBef>
          <a:spcPct val="0"/>
        </a:spcBef>
        <a:spcAft>
          <a:spcPct val="0"/>
        </a:spcAft>
        <a:defRPr sz="4100" b="1">
          <a:solidFill>
            <a:schemeClr val="tx2"/>
          </a:solidFill>
          <a:latin typeface="Lucida Sans Unicode" panose="020B0602030504020204" pitchFamily="34" charset="0"/>
        </a:defRPr>
      </a:lvl8pPr>
      <a:lvl9pPr marL="1828800" algn="l" rtl="0" fontAlgn="base">
        <a:spcBef>
          <a:spcPct val="0"/>
        </a:spcBef>
        <a:spcAft>
          <a:spcPct val="0"/>
        </a:spcAft>
        <a:defRPr sz="4100" b="1">
          <a:solidFill>
            <a:schemeClr val="tx2"/>
          </a:solidFill>
          <a:latin typeface="Lucida Sans Unicode" panose="020B0602030504020204" pitchFamily="34" charset="0"/>
        </a:defRPr>
      </a:lvl9pPr>
    </p:titleStyle>
    <p:bodyStyle>
      <a:lvl1pPr marL="365125" indent="-255905" algn="l" rtl="0" eaLnBrk="0" fontAlgn="base" hangingPunct="0">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wisegeek.org/what-is-legislation.ht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wisegeek.com/what-is-common-law.htm" TargetMode="Externa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en.wikipedia.org/wiki/Legislature" TargetMode="Externa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en.wikipedia.org/wiki/Legislatur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criminal.findlaw.com/criminal-procedure/criminal-trial-overview.htm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9" Type="http://schemas.openxmlformats.org/officeDocument/2006/relationships/hyperlink" Target="http://en.wikipedia.org/wiki/Private_law" TargetMode="External"/><Relationship Id="rId8" Type="http://schemas.openxmlformats.org/officeDocument/2006/relationships/hyperlink" Target="http://en.wikipedia.org/wiki/Justice" TargetMode="External"/><Relationship Id="rId7" Type="http://schemas.openxmlformats.org/officeDocument/2006/relationships/hyperlink" Target="http://en.wikipedia.org/wiki/Party_(law)" TargetMode="External"/><Relationship Id="rId6" Type="http://schemas.openxmlformats.org/officeDocument/2006/relationships/hyperlink" Target="http://en.wikipedia.org/wiki/Legal_dispute" TargetMode="External"/><Relationship Id="rId5" Type="http://schemas.openxmlformats.org/officeDocument/2006/relationships/hyperlink" Target="http://en.wikipedia.org/wiki/Adjudication" TargetMode="External"/><Relationship Id="rId4" Type="http://schemas.openxmlformats.org/officeDocument/2006/relationships/hyperlink" Target="http://en.wikipedia.org/wiki/Authority" TargetMode="External"/><Relationship Id="rId3" Type="http://schemas.openxmlformats.org/officeDocument/2006/relationships/hyperlink" Target="http://en.wikipedia.org/wiki/Institution" TargetMode="External"/><Relationship Id="rId2" Type="http://schemas.openxmlformats.org/officeDocument/2006/relationships/hyperlink" Target="http://en.wikipedia.org/wiki/Government" TargetMode="External"/><Relationship Id="rId17" Type="http://schemas.openxmlformats.org/officeDocument/2006/relationships/slideLayout" Target="../slideLayouts/slideLayout2.xml"/><Relationship Id="rId16" Type="http://schemas.openxmlformats.org/officeDocument/2006/relationships/hyperlink" Target="http://en.wikipedia.org/wiki/Dispute_resolution" TargetMode="External"/><Relationship Id="rId15" Type="http://schemas.openxmlformats.org/officeDocument/2006/relationships/hyperlink" Target="http://en.wikipedia.org/wiki/Legal_system" TargetMode="External"/><Relationship Id="rId14" Type="http://schemas.openxmlformats.org/officeDocument/2006/relationships/hyperlink" Target="http://en.wikipedia.org/wiki/Civil_law_(legal_system)" TargetMode="External"/><Relationship Id="rId13" Type="http://schemas.openxmlformats.org/officeDocument/2006/relationships/hyperlink" Target="http://en.wikipedia.org/wiki/Common_law" TargetMode="External"/><Relationship Id="rId12" Type="http://schemas.openxmlformats.org/officeDocument/2006/relationships/hyperlink" Target="http://en.wikipedia.org/wiki/Rule_of_law" TargetMode="External"/><Relationship Id="rId11" Type="http://schemas.openxmlformats.org/officeDocument/2006/relationships/hyperlink" Target="http://en.wikipedia.org/wiki/Administrative_law" TargetMode="External"/><Relationship Id="rId10" Type="http://schemas.openxmlformats.org/officeDocument/2006/relationships/hyperlink" Target="http://en.wikipedia.org/wiki/Criminal_law" TargetMode="External"/><Relationship Id="rId1" Type="http://schemas.openxmlformats.org/officeDocument/2006/relationships/hyperlink" Target="http://en.wikipedia.org/wiki/Tribunal" TargetMode="External"/></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en.wikipedia.org/wiki/Courthouse" TargetMode="External"/><Relationship Id="rId4" Type="http://schemas.openxmlformats.org/officeDocument/2006/relationships/hyperlink" Target="http://en.wikipedia.org/wiki/Courtroom" TargetMode="External"/><Relationship Id="rId3" Type="http://schemas.openxmlformats.org/officeDocument/2006/relationships/hyperlink" Target="http://en.wikipedia.org/wiki/Venue_(law)" TargetMode="External"/><Relationship Id="rId2" Type="http://schemas.openxmlformats.org/officeDocument/2006/relationships/hyperlink" Target="http://en.wikipedia.org/wiki/Judiciary" TargetMode="External"/><Relationship Id="rId1" Type="http://schemas.openxmlformats.org/officeDocument/2006/relationships/hyperlink" Target="http://en.wikipedia.org/wiki/Law"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en.wikipedia.org/wiki/Senate_of_Nigeria" TargetMode="External"/><Relationship Id="rId1" Type="http://schemas.openxmlformats.org/officeDocument/2006/relationships/hyperlink" Target="https://en.wikipedia.org/wiki/President_of_Nigeria"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https://en.wikipedia.org/wiki/Meeting_of_the_minds" TargetMode="External"/><Relationship Id="rId5" Type="http://schemas.openxmlformats.org/officeDocument/2006/relationships/hyperlink" Target="https://en.wikipedia.org/wiki/Consideration" TargetMode="External"/><Relationship Id="rId4" Type="http://schemas.openxmlformats.org/officeDocument/2006/relationships/hyperlink" Target="https://en.wikipedia.org/wiki/Offer_and_acceptance" TargetMode="External"/><Relationship Id="rId3" Type="http://schemas.openxmlformats.org/officeDocument/2006/relationships/hyperlink" Target="https://en.wikipedia.org/wiki/Civil_law_(legal_system)" TargetMode="External"/><Relationship Id="rId2" Type="http://schemas.openxmlformats.org/officeDocument/2006/relationships/hyperlink" Target="https://en.wikipedia.org/wiki/Law_of_obligations" TargetMode="External"/><Relationship Id="rId1" Type="http://schemas.openxmlformats.org/officeDocument/2006/relationships/hyperlink" Target="https://en.wikipedia.org/wiki/Party_(law)"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00">
            <a:alpha val="18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8600" y="457200"/>
            <a:ext cx="8763000" cy="2590800"/>
          </a:xfrm>
          <a:ln>
            <a:miter lim="800000"/>
          </a:ln>
        </p:spPr>
        <p:txBody>
          <a:bodyPr>
            <a:noAutofit/>
          </a:bodyPr>
          <a:lstStyle/>
          <a:p>
            <a:pPr algn="ctr" eaLnBrk="1" fontAlgn="auto" hangingPunct="1">
              <a:spcAft>
                <a:spcPts val="0"/>
              </a:spcAft>
              <a:defRPr/>
            </a:pPr>
            <a:r>
              <a:rPr lang="en-US" sz="5400" dirty="0">
                <a:solidFill>
                  <a:schemeClr val="tx1"/>
                </a:solidFill>
              </a:rPr>
              <a:t>EME 5113: ENGINEERING LAW</a:t>
            </a:r>
            <a:endParaRPr lang="en-US" sz="5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304800"/>
            <a:ext cx="8229600" cy="914400"/>
          </a:xfrm>
        </p:spPr>
        <p:txBody>
          <a:bodyPr/>
          <a:lstStyle/>
          <a:p>
            <a:pPr eaLnBrk="1" hangingPunct="1"/>
            <a:r>
              <a:rPr lang="en-US" dirty="0"/>
              <a:t>EME 5113: COURSE OUTLINE</a:t>
            </a:r>
            <a:endParaRPr lang="en-US" dirty="0"/>
          </a:p>
        </p:txBody>
      </p:sp>
      <p:sp>
        <p:nvSpPr>
          <p:cNvPr id="4" name="TextBox 3"/>
          <p:cNvSpPr txBox="1"/>
          <p:nvPr/>
        </p:nvSpPr>
        <p:spPr>
          <a:xfrm>
            <a:off x="457200" y="1295400"/>
            <a:ext cx="8229600" cy="4679807"/>
          </a:xfrm>
          <a:prstGeom prst="rect">
            <a:avLst/>
          </a:prstGeom>
          <a:noFill/>
        </p:spPr>
        <p:txBody>
          <a:bodyPr wrap="square">
            <a:spAutoFit/>
          </a:bodyPr>
          <a:lstStyle/>
          <a:p>
            <a:pPr marL="0" marR="0" algn="just">
              <a:lnSpc>
                <a:spcPct val="107000"/>
              </a:lnSpc>
              <a:spcAft>
                <a:spcPts val="800"/>
              </a:spcAf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Common Law: Its history, definition, nature and division. Legislation codification interpretation.  Equity: Definition and its main spheres.  Law of contracts for Engineers: offer, acceptance, communication termination.  General principles of criminal law.  Law of torts: definition, classification and liabilities.  Patents: requirements, application, and infringement.  Registered designs: application, requirements, types and infringement.  Company law.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Labour</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law and Industrial Law.</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371600"/>
            <a:ext cx="8686800" cy="5181600"/>
          </a:xfrm>
        </p:spPr>
        <p:txBody>
          <a:bodyPr/>
          <a:lstStyle/>
          <a:p>
            <a:r>
              <a:rPr lang="en-GB" dirty="0"/>
              <a:t>Recommended Texts</a:t>
            </a:r>
            <a:endParaRPr lang="en-GB" dirty="0"/>
          </a:p>
          <a:p>
            <a:pPr lvl="1"/>
            <a:r>
              <a:rPr lang="en-GB" dirty="0"/>
              <a:t>Law and Management Engineering Practice by E.A, </a:t>
            </a:r>
            <a:r>
              <a:rPr lang="en-GB" dirty="0" err="1"/>
              <a:t>Okunade</a:t>
            </a:r>
            <a:endParaRPr lang="en-GB" dirty="0"/>
          </a:p>
          <a:p>
            <a:pPr lvl="1"/>
            <a:r>
              <a:rPr lang="en-GB" dirty="0"/>
              <a:t>Nigerian Law of Contract by IE, </a:t>
            </a:r>
            <a:r>
              <a:rPr lang="en-GB" dirty="0" err="1"/>
              <a:t>Sagay</a:t>
            </a:r>
            <a:endParaRPr lang="en-GB" dirty="0"/>
          </a:p>
          <a:p>
            <a:pPr lvl="1"/>
            <a:endParaRPr lang="en-GB" dirty="0"/>
          </a:p>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86800" cy="6324600"/>
          </a:xfrm>
        </p:spPr>
        <p:txBody>
          <a:bodyPr/>
          <a:lstStyle/>
          <a:p>
            <a:pPr algn="just"/>
            <a:r>
              <a:rPr lang="en-GB" sz="3200" dirty="0"/>
              <a:t>The aim of this course is to provide engineers with  an understanding of the fundamental legal issues they  need to be aware of from letter of appointment to letter of claim. It will provide prospective engineers with a  practical insight into the current trends in engineering litigation in Nigeria and the legal basics they need to be aware of.</a:t>
            </a:r>
            <a:endParaRPr lang="en-GB" sz="3200" dirty="0"/>
          </a:p>
          <a:p>
            <a:pPr algn="just"/>
            <a:r>
              <a:rPr lang="en-US" sz="3200" dirty="0"/>
              <a:t>Studying </a:t>
            </a:r>
            <a:r>
              <a:rPr lang="en-US" sz="3200" i="1" dirty="0"/>
              <a:t>engineering</a:t>
            </a:r>
            <a:r>
              <a:rPr lang="en-US" sz="3200" dirty="0"/>
              <a:t> and </a:t>
            </a:r>
            <a:r>
              <a:rPr lang="en-US" sz="3200" i="1" dirty="0"/>
              <a:t>law</a:t>
            </a:r>
            <a:r>
              <a:rPr lang="en-US" sz="3200" dirty="0"/>
              <a:t>  will give you this balance of theory and practice, the physical and intellectual capacity to make sound judgment.</a:t>
            </a:r>
            <a:endParaRPr lang="en-GB" sz="3200" dirty="0"/>
          </a:p>
          <a:p>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itle 1"/>
          <p:cNvSpPr>
            <a:spLocks noGrp="1"/>
          </p:cNvSpPr>
          <p:nvPr>
            <p:ph type="title"/>
          </p:nvPr>
        </p:nvSpPr>
        <p:spPr>
          <a:xfrm>
            <a:off x="381000" y="152400"/>
            <a:ext cx="8305800" cy="609600"/>
          </a:xfrm>
        </p:spPr>
        <p:txBody>
          <a:bodyPr>
            <a:normAutofit fontScale="90000"/>
          </a:bodyPr>
          <a:lstStyle/>
          <a:p>
            <a:pPr eaLnBrk="1" hangingPunct="1"/>
            <a:r>
              <a:rPr lang="en-US"/>
              <a:t>INTRODUCTION</a:t>
            </a:r>
            <a:endParaRPr lang="en-US"/>
          </a:p>
        </p:txBody>
      </p:sp>
      <p:sp>
        <p:nvSpPr>
          <p:cNvPr id="3" name="Content Placeholder 2"/>
          <p:cNvSpPr>
            <a:spLocks noGrp="1"/>
          </p:cNvSpPr>
          <p:nvPr>
            <p:ph idx="1"/>
          </p:nvPr>
        </p:nvSpPr>
        <p:spPr>
          <a:xfrm>
            <a:off x="0" y="685800"/>
            <a:ext cx="9067800" cy="6019800"/>
          </a:xfrm>
        </p:spPr>
        <p:txBody>
          <a:bodyPr>
            <a:noAutofit/>
          </a:bodyPr>
          <a:lstStyle/>
          <a:p>
            <a:pPr marL="274320" indent="-274320" algn="just" eaLnBrk="1" fontAlgn="auto" hangingPunct="1">
              <a:spcAft>
                <a:spcPts val="0"/>
              </a:spcAft>
              <a:buClr>
                <a:schemeClr val="accent3"/>
              </a:buClr>
              <a:buFont typeface="Wingdings 2"/>
              <a:buChar char=""/>
              <a:defRPr/>
            </a:pPr>
            <a:r>
              <a:rPr lang="en-US" sz="2800" dirty="0"/>
              <a:t>In any society, everybody is subject to the law. Everybody must do as the law says, or face the punishments which can be handed out to law-breakers. Engineers are no different. They, too, must obey the laws of their society. However, there are certain laws which will affect engineering practice.</a:t>
            </a:r>
            <a:endParaRPr lang="en-US" sz="2800" dirty="0"/>
          </a:p>
          <a:p>
            <a:pPr marL="274320" indent="-274320" algn="just" eaLnBrk="1" fontAlgn="auto" hangingPunct="1">
              <a:spcAft>
                <a:spcPts val="0"/>
              </a:spcAft>
              <a:buClr>
                <a:schemeClr val="accent3"/>
              </a:buClr>
              <a:buFont typeface="Wingdings 2"/>
              <a:buChar char=""/>
              <a:defRPr/>
            </a:pPr>
            <a:r>
              <a:rPr lang="en-US" sz="2800" dirty="0"/>
              <a:t>Engineering law is the empirical study of the application of laws and legal strategy in engineering. Applied law aims to explain how law interacts with industry. The current school of thought within the academic community of lawyers and engineers is the pragmatic paradigm. </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Definition of Law</a:t>
            </a:r>
            <a:endParaRPr lang="en-GB" dirty="0"/>
          </a:p>
        </p:txBody>
      </p:sp>
      <p:sp>
        <p:nvSpPr>
          <p:cNvPr id="3" name="Content Placeholder 2"/>
          <p:cNvSpPr>
            <a:spLocks noGrp="1"/>
          </p:cNvSpPr>
          <p:nvPr>
            <p:ph idx="1"/>
          </p:nvPr>
        </p:nvSpPr>
        <p:spPr>
          <a:xfrm>
            <a:off x="304800" y="1219200"/>
            <a:ext cx="8610600" cy="4787900"/>
          </a:xfrm>
        </p:spPr>
        <p:txBody>
          <a:bodyPr/>
          <a:lstStyle/>
          <a:p>
            <a:pPr algn="just"/>
            <a:r>
              <a:rPr lang="en-GB" sz="3200" dirty="0"/>
              <a:t>Law can be defined as those rules and regulations, backed by sanctions when flouted, which guide the conduct and behaviour of members of a community or society, and which they accept and consider as binding. </a:t>
            </a:r>
            <a:endParaRPr lang="en-GB" sz="3200" dirty="0"/>
          </a:p>
          <a:p>
            <a:pPr algn="just"/>
            <a:r>
              <a:rPr lang="en-US" sz="3200" dirty="0"/>
              <a:t>Law is the system of rules which a particular country or community recognizes as regulating the actions of its members and which it may enforce by the imposition of penalties.</a:t>
            </a:r>
            <a:endParaRPr lang="en-US" sz="3200" dirty="0"/>
          </a:p>
          <a:p>
            <a:pPr algn="just"/>
            <a:endParaRPr lang="en-GB" sz="3600" dirty="0"/>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304800"/>
            <a:ext cx="8229600" cy="609600"/>
          </a:xfrm>
        </p:spPr>
        <p:txBody>
          <a:bodyPr>
            <a:normAutofit fontScale="90000"/>
          </a:bodyPr>
          <a:lstStyle/>
          <a:p>
            <a:r>
              <a:rPr lang="en-US" dirty="0"/>
              <a:t>Definition of Law</a:t>
            </a:r>
            <a:endParaRPr lang="en-US" dirty="0"/>
          </a:p>
        </p:txBody>
      </p:sp>
      <p:sp>
        <p:nvSpPr>
          <p:cNvPr id="23555" name="Content Placeholder 2"/>
          <p:cNvSpPr>
            <a:spLocks noGrp="1"/>
          </p:cNvSpPr>
          <p:nvPr>
            <p:ph idx="1"/>
          </p:nvPr>
        </p:nvSpPr>
        <p:spPr>
          <a:xfrm>
            <a:off x="277813" y="762000"/>
            <a:ext cx="8637587" cy="5943600"/>
          </a:xfrm>
        </p:spPr>
        <p:txBody>
          <a:bodyPr/>
          <a:lstStyle/>
          <a:p>
            <a:pPr marL="109220" indent="0" algn="just">
              <a:buNone/>
            </a:pPr>
            <a:r>
              <a:rPr lang="en-US" sz="2800" i="1" dirty="0"/>
              <a:t>Law</a:t>
            </a:r>
            <a:r>
              <a:rPr lang="en-US" sz="2800" dirty="0"/>
              <a:t> is a system of rules that govern a society with the intention of maintaining social order, upholding justice and preventing harm to individuals and property.  A body of rules of conduct of binding legal force and effect, prescribed, recognized, and enforced by controlling authority.</a:t>
            </a:r>
            <a:endParaRPr lang="en-US" sz="2800" dirty="0"/>
          </a:p>
          <a:p>
            <a:pPr marL="109220" indent="0" algn="just">
              <a:buNone/>
            </a:pPr>
            <a:r>
              <a:rPr lang="en-US" sz="2800" dirty="0"/>
              <a:t>Another resource that can help us understand our responsibilities is the law. As we’ve already noted, the law is an imperfect guide to our moral obligations, but the law does often reflect our considered moral judgment and thus can be of some use.</a:t>
            </a:r>
            <a:endParaRPr lang="en-US" sz="2800" dirty="0"/>
          </a:p>
          <a:p>
            <a:pPr algn="just"/>
            <a:endParaRPr lang="en-US" dirty="0"/>
          </a:p>
          <a:p>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019800"/>
          </a:xfrm>
        </p:spPr>
        <p:txBody>
          <a:bodyPr/>
          <a:lstStyle/>
          <a:p>
            <a:pPr lvl="0"/>
            <a:r>
              <a:rPr lang="en-US" sz="2800" b="1" dirty="0"/>
              <a:t>The Rule of Law</a:t>
            </a:r>
            <a:endParaRPr lang="en-GB" sz="2800" dirty="0"/>
          </a:p>
          <a:p>
            <a:pPr marL="109220" lvl="0" indent="0" algn="just">
              <a:buNone/>
            </a:pPr>
            <a:r>
              <a:rPr lang="en-US" sz="2800" dirty="0"/>
              <a:t>Our laws embody the basic moral values of our society. They impose limits on the conduct of individuals in order to promote the greater good and to make our communities safe places to live. It is against the law to steal, to be involved in drug abuse, to injure another person, to drive recklessly or to pollute the environment, to name just a few of the countless ways the law is designed to protect us. We are said to be ruled by law, not by those who enforce the law or wield government power. No one in the country is above the law. Everyone, no matter how wealthy or how powerful they are, must obey the law or face the consequences.</a:t>
            </a:r>
            <a:endParaRPr lang="en-GB"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324600"/>
          </a:xfrm>
        </p:spPr>
        <p:txBody>
          <a:bodyPr/>
          <a:lstStyle/>
          <a:p>
            <a:pPr algn="just"/>
            <a:r>
              <a:rPr lang="en-GB" sz="2800" b="1" dirty="0"/>
              <a:t>Purposes of Punishment </a:t>
            </a:r>
            <a:endParaRPr lang="en-GB" sz="2800" b="1" dirty="0"/>
          </a:p>
          <a:p>
            <a:pPr algn="just"/>
            <a:r>
              <a:rPr lang="en-GB" sz="2800" dirty="0"/>
              <a:t>Retribution – equal harm to offender in society’s name </a:t>
            </a:r>
            <a:endParaRPr lang="en-GB" sz="2800" dirty="0"/>
          </a:p>
          <a:p>
            <a:pPr algn="just"/>
            <a:r>
              <a:rPr lang="en-GB" sz="2800" dirty="0"/>
              <a:t>Incapacitation – get them out of society! </a:t>
            </a:r>
            <a:endParaRPr lang="en-GB" sz="2800" dirty="0"/>
          </a:p>
          <a:p>
            <a:pPr algn="just"/>
            <a:r>
              <a:rPr lang="en-GB" sz="2800" dirty="0"/>
              <a:t>Rehabilitation – treat offenders, help them re-enter society </a:t>
            </a:r>
            <a:endParaRPr lang="en-GB" sz="2800" dirty="0"/>
          </a:p>
          <a:p>
            <a:pPr algn="just"/>
            <a:r>
              <a:rPr lang="en-GB" sz="2800" dirty="0"/>
              <a:t>Deterrence </a:t>
            </a:r>
            <a:endParaRPr lang="en-GB" sz="2800" dirty="0"/>
          </a:p>
          <a:p>
            <a:pPr algn="just"/>
            <a:r>
              <a:rPr lang="en-GB" sz="2800" dirty="0"/>
              <a:t>General Deterrence – Everyone must see consequences of crime </a:t>
            </a:r>
            <a:endParaRPr lang="en-GB" sz="2800" dirty="0"/>
          </a:p>
          <a:p>
            <a:pPr algn="just"/>
            <a:r>
              <a:rPr lang="en-GB" sz="2800" dirty="0"/>
              <a:t>Specific Deterrence – Criminal must see consequences of crime </a:t>
            </a:r>
            <a:endParaRPr lang="en-GB" sz="2800" dirty="0"/>
          </a:p>
          <a:p>
            <a:pPr algn="just"/>
            <a:r>
              <a:rPr lang="en-GB" sz="2800" dirty="0"/>
              <a:t>Public Education – Let society know what our shared values are </a:t>
            </a:r>
            <a:endParaRPr lang="en-GB" sz="2800" dirty="0"/>
          </a:p>
          <a:p>
            <a:pPr algn="just"/>
            <a:r>
              <a:rPr lang="en-GB" sz="2800" dirty="0"/>
              <a:t>CRIME = ACTUS REUS + MENS REA (concurring in time) </a:t>
            </a:r>
            <a:endParaRPr lang="en-GB" sz="2800" dirty="0"/>
          </a:p>
          <a:p>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86800" cy="5943600"/>
          </a:xfrm>
        </p:spPr>
        <p:txBody>
          <a:bodyPr/>
          <a:lstStyle/>
          <a:p>
            <a:pPr algn="just"/>
            <a:r>
              <a:rPr lang="en-GB" sz="3200" b="1" dirty="0"/>
              <a:t>Engineering law</a:t>
            </a:r>
            <a:r>
              <a:rPr lang="en-GB" sz="3200" dirty="0"/>
              <a:t> (or </a:t>
            </a:r>
            <a:r>
              <a:rPr lang="en-GB" sz="3200" b="1" dirty="0"/>
              <a:t>law</a:t>
            </a:r>
            <a:r>
              <a:rPr lang="en-GB" sz="3200" dirty="0"/>
              <a:t> in </a:t>
            </a:r>
            <a:r>
              <a:rPr lang="en-GB" sz="3200" b="1" dirty="0"/>
              <a:t>engineering</a:t>
            </a:r>
            <a:r>
              <a:rPr lang="en-GB" sz="3200" dirty="0"/>
              <a:t>) is the empirical study of the application of </a:t>
            </a:r>
            <a:r>
              <a:rPr lang="en-GB" sz="3200" b="1" dirty="0"/>
              <a:t>laws</a:t>
            </a:r>
            <a:r>
              <a:rPr lang="en-GB" sz="3200" dirty="0"/>
              <a:t> and </a:t>
            </a:r>
            <a:r>
              <a:rPr lang="en-GB" sz="3200" b="1" dirty="0"/>
              <a:t>legal</a:t>
            </a:r>
            <a:r>
              <a:rPr lang="en-GB" sz="3200" dirty="0"/>
              <a:t> strategy in </a:t>
            </a:r>
            <a:r>
              <a:rPr lang="en-GB" sz="3200" b="1" dirty="0"/>
              <a:t>engineering</a:t>
            </a:r>
            <a:r>
              <a:rPr lang="en-GB" sz="3200" dirty="0"/>
              <a:t>. Applied </a:t>
            </a:r>
            <a:r>
              <a:rPr lang="en-GB" sz="3200" b="1" dirty="0"/>
              <a:t>law</a:t>
            </a:r>
            <a:r>
              <a:rPr lang="en-GB" sz="3200" dirty="0"/>
              <a:t> aims to explain how </a:t>
            </a:r>
            <a:r>
              <a:rPr lang="en-GB" sz="3200" b="1" dirty="0"/>
              <a:t>law</a:t>
            </a:r>
            <a:r>
              <a:rPr lang="en-GB" sz="3200" dirty="0"/>
              <a:t> interacts with industry. The current school of thought within the academic community of lawyers and </a:t>
            </a:r>
            <a:r>
              <a:rPr lang="en-GB" sz="3200" b="1" dirty="0"/>
              <a:t>engineers</a:t>
            </a:r>
            <a:r>
              <a:rPr lang="en-GB" sz="3200" dirty="0"/>
              <a:t> is the pragmatic paradigm.</a:t>
            </a:r>
            <a:endParaRPr lang="en-GB" sz="3200" dirty="0"/>
          </a:p>
          <a:p>
            <a:pPr algn="just"/>
            <a:r>
              <a:rPr lang="en-GB" sz="3200" i="1" dirty="0"/>
              <a:t>Engineering Law</a:t>
            </a:r>
            <a:r>
              <a:rPr lang="en-GB" sz="3200" dirty="0"/>
              <a:t> provides soon-to-be engineers with an introductory understanding of the legal framework under which they will work.</a:t>
            </a:r>
            <a:endParaRPr lang="en-GB"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52400"/>
            <a:ext cx="8763000" cy="6324600"/>
          </a:xfrm>
        </p:spPr>
        <p:txBody>
          <a:bodyPr/>
          <a:lstStyle/>
          <a:p>
            <a:pPr marL="109220" indent="0" algn="just" eaLnBrk="1" hangingPunct="1">
              <a:lnSpc>
                <a:spcPct val="90000"/>
              </a:lnSpc>
              <a:buNone/>
            </a:pPr>
            <a:r>
              <a:rPr lang="en-US" sz="3200" b="1" dirty="0"/>
              <a:t>Engineering law</a:t>
            </a:r>
            <a:r>
              <a:rPr lang="en-GB" sz="3200" dirty="0"/>
              <a:t> can be defined as those rules and regulations, backed by sanctions when flouted, which guide the conduct and behaviour of members of engineering family in a community or society, and which they accept and consider as binding for their professional practice.</a:t>
            </a:r>
            <a:endParaRPr lang="en-GB" sz="3200" dirty="0"/>
          </a:p>
          <a:p>
            <a:pPr algn="just" eaLnBrk="1" hangingPunct="1">
              <a:lnSpc>
                <a:spcPct val="90000"/>
              </a:lnSpc>
            </a:pPr>
            <a:r>
              <a:rPr lang="en-US" sz="2800" dirty="0"/>
              <a:t>“practice of professional engineering” means any act of planning, designing, composing, evaluating, advising, reporting, directing or supervising that requires the application of engineering principles and concerns the safeguarding of life, health, property, economic interests, the public welfare, or the environment, or the managing of any such act. </a:t>
            </a:r>
            <a:endParaRPr lang="en-US" sz="2800" dirty="0"/>
          </a:p>
          <a:p>
            <a:pPr algn="just" eaLnBrk="1" hangingPunct="1">
              <a:lnSpc>
                <a:spcPct val="90000"/>
              </a:lnSpc>
            </a:pPr>
            <a:endParaRPr lang="en-US" sz="2800" dirty="0"/>
          </a:p>
          <a:p>
            <a:pPr eaLnBrk="1" hangingPunct="1">
              <a:lnSpc>
                <a:spcPct val="90000"/>
              </a:lnSpc>
            </a:pPr>
            <a:endParaRPr lang="en-US" dirty="0"/>
          </a:p>
          <a:p>
            <a:endParaRPr lang="en-US" dirty="0"/>
          </a:p>
        </p:txBody>
      </p:sp>
      <p:sp>
        <p:nvSpPr>
          <p:cNvPr id="5" name="Slide Number Placeholder 4"/>
          <p:cNvSpPr>
            <a:spLocks noGrp="1"/>
          </p:cNvSpPr>
          <p:nvPr>
            <p:ph type="sldNum" sz="quarter" idx="12"/>
          </p:nvPr>
        </p:nvSpPr>
        <p:spPr/>
        <p:txBody>
          <a:bodyPr/>
          <a:lstStyle/>
          <a:p>
            <a:pPr>
              <a:defRPr/>
            </a:pPr>
            <a:fld id="{A2B5CF83-1F53-4043-8700-93E6329EBC98}" type="slidenum">
              <a:rPr lang="en-US" smtClean="0"/>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610600" cy="1295400"/>
          </a:xfrm>
        </p:spPr>
        <p:txBody>
          <a:bodyPr>
            <a:normAutofit fontScale="90000"/>
          </a:bodyPr>
          <a:lstStyle/>
          <a:p>
            <a:r>
              <a:rPr lang="en-GB" sz="3600" dirty="0"/>
              <a:t>Key topic areas for engineering law are:</a:t>
            </a:r>
            <a:br>
              <a:rPr lang="en-GB" dirty="0"/>
            </a:br>
            <a:endParaRPr lang="en-GB" dirty="0"/>
          </a:p>
        </p:txBody>
      </p:sp>
      <p:sp>
        <p:nvSpPr>
          <p:cNvPr id="3" name="Content Placeholder 2"/>
          <p:cNvSpPr>
            <a:spLocks noGrp="1"/>
          </p:cNvSpPr>
          <p:nvPr>
            <p:ph idx="1"/>
          </p:nvPr>
        </p:nvSpPr>
        <p:spPr>
          <a:xfrm>
            <a:off x="228600" y="1066800"/>
            <a:ext cx="8763000" cy="5486400"/>
          </a:xfrm>
        </p:spPr>
        <p:txBody>
          <a:bodyPr/>
          <a:lstStyle/>
          <a:p>
            <a:pPr algn="just"/>
            <a:r>
              <a:rPr lang="en-GB" sz="2800" dirty="0"/>
              <a:t>Contract administration, especially in construction, procurement, and supply chain.</a:t>
            </a:r>
            <a:endParaRPr lang="en-GB" sz="2800" dirty="0"/>
          </a:p>
          <a:p>
            <a:pPr algn="just"/>
            <a:r>
              <a:rPr lang="en-GB" sz="2800" dirty="0"/>
              <a:t>Product liability, especially for manufactured products.</a:t>
            </a:r>
            <a:endParaRPr lang="en-GB" sz="2800" dirty="0"/>
          </a:p>
          <a:p>
            <a:pPr algn="just"/>
            <a:r>
              <a:rPr lang="en-GB" sz="2800" dirty="0"/>
              <a:t>Intellectual property (IP) protection, which includes patents, copyrights, etc.</a:t>
            </a:r>
            <a:endParaRPr lang="en-GB" sz="2800" dirty="0"/>
          </a:p>
          <a:p>
            <a:pPr algn="just"/>
            <a:r>
              <a:rPr lang="en-GB" sz="2800" dirty="0"/>
              <a:t>Safety legislation and regulations, which includes plant safety, risk management, food safety.</a:t>
            </a:r>
            <a:endParaRPr lang="en-GB" sz="2800" dirty="0"/>
          </a:p>
          <a:p>
            <a:pPr algn="just"/>
            <a:r>
              <a:rPr lang="en-GB" sz="2800" dirty="0"/>
              <a:t>Standards and certification, which are product-specific constraints on design and testing processes.</a:t>
            </a:r>
            <a:endParaRPr lang="en-GB" sz="2800" dirty="0"/>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096000"/>
          </a:xfrm>
        </p:spPr>
        <p:txBody>
          <a:bodyPr/>
          <a:lstStyle/>
          <a:p>
            <a:r>
              <a:rPr lang="en-GB" dirty="0"/>
              <a:t>Engineering Law provides soon-to-be engineers with an introductory understanding of the legal framework under which they will work.  That is, all engineering is performed under the constraints imposed by our society’s laws and must take those laws into account. The course has been designed with the following goals in mind:</a:t>
            </a:r>
            <a:endParaRPr lang="en-GB" dirty="0"/>
          </a:p>
          <a:p>
            <a:pPr marL="0" indent="0">
              <a:buNone/>
            </a:pPr>
            <a:r>
              <a:rPr lang="en-GB" dirty="0"/>
              <a:t> 1) Give students a greater understanding of their and their company’s position relative to the law so that they can act and talk more intelligently on the subject and be a better asset for their company.</a:t>
            </a:r>
            <a:endParaRPr lang="en-GB" dirty="0"/>
          </a:p>
          <a:p>
            <a:pPr marL="0" indent="0">
              <a:buNone/>
            </a:pPr>
            <a:r>
              <a:rPr lang="en-GB" dirty="0"/>
              <a:t> </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534400" cy="6019800"/>
          </a:xfrm>
        </p:spPr>
        <p:txBody>
          <a:bodyPr/>
          <a:lstStyle/>
          <a:p>
            <a:pPr marL="0" indent="0" algn="just">
              <a:buNone/>
            </a:pPr>
            <a:r>
              <a:rPr lang="en-GB" sz="3000" dirty="0"/>
              <a:t> 2) Highlight a few areas that often trip up people in industry so that students can avoid the pitfalls or raise a concern if their company seems like it might have some exposure.         </a:t>
            </a:r>
            <a:endParaRPr lang="en-GB" sz="3000" dirty="0"/>
          </a:p>
          <a:p>
            <a:pPr marL="109220" indent="0" algn="just">
              <a:buNone/>
            </a:pPr>
            <a:r>
              <a:rPr lang="en-GB" sz="3000" dirty="0"/>
              <a:t>3) Help students know when their company has a potential or actual legal problem and should call a lawyer.</a:t>
            </a:r>
            <a:endParaRPr lang="en-GB" sz="3000" dirty="0"/>
          </a:p>
          <a:p>
            <a:pPr algn="just"/>
            <a:r>
              <a:rPr lang="en-GB" sz="3000" dirty="0"/>
              <a:t>Please note that this is merely an introductory class.  This class will not make you a lawyer.  You are advised to seek legal representation if and when you or your company encounters a legal issue.</a:t>
            </a:r>
            <a:endParaRPr lang="en-GB" sz="3000" dirty="0"/>
          </a:p>
          <a:p>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3"/>
          <p:cNvSpPr>
            <a:spLocks noGrp="1" noChangeArrowheads="1"/>
          </p:cNvSpPr>
          <p:nvPr>
            <p:ph type="body" idx="1"/>
          </p:nvPr>
        </p:nvSpPr>
        <p:spPr>
          <a:xfrm>
            <a:off x="304800" y="228600"/>
            <a:ext cx="8610600" cy="66294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gn="just"/>
            <a:r>
              <a:rPr lang="en-US" sz="2700" dirty="0"/>
              <a:t>A professional engineer (P.E.) is a person who is licensed to practice engineering in a particular state or country after meeting all requirements of the law.  </a:t>
            </a:r>
            <a:r>
              <a:rPr lang="en-US" sz="2700" dirty="0">
                <a:latin typeface="Verdana" panose="020B0604030504040204" pitchFamily="34" charset="0"/>
                <a:cs typeface="Times New Roman" panose="02020603050405020304" pitchFamily="18" charset="0"/>
              </a:rPr>
              <a:t>Whether the end result is a product, a process or service, engineers need to consider safety, </a:t>
            </a:r>
            <a:br>
              <a:rPr lang="en-US" sz="2700" dirty="0">
                <a:latin typeface="Verdana" panose="020B0604030504040204" pitchFamily="34" charset="0"/>
                <a:cs typeface="Times New Roman" panose="02020603050405020304" pitchFamily="18" charset="0"/>
              </a:rPr>
            </a:br>
            <a:r>
              <a:rPr lang="en-US" sz="2700" dirty="0">
                <a:latin typeface="Verdana" panose="020B0604030504040204" pitchFamily="34" charset="0"/>
                <a:cs typeface="Times New Roman" panose="02020603050405020304" pitchFamily="18" charset="0"/>
              </a:rPr>
              <a:t> reliability, cost-effectiveness.</a:t>
            </a:r>
            <a:endParaRPr lang="en-US" sz="2700" dirty="0">
              <a:latin typeface="Verdana" panose="020B0604030504040204" pitchFamily="34" charset="0"/>
              <a:cs typeface="Times New Roman" panose="02020603050405020304" pitchFamily="18" charset="0"/>
            </a:endParaRPr>
          </a:p>
          <a:p>
            <a:pPr algn="just" eaLnBrk="1" hangingPunct="1">
              <a:lnSpc>
                <a:spcPct val="90000"/>
              </a:lnSpc>
            </a:pPr>
            <a:r>
              <a:rPr lang="en-US" sz="2700" dirty="0">
                <a:latin typeface="Verdana" panose="020B0604030504040204" pitchFamily="34" charset="0"/>
                <a:cs typeface="Times New Roman" panose="02020603050405020304" pitchFamily="18" charset="0"/>
              </a:rPr>
              <a:t>Engineering is a career based on logical, systematic problem solving, generally in high-tech, industrial, or scientific fields.</a:t>
            </a:r>
            <a:endParaRPr lang="en-US" sz="2700" dirty="0">
              <a:latin typeface="Verdana" panose="020B0604030504040204" pitchFamily="34" charset="0"/>
              <a:cs typeface="Times New Roman" panose="02020603050405020304" pitchFamily="18" charset="0"/>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304800" y="381000"/>
            <a:ext cx="8610600" cy="6248400"/>
          </a:xfrm>
        </p:spPr>
        <p:txBody>
          <a:bodyPr/>
          <a:lstStyle/>
          <a:p>
            <a:pPr algn="just"/>
            <a:r>
              <a:rPr lang="en-US" sz="3200" dirty="0"/>
              <a:t>Such work or services may be either public or private, in connection with any utilities, structures, buildings, machines, equipment, processes, work systems, projects, and industrial or consumer products; equipment of a control, communications, computer, mechanical, petroleum, civil, chemical, electrical, hydraulic, pneumatic, or thermal nature. State laws, which vary by state, govern the licensing of professional engineers.</a:t>
            </a:r>
            <a:endParaRPr lang="en-US" sz="3200" dirty="0"/>
          </a:p>
          <a:p>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Content Placeholder 2"/>
          <p:cNvSpPr>
            <a:spLocks noGrp="1"/>
          </p:cNvSpPr>
          <p:nvPr>
            <p:ph idx="1"/>
          </p:nvPr>
        </p:nvSpPr>
        <p:spPr>
          <a:xfrm>
            <a:off x="304800" y="304800"/>
            <a:ext cx="8382000" cy="6019800"/>
          </a:xfrm>
        </p:spPr>
        <p:txBody>
          <a:bodyPr/>
          <a:lstStyle/>
          <a:p>
            <a:r>
              <a:rPr lang="en-US" sz="3600" b="1" dirty="0"/>
              <a:t>Ignorance of the law is no excuse</a:t>
            </a:r>
            <a:endParaRPr lang="en-US" sz="3600" dirty="0"/>
          </a:p>
          <a:p>
            <a:r>
              <a:rPr lang="en-US" dirty="0"/>
              <a:t>The statement "ignorance of the law is no excuse" is an ancient legal doctrine: </a:t>
            </a:r>
            <a:endParaRPr lang="en-US" dirty="0"/>
          </a:p>
          <a:p>
            <a:r>
              <a:rPr lang="en-US" dirty="0"/>
              <a:t>Ignorance of the law excuses no man; not that all men know the law; but because 'tis an excuse every man will plead, and no man can tell how to confute him. </a:t>
            </a:r>
            <a:endParaRPr lang="en-US" dirty="0"/>
          </a:p>
          <a:p>
            <a:r>
              <a:rPr lang="en-US" dirty="0"/>
              <a:t>John Selden (1584-1654), posthumously published in </a:t>
            </a:r>
            <a:r>
              <a:rPr lang="en-US" i="1" dirty="0"/>
              <a:t>Table Talk,</a:t>
            </a:r>
            <a:r>
              <a:rPr lang="en-US" dirty="0"/>
              <a:t> 1689.</a:t>
            </a:r>
            <a:endParaRPr lang="en-US" dirty="0"/>
          </a:p>
          <a:p>
            <a:r>
              <a:rPr lang="en-US" dirty="0"/>
              <a:t>If a defendant were allowed to escape legal responsibility for his acts, merely by saying "I didn't know it was wrong/illegal", the system of using law to regulate human conduct would collapse. </a:t>
            </a:r>
            <a:endParaRPr lang="en-US" dirty="0"/>
          </a:p>
          <a:p>
            <a:r>
              <a:rPr lang="en-US" dirty="0"/>
              <a:t>So the doctrine is a practical necessity.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 name="Rectangle 28"/>
          <p:cNvSpPr>
            <a:spLocks noGrp="1" noChangeArrowheads="1"/>
          </p:cNvSpPr>
          <p:nvPr>
            <p:ph type="sldNum" sz="quarter" idx="4294967295"/>
          </p:nvPr>
        </p:nvSpPr>
        <p:spPr>
          <a:xfrm>
            <a:off x="7924800" y="6356350"/>
            <a:ext cx="762000" cy="365125"/>
          </a:xfrm>
          <a:prstGeom prst="rect">
            <a:avLst/>
          </a:prstGeom>
        </p:spPr>
        <p:txBody>
          <a:bodyPr/>
          <a:lstStyle/>
          <a:p>
            <a:pPr>
              <a:defRPr/>
            </a:pPr>
            <a:fld id="{AED7E2A4-FC11-41A1-B8B5-82FF60792311}" type="slidenum">
              <a:rPr lang="en-US"/>
            </a:fld>
            <a:endParaRPr lang="en-US" dirty="0"/>
          </a:p>
        </p:txBody>
      </p:sp>
      <p:sp>
        <p:nvSpPr>
          <p:cNvPr id="4098" name="Rectangle 2"/>
          <p:cNvSpPr>
            <a:spLocks noGrp="1" noChangeArrowheads="1"/>
          </p:cNvSpPr>
          <p:nvPr>
            <p:ph type="ctrTitle"/>
          </p:nvPr>
        </p:nvSpPr>
        <p:spPr>
          <a:xfrm>
            <a:off x="685800" y="0"/>
            <a:ext cx="8458200" cy="609600"/>
          </a:xfrm>
        </p:spPr>
        <p:txBody>
          <a:bodyPr>
            <a:normAutofit fontScale="90000"/>
          </a:bodyPr>
          <a:lstStyle/>
          <a:p>
            <a:pPr eaLnBrk="1" hangingPunct="1">
              <a:defRPr/>
            </a:pPr>
            <a:r>
              <a:rPr lang="en-US" sz="4000" u="sng" dirty="0"/>
              <a:t>What Engineers Do? </a:t>
            </a:r>
            <a:r>
              <a:rPr lang="en-US" sz="2000" u="sng" dirty="0"/>
              <a:t>(a review)</a:t>
            </a:r>
            <a:r>
              <a:rPr lang="en-US" sz="2000" u="sng" baseline="30000" dirty="0"/>
              <a:t>4</a:t>
            </a:r>
            <a:endParaRPr lang="en-US" sz="2000" u="sng" baseline="30000" dirty="0"/>
          </a:p>
        </p:txBody>
      </p:sp>
      <p:sp>
        <p:nvSpPr>
          <p:cNvPr id="4099" name="Rectangle 3"/>
          <p:cNvSpPr>
            <a:spLocks noGrp="1" noChangeArrowheads="1"/>
          </p:cNvSpPr>
          <p:nvPr>
            <p:ph type="subTitle" idx="1"/>
          </p:nvPr>
        </p:nvSpPr>
        <p:spPr>
          <a:xfrm>
            <a:off x="0" y="762000"/>
            <a:ext cx="8915400" cy="6096000"/>
          </a:xfrm>
        </p:spPr>
        <p:txBody>
          <a:bodyPr/>
          <a:lstStyle/>
          <a:p>
            <a:pPr marL="609600" marR="0" indent="-609600" algn="l" eaLnBrk="1" hangingPunct="1">
              <a:lnSpc>
                <a:spcPct val="90000"/>
              </a:lnSpc>
              <a:buFontTx/>
              <a:buAutoNum type="arabicPeriod"/>
            </a:pPr>
            <a:r>
              <a:rPr lang="en-US" sz="2800" b="1" dirty="0">
                <a:solidFill>
                  <a:schemeClr val="tx1"/>
                </a:solidFill>
              </a:rPr>
              <a:t>Design</a:t>
            </a:r>
            <a:r>
              <a:rPr lang="en-US" sz="2800" dirty="0">
                <a:solidFill>
                  <a:schemeClr val="tx1"/>
                </a:solidFill>
              </a:rPr>
              <a:t> products.</a:t>
            </a:r>
            <a:endParaRPr lang="en-US" sz="2800" dirty="0">
              <a:solidFill>
                <a:schemeClr val="tx1"/>
              </a:solidFill>
            </a:endParaRPr>
          </a:p>
          <a:p>
            <a:pPr marL="609600" marR="0" indent="-609600" algn="l" eaLnBrk="1" hangingPunct="1">
              <a:lnSpc>
                <a:spcPct val="90000"/>
              </a:lnSpc>
              <a:buFontTx/>
              <a:buAutoNum type="arabicPeriod"/>
            </a:pPr>
            <a:r>
              <a:rPr lang="en-US" sz="2800" b="1" dirty="0">
                <a:solidFill>
                  <a:schemeClr val="tx1"/>
                </a:solidFill>
              </a:rPr>
              <a:t>Design</a:t>
            </a:r>
            <a:r>
              <a:rPr lang="en-US" sz="2800" dirty="0">
                <a:solidFill>
                  <a:schemeClr val="tx1"/>
                </a:solidFill>
              </a:rPr>
              <a:t> machinery  to </a:t>
            </a:r>
            <a:r>
              <a:rPr lang="en-US" sz="2800" b="1" dirty="0">
                <a:solidFill>
                  <a:schemeClr val="tx1"/>
                </a:solidFill>
              </a:rPr>
              <a:t>build</a:t>
            </a:r>
            <a:r>
              <a:rPr lang="en-US" sz="2800" dirty="0">
                <a:solidFill>
                  <a:schemeClr val="tx1"/>
                </a:solidFill>
              </a:rPr>
              <a:t> and </a:t>
            </a:r>
            <a:r>
              <a:rPr lang="en-US" sz="2800" b="1" dirty="0">
                <a:solidFill>
                  <a:schemeClr val="tx1"/>
                </a:solidFill>
              </a:rPr>
              <a:t>test</a:t>
            </a:r>
            <a:r>
              <a:rPr lang="en-US" sz="2800" dirty="0">
                <a:solidFill>
                  <a:schemeClr val="tx1"/>
                </a:solidFill>
              </a:rPr>
              <a:t> these products.</a:t>
            </a:r>
            <a:endParaRPr lang="en-US" sz="2800" dirty="0">
              <a:solidFill>
                <a:schemeClr val="tx1"/>
              </a:solidFill>
            </a:endParaRPr>
          </a:p>
          <a:p>
            <a:pPr marL="609600" marR="0" indent="-609600" algn="l" eaLnBrk="1" hangingPunct="1">
              <a:lnSpc>
                <a:spcPct val="90000"/>
              </a:lnSpc>
              <a:buFontTx/>
              <a:buAutoNum type="arabicPeriod"/>
            </a:pPr>
            <a:r>
              <a:rPr lang="en-US" sz="2800" b="1" dirty="0">
                <a:solidFill>
                  <a:schemeClr val="tx1"/>
                </a:solidFill>
              </a:rPr>
              <a:t>Design</a:t>
            </a:r>
            <a:r>
              <a:rPr lang="en-US" sz="2800" dirty="0">
                <a:solidFill>
                  <a:schemeClr val="tx1"/>
                </a:solidFill>
              </a:rPr>
              <a:t> Plants in which those products are made.</a:t>
            </a:r>
            <a:endParaRPr lang="en-US" sz="2800" dirty="0">
              <a:solidFill>
                <a:schemeClr val="tx1"/>
              </a:solidFill>
            </a:endParaRPr>
          </a:p>
          <a:p>
            <a:pPr marL="609600" marR="0" indent="-609600" algn="l" eaLnBrk="1" hangingPunct="1">
              <a:lnSpc>
                <a:spcPct val="90000"/>
              </a:lnSpc>
              <a:buFontTx/>
              <a:buAutoNum type="arabicPeriod"/>
            </a:pPr>
            <a:r>
              <a:rPr lang="en-US" sz="2800" b="1" dirty="0">
                <a:solidFill>
                  <a:schemeClr val="tx1"/>
                </a:solidFill>
              </a:rPr>
              <a:t>Design</a:t>
            </a:r>
            <a:r>
              <a:rPr lang="en-US" sz="2800" dirty="0">
                <a:solidFill>
                  <a:schemeClr val="tx1"/>
                </a:solidFill>
              </a:rPr>
              <a:t> the systems that ensure the quality and efficiency of the manufacturing process.</a:t>
            </a:r>
            <a:endParaRPr lang="en-US" sz="2800" dirty="0">
              <a:solidFill>
                <a:schemeClr val="tx1"/>
              </a:solidFill>
            </a:endParaRPr>
          </a:p>
          <a:p>
            <a:pPr marL="609600" marR="0" indent="-609600" algn="l" eaLnBrk="1" hangingPunct="1">
              <a:lnSpc>
                <a:spcPct val="90000"/>
              </a:lnSpc>
              <a:buFontTx/>
              <a:buAutoNum type="arabicPeriod"/>
            </a:pPr>
            <a:r>
              <a:rPr lang="en-US" sz="2800" b="1" dirty="0">
                <a:solidFill>
                  <a:schemeClr val="tx1"/>
                </a:solidFill>
              </a:rPr>
              <a:t>Design</a:t>
            </a:r>
            <a:r>
              <a:rPr lang="en-US" sz="2800" dirty="0">
                <a:solidFill>
                  <a:schemeClr val="tx1"/>
                </a:solidFill>
              </a:rPr>
              <a:t>, </a:t>
            </a:r>
            <a:r>
              <a:rPr lang="en-US" sz="2800" b="1" dirty="0">
                <a:solidFill>
                  <a:schemeClr val="tx1"/>
                </a:solidFill>
              </a:rPr>
              <a:t>plan</a:t>
            </a:r>
            <a:r>
              <a:rPr lang="en-US" sz="2800" dirty="0">
                <a:solidFill>
                  <a:schemeClr val="tx1"/>
                </a:solidFill>
              </a:rPr>
              <a:t> and </a:t>
            </a:r>
            <a:r>
              <a:rPr lang="en-US" sz="2800" b="1" dirty="0">
                <a:solidFill>
                  <a:schemeClr val="tx1"/>
                </a:solidFill>
              </a:rPr>
              <a:t>supervise</a:t>
            </a:r>
            <a:r>
              <a:rPr lang="en-US" sz="2800" dirty="0">
                <a:solidFill>
                  <a:schemeClr val="tx1"/>
                </a:solidFill>
              </a:rPr>
              <a:t> the construction of buildings, highways, transit systems.</a:t>
            </a:r>
            <a:endParaRPr lang="en-US" sz="2800" dirty="0">
              <a:solidFill>
                <a:schemeClr val="tx1"/>
              </a:solidFill>
            </a:endParaRPr>
          </a:p>
          <a:p>
            <a:pPr marL="609600" marR="0" indent="-609600" algn="l" eaLnBrk="1" hangingPunct="1">
              <a:lnSpc>
                <a:spcPct val="90000"/>
              </a:lnSpc>
              <a:buFontTx/>
              <a:buAutoNum type="arabicPeriod"/>
            </a:pPr>
            <a:r>
              <a:rPr lang="en-US" sz="2800" b="1" dirty="0">
                <a:solidFill>
                  <a:schemeClr val="tx1"/>
                </a:solidFill>
              </a:rPr>
              <a:t>Develop</a:t>
            </a:r>
            <a:r>
              <a:rPr lang="en-US" sz="2800" dirty="0">
                <a:solidFill>
                  <a:schemeClr val="tx1"/>
                </a:solidFill>
              </a:rPr>
              <a:t> and </a:t>
            </a:r>
            <a:r>
              <a:rPr lang="en-US" sz="2800" b="1" dirty="0">
                <a:solidFill>
                  <a:schemeClr val="tx1"/>
                </a:solidFill>
              </a:rPr>
              <a:t>implement</a:t>
            </a:r>
            <a:r>
              <a:rPr lang="en-US" sz="2800" dirty="0">
                <a:solidFill>
                  <a:schemeClr val="tx1"/>
                </a:solidFill>
              </a:rPr>
              <a:t> ways to extract, process and use raw materials such as petroleum and natural gas.</a:t>
            </a:r>
            <a:endParaRPr lang="en-US" sz="2800" dirty="0">
              <a:solidFill>
                <a:schemeClr val="tx1"/>
              </a:solidFill>
            </a:endParaRPr>
          </a:p>
          <a:p>
            <a:pPr marL="609600" marR="0" indent="-609600" algn="l" eaLnBrk="1" hangingPunct="1">
              <a:lnSpc>
                <a:spcPct val="90000"/>
              </a:lnSpc>
              <a:buFontTx/>
              <a:buAutoNum type="arabicPeriod"/>
            </a:pPr>
            <a:r>
              <a:rPr lang="en-US" sz="2800" dirty="0">
                <a:solidFill>
                  <a:schemeClr val="tx1"/>
                </a:solidFill>
              </a:rPr>
              <a:t>Harness the power of the </a:t>
            </a:r>
            <a:r>
              <a:rPr lang="en-US" sz="2800" b="1" dirty="0">
                <a:solidFill>
                  <a:schemeClr val="tx1"/>
                </a:solidFill>
              </a:rPr>
              <a:t>sun</a:t>
            </a:r>
            <a:r>
              <a:rPr lang="en-US" sz="2800" dirty="0">
                <a:solidFill>
                  <a:schemeClr val="tx1"/>
                </a:solidFill>
              </a:rPr>
              <a:t>, and </a:t>
            </a:r>
            <a:r>
              <a:rPr lang="en-US" sz="2800" b="1" dirty="0">
                <a:solidFill>
                  <a:schemeClr val="tx1"/>
                </a:solidFill>
              </a:rPr>
              <a:t>wind</a:t>
            </a:r>
            <a:r>
              <a:rPr lang="en-US" sz="2800" dirty="0">
                <a:solidFill>
                  <a:schemeClr val="tx1"/>
                </a:solidFill>
              </a:rPr>
              <a:t> to satisfy the nations power needs.</a:t>
            </a:r>
            <a:endParaRPr lang="en-US" sz="2800" dirty="0">
              <a:solidFill>
                <a:schemeClr val="tx1"/>
              </a:solidFill>
            </a:endParaRPr>
          </a:p>
          <a:p>
            <a:pPr marL="609600" marR="0" indent="-609600" algn="l" eaLnBrk="1" hangingPunct="1">
              <a:lnSpc>
                <a:spcPct val="90000"/>
              </a:lnSpc>
              <a:buFontTx/>
              <a:buAutoNum type="arabicPeriod"/>
            </a:pPr>
            <a:endParaRPr lang="en-US" sz="2800" dirty="0">
              <a:solidFill>
                <a:schemeClr val="tx1"/>
              </a:solidFill>
            </a:endParaRPr>
          </a:p>
          <a:p>
            <a:pPr marL="609600" marR="0" indent="-609600" algn="l" eaLnBrk="1" hangingPunct="1">
              <a:lnSpc>
                <a:spcPct val="90000"/>
              </a:lnSpc>
              <a:buFontTx/>
              <a:buAutoNum type="arabicPeriod"/>
            </a:pPr>
            <a:endParaRPr lang="en-US" dirty="0">
              <a:solidFill>
                <a:schemeClr val="tx1"/>
              </a:solidFill>
            </a:endParaRPr>
          </a:p>
          <a:p>
            <a:pPr marL="609600" marR="0" indent="-609600" algn="l" eaLnBrk="1" hangingPunct="1">
              <a:lnSpc>
                <a:spcPct val="90000"/>
              </a:lnSpc>
              <a:buFontTx/>
              <a:buAutoNum type="arabicPeriod"/>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linds(horizontal)">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7" dur="500"/>
                                        <p:tgtEl>
                                          <p:spTgt spid="4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blinds(horizontal)">
                                      <p:cBhvr>
                                        <p:cTn id="22" dur="500"/>
                                        <p:tgtEl>
                                          <p:spTgt spid="40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blinds(horizontal)">
                                      <p:cBhvr>
                                        <p:cTn id="27" dur="500"/>
                                        <p:tgtEl>
                                          <p:spTgt spid="40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blinds(horizontal)">
                                      <p:cBhvr>
                                        <p:cTn id="32" dur="500"/>
                                        <p:tgtEl>
                                          <p:spTgt spid="409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099">
                                            <p:txEl>
                                              <p:pRg st="6" end="6"/>
                                            </p:txEl>
                                          </p:spTgt>
                                        </p:tgtEl>
                                        <p:attrNameLst>
                                          <p:attrName>style.visibility</p:attrName>
                                        </p:attrNameLst>
                                      </p:cBhvr>
                                      <p:to>
                                        <p:strVal val="visible"/>
                                      </p:to>
                                    </p:set>
                                    <p:animEffect transition="in" filter="blinds(horizontal)">
                                      <p:cBhvr>
                                        <p:cTn id="37" dur="500"/>
                                        <p:tgtEl>
                                          <p:spTgt spid="40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70"/>
          <p:cNvSpPr>
            <a:spLocks noGrp="1" noChangeArrowheads="1"/>
          </p:cNvSpPr>
          <p:nvPr>
            <p:ph type="sldNum" sz="quarter" idx="4294967295"/>
          </p:nvPr>
        </p:nvSpPr>
        <p:spPr>
          <a:xfrm>
            <a:off x="7924800" y="6356350"/>
            <a:ext cx="762000" cy="365125"/>
          </a:xfrm>
          <a:prstGeom prst="rect">
            <a:avLst/>
          </a:prstGeom>
        </p:spPr>
        <p:txBody>
          <a:bodyPr/>
          <a:lstStyle/>
          <a:p>
            <a:pPr>
              <a:defRPr/>
            </a:pPr>
            <a:fld id="{243601C0-21D6-442F-8D0E-327DD68298F8}" type="slidenum">
              <a:rPr lang="en-US"/>
            </a:fld>
            <a:endParaRPr lang="en-US" dirty="0"/>
          </a:p>
        </p:txBody>
      </p:sp>
      <p:sp>
        <p:nvSpPr>
          <p:cNvPr id="3074" name="Rectangle 2"/>
          <p:cNvSpPr>
            <a:spLocks noGrp="1" noChangeArrowheads="1"/>
          </p:cNvSpPr>
          <p:nvPr>
            <p:ph type="ctrTitle"/>
          </p:nvPr>
        </p:nvSpPr>
        <p:spPr>
          <a:xfrm>
            <a:off x="762000" y="152400"/>
            <a:ext cx="7772400" cy="457200"/>
          </a:xfrm>
        </p:spPr>
        <p:txBody>
          <a:bodyPr>
            <a:normAutofit fontScale="90000"/>
          </a:bodyPr>
          <a:lstStyle/>
          <a:p>
            <a:pPr algn="ctr" eaLnBrk="1" hangingPunct="1">
              <a:defRPr/>
            </a:pPr>
            <a:r>
              <a:rPr lang="en-US" sz="3110" dirty="0">
                <a:solidFill>
                  <a:schemeClr val="tx1">
                    <a:lumMod val="50000"/>
                    <a:lumOff val="50000"/>
                  </a:schemeClr>
                </a:solidFill>
              </a:rPr>
              <a:t>“What is a Profession”</a:t>
            </a:r>
            <a:r>
              <a:rPr lang="en-US" sz="3110" baseline="30000" dirty="0">
                <a:solidFill>
                  <a:schemeClr val="tx1">
                    <a:lumMod val="50000"/>
                    <a:lumOff val="50000"/>
                  </a:schemeClr>
                </a:solidFill>
              </a:rPr>
              <a:t>1</a:t>
            </a:r>
            <a:endParaRPr lang="en-US" sz="3110" baseline="30000" dirty="0">
              <a:solidFill>
                <a:schemeClr val="tx1">
                  <a:lumMod val="50000"/>
                  <a:lumOff val="50000"/>
                </a:schemeClr>
              </a:solidFill>
            </a:endParaRPr>
          </a:p>
        </p:txBody>
      </p:sp>
      <p:sp>
        <p:nvSpPr>
          <p:cNvPr id="3075" name="Rectangle 3"/>
          <p:cNvSpPr>
            <a:spLocks noGrp="1" noChangeArrowheads="1"/>
          </p:cNvSpPr>
          <p:nvPr>
            <p:ph type="subTitle" idx="1"/>
          </p:nvPr>
        </p:nvSpPr>
        <p:spPr>
          <a:xfrm>
            <a:off x="134143" y="304800"/>
            <a:ext cx="8857457" cy="5943600"/>
          </a:xfrm>
        </p:spPr>
        <p:txBody>
          <a:bodyPr/>
          <a:lstStyle/>
          <a:p>
            <a:pPr marL="609600" marR="0" indent="-609600" algn="l" eaLnBrk="1" hangingPunct="1">
              <a:lnSpc>
                <a:spcPct val="90000"/>
              </a:lnSpc>
              <a:buFontTx/>
              <a:buAutoNum type="arabicPeriod"/>
            </a:pPr>
            <a:r>
              <a:rPr lang="en-US" sz="2800" dirty="0">
                <a:solidFill>
                  <a:schemeClr val="tx1"/>
                </a:solidFill>
              </a:rPr>
              <a:t>Requires specialized and highly skilled knowledge.</a:t>
            </a:r>
            <a:endParaRPr lang="en-US" sz="2800" dirty="0">
              <a:solidFill>
                <a:schemeClr val="tx1"/>
              </a:solidFill>
            </a:endParaRPr>
          </a:p>
          <a:p>
            <a:pPr marL="609600" marR="0" indent="-609600" algn="l" eaLnBrk="1" hangingPunct="1">
              <a:lnSpc>
                <a:spcPct val="90000"/>
              </a:lnSpc>
              <a:buFontTx/>
              <a:buAutoNum type="arabicPeriod"/>
            </a:pPr>
            <a:r>
              <a:rPr lang="en-US" sz="2800" dirty="0">
                <a:solidFill>
                  <a:schemeClr val="tx1"/>
                </a:solidFill>
              </a:rPr>
              <a:t>Requires academic training.</a:t>
            </a:r>
            <a:endParaRPr lang="en-US" sz="2800" dirty="0">
              <a:solidFill>
                <a:schemeClr val="tx1"/>
              </a:solidFill>
            </a:endParaRPr>
          </a:p>
          <a:p>
            <a:pPr marL="609600" marR="0" indent="-609600" algn="l" eaLnBrk="1" hangingPunct="1">
              <a:lnSpc>
                <a:spcPct val="90000"/>
              </a:lnSpc>
              <a:buFontTx/>
              <a:buAutoNum type="arabicPeriod"/>
            </a:pPr>
            <a:r>
              <a:rPr lang="en-US" sz="2800" dirty="0">
                <a:solidFill>
                  <a:schemeClr val="tx1"/>
                </a:solidFill>
              </a:rPr>
              <a:t>Is regulated by professional bodies.</a:t>
            </a:r>
            <a:endParaRPr lang="en-US" sz="2800" dirty="0">
              <a:solidFill>
                <a:schemeClr val="tx1"/>
              </a:solidFill>
            </a:endParaRPr>
          </a:p>
          <a:p>
            <a:pPr marL="609600" marR="0" indent="-609600" algn="l" eaLnBrk="1" hangingPunct="1">
              <a:lnSpc>
                <a:spcPct val="90000"/>
              </a:lnSpc>
              <a:buFontTx/>
              <a:buAutoNum type="arabicPeriod"/>
            </a:pPr>
            <a:r>
              <a:rPr lang="en-US" sz="2800" dirty="0">
                <a:solidFill>
                  <a:schemeClr val="tx1"/>
                </a:solidFill>
              </a:rPr>
              <a:t>Requires examination of competence. </a:t>
            </a:r>
            <a:endParaRPr lang="en-US" sz="2800" dirty="0">
              <a:solidFill>
                <a:schemeClr val="tx1"/>
              </a:solidFill>
            </a:endParaRPr>
          </a:p>
          <a:p>
            <a:pPr marL="609600" marR="0" indent="-609600" algn="l" eaLnBrk="1" hangingPunct="1">
              <a:lnSpc>
                <a:spcPct val="90000"/>
              </a:lnSpc>
              <a:buFontTx/>
              <a:buAutoNum type="arabicPeriod"/>
            </a:pPr>
            <a:r>
              <a:rPr lang="en-US" sz="2800" dirty="0">
                <a:solidFill>
                  <a:schemeClr val="tx1"/>
                </a:solidFill>
              </a:rPr>
              <a:t>Function of professional work is vital to society.</a:t>
            </a:r>
            <a:endParaRPr lang="en-US" sz="2800" dirty="0">
              <a:solidFill>
                <a:schemeClr val="tx1"/>
              </a:solidFill>
            </a:endParaRPr>
          </a:p>
          <a:p>
            <a:pPr marL="609600" marR="0" indent="-609600" algn="l" eaLnBrk="1" hangingPunct="1">
              <a:lnSpc>
                <a:spcPct val="90000"/>
              </a:lnSpc>
              <a:buFontTx/>
              <a:buAutoNum type="arabicPeriod"/>
            </a:pPr>
            <a:r>
              <a:rPr lang="en-US" sz="2800" dirty="0">
                <a:solidFill>
                  <a:schemeClr val="tx1"/>
                </a:solidFill>
              </a:rPr>
              <a:t>Professionals enjoy higher social status.</a:t>
            </a:r>
            <a:endParaRPr lang="en-US" sz="2800" dirty="0">
              <a:solidFill>
                <a:schemeClr val="tx1"/>
              </a:solidFill>
            </a:endParaRPr>
          </a:p>
          <a:p>
            <a:pPr marL="609600" marR="0" indent="-609600" algn="l" eaLnBrk="1" hangingPunct="1">
              <a:lnSpc>
                <a:spcPct val="90000"/>
              </a:lnSpc>
              <a:buFontTx/>
              <a:buAutoNum type="arabicPeriod"/>
            </a:pPr>
            <a:r>
              <a:rPr lang="en-US" sz="2800" dirty="0">
                <a:solidFill>
                  <a:schemeClr val="tx1"/>
                </a:solidFill>
              </a:rPr>
              <a:t>Compensation is higher than other occupations</a:t>
            </a:r>
            <a:endParaRPr lang="en-US" sz="2800" dirty="0">
              <a:solidFill>
                <a:schemeClr val="tx1"/>
              </a:solidFill>
            </a:endParaRPr>
          </a:p>
          <a:p>
            <a:pPr marL="609600" marR="0" indent="-609600" algn="l" eaLnBrk="1" hangingPunct="1">
              <a:lnSpc>
                <a:spcPct val="90000"/>
              </a:lnSpc>
              <a:buFontTx/>
              <a:buAutoNum type="arabicPeriod" startAt="8"/>
            </a:pPr>
            <a:r>
              <a:rPr lang="en-US" sz="2800" dirty="0">
                <a:solidFill>
                  <a:schemeClr val="tx1"/>
                </a:solidFill>
              </a:rPr>
              <a:t>Professionals must perform under a standard of professional behavior that requires adherence to the highest principles of legal and ethical conduct</a:t>
            </a:r>
            <a:r>
              <a:rPr lang="en-US" sz="2800" baseline="30000" dirty="0">
                <a:solidFill>
                  <a:schemeClr val="tx1"/>
                </a:solidFill>
              </a:rPr>
              <a:t>2</a:t>
            </a:r>
            <a:r>
              <a:rPr lang="en-US" sz="2800" dirty="0">
                <a:solidFill>
                  <a:schemeClr val="tx1"/>
                </a:solidFill>
              </a:rPr>
              <a:t>.</a:t>
            </a:r>
            <a:endParaRPr lang="en-US" sz="2800" dirty="0">
              <a:solidFill>
                <a:schemeClr val="tx1"/>
              </a:solidFill>
            </a:endParaRPr>
          </a:p>
          <a:p>
            <a:pPr marL="609600" marR="0" indent="-609600" algn="l" eaLnBrk="1" hangingPunct="1">
              <a:lnSpc>
                <a:spcPct val="90000"/>
              </a:lnSpc>
              <a:buFontTx/>
              <a:buAutoNum type="arabicPeriod" startAt="8"/>
            </a:pPr>
            <a:r>
              <a:rPr lang="en-US" sz="2800" dirty="0">
                <a:solidFill>
                  <a:schemeClr val="tx1"/>
                </a:solidFill>
              </a:rPr>
              <a:t>Requires Continuing education to keep current with rapidly changing technology.  </a:t>
            </a:r>
            <a:endParaRPr lang="en-US" sz="2800" dirty="0">
              <a:solidFill>
                <a:schemeClr val="tx1"/>
              </a:solidFill>
            </a:endParaRPr>
          </a:p>
        </p:txBody>
      </p:sp>
      <p:sp>
        <p:nvSpPr>
          <p:cNvPr id="6" name="Right Brace 5"/>
          <p:cNvSpPr/>
          <p:nvPr/>
        </p:nvSpPr>
        <p:spPr>
          <a:xfrm rot="10800000">
            <a:off x="221394" y="685800"/>
            <a:ext cx="381000" cy="1600200"/>
          </a:xfrm>
          <a:prstGeom prst="rightBrace">
            <a:avLst/>
          </a:prstGeom>
          <a:ln w="38100">
            <a:solidFill>
              <a:schemeClr val="tx2">
                <a:lumMod val="1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7" name="Right Brace 6"/>
          <p:cNvSpPr/>
          <p:nvPr/>
        </p:nvSpPr>
        <p:spPr>
          <a:xfrm rot="10800000">
            <a:off x="207255" y="2743200"/>
            <a:ext cx="381000" cy="1219200"/>
          </a:xfrm>
          <a:prstGeom prst="rightBrace">
            <a:avLst/>
          </a:prstGeom>
          <a:ln w="38100">
            <a:solidFill>
              <a:schemeClr val="tx2">
                <a:lumMod val="1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8" name="Right Brace 7"/>
          <p:cNvSpPr/>
          <p:nvPr/>
        </p:nvSpPr>
        <p:spPr>
          <a:xfrm rot="10800000">
            <a:off x="112799" y="4267200"/>
            <a:ext cx="569912" cy="1962150"/>
          </a:xfrm>
          <a:prstGeom prst="rightBrace">
            <a:avLst>
              <a:gd name="adj1" fmla="val 0"/>
              <a:gd name="adj2" fmla="val 51017"/>
            </a:avLst>
          </a:prstGeom>
          <a:ln w="38100">
            <a:solidFill>
              <a:schemeClr val="tx2">
                <a:lumMod val="1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 fill="hold"/>
                                        <p:tgtEl>
                                          <p:spTgt spid="30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xEl>
                                              <p:pRg st="1" end="1"/>
                                            </p:txEl>
                                          </p:spTgt>
                                        </p:tgtEl>
                                        <p:attrNameLst>
                                          <p:attrName>style.visibility</p:attrName>
                                        </p:attrNameLst>
                                      </p:cBhvr>
                                      <p:to>
                                        <p:strVal val="visible"/>
                                      </p:to>
                                    </p:set>
                                    <p:anim calcmode="lin" valueType="num">
                                      <p:cBhvr additive="base">
                                        <p:cTn id="13" dur="500" fill="hold"/>
                                        <p:tgtEl>
                                          <p:spTgt spid="30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5">
                                            <p:txEl>
                                              <p:pRg st="2" end="2"/>
                                            </p:txEl>
                                          </p:spTgt>
                                        </p:tgtEl>
                                        <p:attrNameLst>
                                          <p:attrName>style.visibility</p:attrName>
                                        </p:attrNameLst>
                                      </p:cBhvr>
                                      <p:to>
                                        <p:strVal val="visible"/>
                                      </p:to>
                                    </p:set>
                                    <p:anim calcmode="lin" valueType="num">
                                      <p:cBhvr additive="base">
                                        <p:cTn id="19" dur="500" fill="hold"/>
                                        <p:tgtEl>
                                          <p:spTgt spid="30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5">
                                            <p:txEl>
                                              <p:pRg st="3" end="3"/>
                                            </p:txEl>
                                          </p:spTgt>
                                        </p:tgtEl>
                                        <p:attrNameLst>
                                          <p:attrName>style.visibility</p:attrName>
                                        </p:attrNameLst>
                                      </p:cBhvr>
                                      <p:to>
                                        <p:strVal val="visible"/>
                                      </p:to>
                                    </p:set>
                                    <p:anim calcmode="lin" valueType="num">
                                      <p:cBhvr additive="base">
                                        <p:cTn id="25" dur="500" fill="hold"/>
                                        <p:tgtEl>
                                          <p:spTgt spid="30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75">
                                            <p:txEl>
                                              <p:pRg st="4" end="4"/>
                                            </p:txEl>
                                          </p:spTgt>
                                        </p:tgtEl>
                                        <p:attrNameLst>
                                          <p:attrName>style.visibility</p:attrName>
                                        </p:attrNameLst>
                                      </p:cBhvr>
                                      <p:to>
                                        <p:strVal val="visible"/>
                                      </p:to>
                                    </p:set>
                                    <p:anim calcmode="lin" valueType="num">
                                      <p:cBhvr additive="base">
                                        <p:cTn id="31" dur="500" fill="hold"/>
                                        <p:tgtEl>
                                          <p:spTgt spid="30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075">
                                            <p:txEl>
                                              <p:pRg st="5" end="5"/>
                                            </p:txEl>
                                          </p:spTgt>
                                        </p:tgtEl>
                                        <p:attrNameLst>
                                          <p:attrName>style.visibility</p:attrName>
                                        </p:attrNameLst>
                                      </p:cBhvr>
                                      <p:to>
                                        <p:strVal val="visible"/>
                                      </p:to>
                                    </p:set>
                                    <p:anim calcmode="lin" valueType="num">
                                      <p:cBhvr additive="base">
                                        <p:cTn id="37" dur="500" fill="hold"/>
                                        <p:tgtEl>
                                          <p:spTgt spid="30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075">
                                            <p:txEl>
                                              <p:pRg st="6" end="6"/>
                                            </p:txEl>
                                          </p:spTgt>
                                        </p:tgtEl>
                                        <p:attrNameLst>
                                          <p:attrName>style.visibility</p:attrName>
                                        </p:attrNameLst>
                                      </p:cBhvr>
                                      <p:to>
                                        <p:strVal val="visible"/>
                                      </p:to>
                                    </p:set>
                                    <p:anim calcmode="lin" valueType="num">
                                      <p:cBhvr additive="base">
                                        <p:cTn id="43" dur="500" fill="hold"/>
                                        <p:tgtEl>
                                          <p:spTgt spid="307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07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075">
                                            <p:txEl>
                                              <p:pRg st="7" end="7"/>
                                            </p:txEl>
                                          </p:spTgt>
                                        </p:tgtEl>
                                        <p:attrNameLst>
                                          <p:attrName>style.visibility</p:attrName>
                                        </p:attrNameLst>
                                      </p:cBhvr>
                                      <p:to>
                                        <p:strVal val="visible"/>
                                      </p:to>
                                    </p:set>
                                    <p:anim calcmode="lin" valueType="num">
                                      <p:cBhvr additive="base">
                                        <p:cTn id="49" dur="500" fill="hold"/>
                                        <p:tgtEl>
                                          <p:spTgt spid="307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07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075">
                                            <p:txEl>
                                              <p:pRg st="8" end="8"/>
                                            </p:txEl>
                                          </p:spTgt>
                                        </p:tgtEl>
                                        <p:attrNameLst>
                                          <p:attrName>style.visibility</p:attrName>
                                        </p:attrNameLst>
                                      </p:cBhvr>
                                      <p:to>
                                        <p:strVal val="visible"/>
                                      </p:to>
                                    </p:set>
                                    <p:anim calcmode="lin" valueType="num">
                                      <p:cBhvr additive="base">
                                        <p:cTn id="55" dur="500" fill="hold"/>
                                        <p:tgtEl>
                                          <p:spTgt spid="307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07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304800" y="457200"/>
            <a:ext cx="8382000" cy="609600"/>
          </a:xfrm>
        </p:spPr>
        <p:txBody>
          <a:bodyPr>
            <a:normAutofit fontScale="90000"/>
          </a:bodyPr>
          <a:lstStyle/>
          <a:p>
            <a:r>
              <a:rPr lang="en-US">
                <a:solidFill>
                  <a:srgbClr val="000000"/>
                </a:solidFill>
              </a:rPr>
              <a:t>Code of ethics</a:t>
            </a:r>
            <a:endParaRPr lang="en-US">
              <a:solidFill>
                <a:srgbClr val="000000"/>
              </a:solidFill>
            </a:endParaRPr>
          </a:p>
        </p:txBody>
      </p:sp>
      <p:sp>
        <p:nvSpPr>
          <p:cNvPr id="48131" name="Rectangle 3"/>
          <p:cNvSpPr>
            <a:spLocks noGrp="1" noChangeArrowheads="1"/>
          </p:cNvSpPr>
          <p:nvPr>
            <p:ph type="body" sz="half" idx="4294967295"/>
          </p:nvPr>
        </p:nvSpPr>
        <p:spPr>
          <a:xfrm>
            <a:off x="152400" y="990600"/>
            <a:ext cx="8839200" cy="5410200"/>
          </a:xfrm>
        </p:spPr>
        <p:txBody>
          <a:bodyPr/>
          <a:lstStyle/>
          <a:p>
            <a:pPr>
              <a:lnSpc>
                <a:spcPct val="75000"/>
              </a:lnSpc>
              <a:buClr>
                <a:schemeClr val="folHlink"/>
              </a:buClr>
              <a:buFont typeface="Wingdings" panose="05000000000000000000" pitchFamily="2" charset="2"/>
              <a:buNone/>
            </a:pPr>
            <a:r>
              <a:rPr lang="en-US" sz="3200"/>
              <a:t>1. To accept responsibility in making decisions consistent with the safety, health and welfare of the public, and to disclose promptly factors that might endanger the public or the environment;</a:t>
            </a:r>
            <a:endParaRPr lang="en-US" sz="3200"/>
          </a:p>
          <a:p>
            <a:pPr>
              <a:lnSpc>
                <a:spcPct val="75000"/>
              </a:lnSpc>
              <a:buClr>
                <a:schemeClr val="folHlink"/>
              </a:buClr>
              <a:buFont typeface="Wingdings" panose="05000000000000000000" pitchFamily="2" charset="2"/>
              <a:buNone/>
            </a:pPr>
            <a:r>
              <a:rPr lang="en-US" sz="3200"/>
              <a:t>2. To avoid real or perceived conflicts of interest whenever possible, and to disclose them to affected parties when they do exist;</a:t>
            </a:r>
            <a:endParaRPr lang="en-US" sz="3200"/>
          </a:p>
          <a:p>
            <a:pPr>
              <a:lnSpc>
                <a:spcPct val="75000"/>
              </a:lnSpc>
              <a:buClr>
                <a:schemeClr val="folHlink"/>
              </a:buClr>
              <a:buFont typeface="Wingdings" panose="05000000000000000000" pitchFamily="2" charset="2"/>
              <a:buNone/>
            </a:pPr>
            <a:r>
              <a:rPr lang="en-US" sz="3200"/>
              <a:t>3. To be honest and realistic in stating claims or estimates based on available data;</a:t>
            </a:r>
            <a:endParaRPr lang="en-US" sz="3200"/>
          </a:p>
          <a:p>
            <a:pPr>
              <a:lnSpc>
                <a:spcPct val="75000"/>
              </a:lnSpc>
              <a:buClr>
                <a:schemeClr val="folHlink"/>
              </a:buClr>
              <a:buFont typeface="Wingdings" panose="05000000000000000000" pitchFamily="2" charset="2"/>
              <a:buNone/>
            </a:pPr>
            <a:r>
              <a:rPr lang="en-US" sz="3200"/>
              <a:t>4. To reject bribery in all its forms;</a:t>
            </a:r>
            <a:endParaRPr lang="en-US" sz="3200"/>
          </a:p>
          <a:p>
            <a:pPr>
              <a:lnSpc>
                <a:spcPct val="75000"/>
              </a:lnSpc>
              <a:buClr>
                <a:schemeClr val="folHlink"/>
              </a:buClr>
              <a:buFont typeface="Wingdings" panose="05000000000000000000" pitchFamily="2" charset="2"/>
              <a:buNone/>
            </a:pPr>
            <a:r>
              <a:rPr lang="en-US" sz="3200"/>
              <a:t>5. To improve the understanding of technology, its appropriate application, and potential consequences</a:t>
            </a:r>
            <a:endParaRPr lang="en-US" sz="3200"/>
          </a:p>
          <a:p>
            <a:pPr>
              <a:lnSpc>
                <a:spcPct val="75000"/>
              </a:lnSpc>
              <a:buClr>
                <a:schemeClr val="folHlink"/>
              </a:buClr>
              <a:buFont typeface="Wingdings" panose="05000000000000000000" pitchFamily="2" charset="2"/>
              <a:buNone/>
            </a:pPr>
            <a:endParaRPr lang="en-US"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Content Placeholder 2"/>
          <p:cNvSpPr>
            <a:spLocks noGrp="1"/>
          </p:cNvSpPr>
          <p:nvPr>
            <p:ph idx="1"/>
          </p:nvPr>
        </p:nvSpPr>
        <p:spPr>
          <a:xfrm>
            <a:off x="381000" y="228600"/>
            <a:ext cx="8229600" cy="6477000"/>
          </a:xfrm>
        </p:spPr>
        <p:txBody>
          <a:bodyPr/>
          <a:lstStyle/>
          <a:p>
            <a:pPr>
              <a:lnSpc>
                <a:spcPct val="75000"/>
              </a:lnSpc>
              <a:buClr>
                <a:schemeClr val="folHlink"/>
              </a:buClr>
              <a:buFont typeface="Wingdings" panose="05000000000000000000" pitchFamily="2" charset="2"/>
              <a:buNone/>
            </a:pPr>
            <a:r>
              <a:rPr lang="en-US" sz="2800"/>
              <a:t>6. to maintain and improve our technical competence and to undertake technological tasks for others only if qualified by training or experience, or after full disclosure of pertinent limitations;</a:t>
            </a:r>
            <a:endParaRPr lang="en-US" sz="2800"/>
          </a:p>
          <a:p>
            <a:pPr>
              <a:lnSpc>
                <a:spcPct val="75000"/>
              </a:lnSpc>
              <a:buClr>
                <a:schemeClr val="folHlink"/>
              </a:buClr>
              <a:buFont typeface="Wingdings" panose="05000000000000000000" pitchFamily="2" charset="2"/>
              <a:buNone/>
            </a:pPr>
            <a:r>
              <a:rPr lang="en-US" sz="2800"/>
              <a:t>7. to seek, accept, and offer honest criticism of technical work, to acknowledge and correct errors, and to credit properly the contributions of others;</a:t>
            </a:r>
            <a:endParaRPr lang="en-US" sz="2800"/>
          </a:p>
          <a:p>
            <a:pPr>
              <a:lnSpc>
                <a:spcPct val="75000"/>
              </a:lnSpc>
              <a:buClr>
                <a:schemeClr val="folHlink"/>
              </a:buClr>
              <a:buFont typeface="Wingdings" panose="05000000000000000000" pitchFamily="2" charset="2"/>
              <a:buNone/>
            </a:pPr>
            <a:r>
              <a:rPr lang="en-US" sz="2800"/>
              <a:t>8. to treat fairly all persons regardless of such factors as race, religion, gender, disability, age, or national origin;</a:t>
            </a:r>
            <a:endParaRPr lang="en-US" sz="2800"/>
          </a:p>
          <a:p>
            <a:pPr>
              <a:lnSpc>
                <a:spcPct val="75000"/>
              </a:lnSpc>
              <a:buClr>
                <a:schemeClr val="folHlink"/>
              </a:buClr>
              <a:buFont typeface="Wingdings" panose="05000000000000000000" pitchFamily="2" charset="2"/>
              <a:buNone/>
            </a:pPr>
            <a:r>
              <a:rPr lang="en-US" sz="2800"/>
              <a:t>9. to avoid injuring others, their property, reputation, or employment by false or malicious action;</a:t>
            </a:r>
            <a:endParaRPr lang="en-US" sz="2800"/>
          </a:p>
          <a:p>
            <a:pPr>
              <a:lnSpc>
                <a:spcPct val="75000"/>
              </a:lnSpc>
              <a:buClr>
                <a:schemeClr val="folHlink"/>
              </a:buClr>
              <a:buFont typeface="Wingdings" panose="05000000000000000000" pitchFamily="2" charset="2"/>
              <a:buNone/>
            </a:pPr>
            <a:r>
              <a:rPr lang="en-US" sz="2800"/>
              <a:t>10. to assist colleagues and co-workers in their professional development and to support them in following this code of ethics</a:t>
            </a:r>
            <a:endParaRPr lang="en-US" sz="2800"/>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457200" y="152400"/>
            <a:ext cx="8229600" cy="1143000"/>
          </a:xfrm>
        </p:spPr>
        <p:txBody>
          <a:bodyPr/>
          <a:lstStyle/>
          <a:p>
            <a:r>
              <a:rPr lang="en-US">
                <a:solidFill>
                  <a:srgbClr val="000000"/>
                </a:solidFill>
              </a:rPr>
              <a:t>Big picture</a:t>
            </a:r>
            <a:endParaRPr lang="en-US">
              <a:solidFill>
                <a:srgbClr val="000000"/>
              </a:solidFill>
            </a:endParaRPr>
          </a:p>
        </p:txBody>
      </p:sp>
      <p:sp>
        <p:nvSpPr>
          <p:cNvPr id="51203" name="Rectangle 3"/>
          <p:cNvSpPr>
            <a:spLocks noGrp="1" noChangeArrowheads="1"/>
          </p:cNvSpPr>
          <p:nvPr>
            <p:ph type="body" idx="4294967295"/>
          </p:nvPr>
        </p:nvSpPr>
        <p:spPr>
          <a:xfrm>
            <a:off x="479425" y="1371600"/>
            <a:ext cx="7826375" cy="4572000"/>
          </a:xfrm>
        </p:spPr>
        <p:txBody>
          <a:bodyPr/>
          <a:lstStyle/>
          <a:p>
            <a:pPr>
              <a:buClr>
                <a:schemeClr val="folHlink"/>
              </a:buClr>
            </a:pPr>
            <a:r>
              <a:rPr lang="en-US"/>
              <a:t>Codes of ethics are not a law</a:t>
            </a:r>
            <a:endParaRPr lang="en-US"/>
          </a:p>
          <a:p>
            <a:pPr>
              <a:buClr>
                <a:schemeClr val="folHlink"/>
              </a:buClr>
            </a:pPr>
            <a:r>
              <a:rPr lang="en-US"/>
              <a:t>Ethical behavior is not always protected by law</a:t>
            </a:r>
            <a:endParaRPr lang="en-US"/>
          </a:p>
          <a:p>
            <a:pPr>
              <a:buClr>
                <a:schemeClr val="folHlink"/>
              </a:buClr>
            </a:pPr>
            <a:r>
              <a:rPr lang="en-US"/>
              <a:t>Frequently ethical behavior may be perceived as disloyalty </a:t>
            </a:r>
            <a:endParaRPr lang="en-US"/>
          </a:p>
          <a:p>
            <a:pPr>
              <a:buClr>
                <a:schemeClr val="folHlink"/>
              </a:buClr>
            </a:pPr>
            <a:r>
              <a:rPr lang="en-US"/>
              <a:t>Many companies realize that ethical behavior is essential for their long term prosperity</a:t>
            </a:r>
            <a:endParaRPr lang="en-US"/>
          </a:p>
          <a:p>
            <a:pPr>
              <a:buClr>
                <a:schemeClr val="folHlink"/>
              </a:buClr>
            </a:pPr>
            <a:r>
              <a:rPr lang="en-US"/>
              <a:t>Ethically aware companies provide</a:t>
            </a:r>
            <a:endParaRPr lang="en-US"/>
          </a:p>
          <a:p>
            <a:pPr lvl="1">
              <a:buClr>
                <a:schemeClr val="folHlink"/>
              </a:buClr>
            </a:pPr>
            <a:r>
              <a:rPr lang="en-US"/>
              <a:t>Provide help to employees facing ethical conflicts</a:t>
            </a:r>
            <a:endParaRPr lang="en-US"/>
          </a:p>
          <a:p>
            <a:pPr lvl="1">
              <a:buClr>
                <a:schemeClr val="folHlink"/>
              </a:buClr>
            </a:pPr>
            <a:r>
              <a:rPr lang="en-US"/>
              <a:t>Allow employees to rise ethical concerns anonymously</a:t>
            </a:r>
            <a:endParaRPr lang="en-US"/>
          </a:p>
          <a:p>
            <a:pPr lvl="1">
              <a:buClr>
                <a:schemeClr val="folHlink"/>
              </a:buClr>
            </a:pPr>
            <a:r>
              <a:rPr lang="en-US"/>
              <a:t>Explicitly prevent any forms of retaliation for reporting unethical behavior</a:t>
            </a:r>
            <a:endParaRPr lang="en-US"/>
          </a:p>
          <a:p>
            <a:pPr lvl="1">
              <a:buClr>
                <a:schemeClr val="folHlink"/>
              </a:buClr>
            </a:pPr>
            <a:endParaRPr lang="en-US"/>
          </a:p>
          <a:p>
            <a:pPr lvl="1">
              <a:buClr>
                <a:schemeClr val="folHlink"/>
              </a:buClr>
              <a:buFontTx/>
              <a:buNone/>
            </a:pP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Slide Number Placeholder 6"/>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315C40DB-4A4F-477C-9872-E46E9EECAC5A}" type="slidenum">
              <a:rPr lang="en-US" smtClean="0"/>
            </a:fld>
            <a:endParaRPr lang="en-US"/>
          </a:p>
        </p:txBody>
      </p:sp>
      <p:sp>
        <p:nvSpPr>
          <p:cNvPr id="35843" name="Rectangle 2"/>
          <p:cNvSpPr>
            <a:spLocks noGrp="1" noChangeArrowheads="1"/>
          </p:cNvSpPr>
          <p:nvPr>
            <p:ph type="title"/>
          </p:nvPr>
        </p:nvSpPr>
        <p:spPr>
          <a:xfrm>
            <a:off x="457200" y="704850"/>
            <a:ext cx="8229600" cy="1143000"/>
          </a:xfrm>
        </p:spPr>
        <p:txBody>
          <a:bodyPr/>
          <a:lstStyle/>
          <a:p>
            <a:pPr algn="ctr" eaLnBrk="1" hangingPunct="1"/>
            <a:r>
              <a:rPr lang="en-US"/>
              <a:t>Law vs. Ethics</a:t>
            </a:r>
            <a:endParaRPr lang="en-US"/>
          </a:p>
        </p:txBody>
      </p:sp>
      <p:sp>
        <p:nvSpPr>
          <p:cNvPr id="35844" name="Rectangle 3"/>
          <p:cNvSpPr>
            <a:spLocks noGrp="1" noChangeArrowheads="1"/>
          </p:cNvSpPr>
          <p:nvPr>
            <p:ph type="body" sz="half" idx="1"/>
          </p:nvPr>
        </p:nvSpPr>
        <p:spPr>
          <a:xfrm>
            <a:off x="533400" y="2057400"/>
            <a:ext cx="3810000" cy="4114800"/>
          </a:xfrm>
        </p:spPr>
        <p:txBody>
          <a:bodyPr/>
          <a:lstStyle/>
          <a:p>
            <a:pPr eaLnBrk="1" hangingPunct="1"/>
            <a:r>
              <a:rPr lang="en-US" dirty="0"/>
              <a:t>LAW</a:t>
            </a:r>
            <a:endParaRPr lang="en-US" dirty="0"/>
          </a:p>
          <a:p>
            <a:pPr lvl="1" eaLnBrk="1" hangingPunct="1"/>
            <a:r>
              <a:rPr lang="en-US" dirty="0"/>
              <a:t>Creates rules to guide conduct</a:t>
            </a:r>
            <a:endParaRPr lang="en-US" dirty="0"/>
          </a:p>
          <a:p>
            <a:pPr lvl="1" eaLnBrk="1" hangingPunct="1"/>
            <a:r>
              <a:rPr lang="en-US" dirty="0"/>
              <a:t>Balances competing values</a:t>
            </a:r>
            <a:endParaRPr lang="en-US" dirty="0"/>
          </a:p>
          <a:p>
            <a:pPr lvl="1" eaLnBrk="1" hangingPunct="1"/>
            <a:r>
              <a:rPr lang="en-US" dirty="0"/>
              <a:t>Punishes conduct that is “illegal” through formal structures</a:t>
            </a:r>
            <a:endParaRPr lang="en-US" dirty="0"/>
          </a:p>
        </p:txBody>
      </p:sp>
      <p:sp>
        <p:nvSpPr>
          <p:cNvPr id="35845" name="Rectangle 4"/>
          <p:cNvSpPr>
            <a:spLocks noGrp="1" noChangeArrowheads="1"/>
          </p:cNvSpPr>
          <p:nvPr>
            <p:ph type="body" sz="half" idx="2"/>
          </p:nvPr>
        </p:nvSpPr>
        <p:spPr>
          <a:xfrm>
            <a:off x="4495800" y="2057400"/>
            <a:ext cx="3810000" cy="4114800"/>
          </a:xfrm>
        </p:spPr>
        <p:txBody>
          <a:bodyPr/>
          <a:lstStyle/>
          <a:p>
            <a:pPr eaLnBrk="1" hangingPunct="1"/>
            <a:r>
              <a:rPr lang="en-US" dirty="0"/>
              <a:t>ETHICS</a:t>
            </a:r>
            <a:endParaRPr lang="en-US" dirty="0"/>
          </a:p>
          <a:p>
            <a:pPr lvl="1" eaLnBrk="1" hangingPunct="1"/>
            <a:r>
              <a:rPr lang="en-US" dirty="0"/>
              <a:t>Offers guidance on conduct </a:t>
            </a:r>
            <a:endParaRPr lang="en-US" dirty="0"/>
          </a:p>
          <a:p>
            <a:pPr lvl="1" eaLnBrk="1" hangingPunct="1"/>
            <a:r>
              <a:rPr lang="en-US" dirty="0"/>
              <a:t>Addresses situations in which competing values clash</a:t>
            </a:r>
            <a:endParaRPr lang="en-US" dirty="0"/>
          </a:p>
          <a:p>
            <a:pPr lvl="1" eaLnBrk="1" hangingPunct="1"/>
            <a:r>
              <a:rPr lang="en-US" dirty="0"/>
              <a:t>Incentives and disincentives may be created by “group” (formal or informal)</a:t>
            </a:r>
            <a:endParaRPr lang="en-US" dirty="0"/>
          </a:p>
        </p:txBody>
      </p:sp>
      <p:sp>
        <p:nvSpPr>
          <p:cNvPr id="35846" name="TextBox 5"/>
          <p:cNvSpPr txBox="1">
            <a:spLocks noChangeArrowheads="1"/>
          </p:cNvSpPr>
          <p:nvPr/>
        </p:nvSpPr>
        <p:spPr bwMode="auto">
          <a:xfrm>
            <a:off x="5943600" y="6581775"/>
            <a:ext cx="269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200">
                <a:latin typeface="Tahoma" panose="020B0604030504040204" pitchFamily="34" charset="0"/>
              </a:rPr>
              <a:t>From CSUN ME Senior Ethics Lecture</a:t>
            </a:r>
            <a:endParaRPr lang="en-US" sz="1200">
              <a:latin typeface="Tahoma" panose="020B060403050404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Slide Number Placeholder 6"/>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21AE5E5A-6927-427D-8A8B-CD67EFC9B0B5}" type="slidenum">
              <a:rPr lang="en-US" smtClean="0"/>
            </a:fld>
            <a:endParaRPr lang="en-US"/>
          </a:p>
        </p:txBody>
      </p:sp>
      <p:sp>
        <p:nvSpPr>
          <p:cNvPr id="36867" name="Rectangle 2"/>
          <p:cNvSpPr>
            <a:spLocks noGrp="1" noChangeArrowheads="1"/>
          </p:cNvSpPr>
          <p:nvPr>
            <p:ph type="title"/>
          </p:nvPr>
        </p:nvSpPr>
        <p:spPr>
          <a:xfrm>
            <a:off x="457200" y="704850"/>
            <a:ext cx="8229600" cy="1143000"/>
          </a:xfrm>
        </p:spPr>
        <p:txBody>
          <a:bodyPr/>
          <a:lstStyle/>
          <a:p>
            <a:pPr eaLnBrk="1" hangingPunct="1"/>
            <a:r>
              <a:rPr lang="en-US" sz="4000"/>
              <a:t>Is “legal” the same as “ethical?”</a:t>
            </a:r>
            <a:endParaRPr lang="en-US" sz="4000"/>
          </a:p>
        </p:txBody>
      </p:sp>
      <p:sp>
        <p:nvSpPr>
          <p:cNvPr id="36868" name="Rectangle 3"/>
          <p:cNvSpPr>
            <a:spLocks noGrp="1" noChangeArrowheads="1"/>
          </p:cNvSpPr>
          <p:nvPr>
            <p:ph type="body" sz="half" idx="1"/>
          </p:nvPr>
        </p:nvSpPr>
        <p:spPr>
          <a:xfrm>
            <a:off x="609600" y="2017713"/>
            <a:ext cx="3810000" cy="3240087"/>
          </a:xfrm>
        </p:spPr>
        <p:txBody>
          <a:bodyPr/>
          <a:lstStyle/>
          <a:p>
            <a:pPr eaLnBrk="1" hangingPunct="1"/>
            <a:r>
              <a:rPr lang="en-US" sz="2400"/>
              <a:t>YES:</a:t>
            </a:r>
            <a:endParaRPr lang="en-US" sz="2400"/>
          </a:p>
          <a:p>
            <a:pPr lvl="1" eaLnBrk="1" hangingPunct="1"/>
            <a:r>
              <a:rPr lang="en-US" sz="2200"/>
              <a:t>Law defines duties, rights, “allowable conduct.”</a:t>
            </a:r>
            <a:endParaRPr lang="en-US" sz="2200"/>
          </a:p>
          <a:p>
            <a:pPr lvl="1" eaLnBrk="1" hangingPunct="1"/>
            <a:r>
              <a:rPr lang="en-US" sz="2200"/>
              <a:t>Compliance approach to business ethics: fulfill legally recognized duties, and don’t go further.</a:t>
            </a:r>
            <a:endParaRPr lang="en-US" sz="2200"/>
          </a:p>
        </p:txBody>
      </p:sp>
      <p:sp>
        <p:nvSpPr>
          <p:cNvPr id="36869" name="Rectangle 4"/>
          <p:cNvSpPr>
            <a:spLocks noGrp="1" noChangeArrowheads="1"/>
          </p:cNvSpPr>
          <p:nvPr>
            <p:ph type="body" sz="half" idx="2"/>
          </p:nvPr>
        </p:nvSpPr>
        <p:spPr>
          <a:xfrm>
            <a:off x="4343400" y="2017713"/>
            <a:ext cx="4572000" cy="3621087"/>
          </a:xfrm>
        </p:spPr>
        <p:txBody>
          <a:bodyPr/>
          <a:lstStyle/>
          <a:p>
            <a:pPr eaLnBrk="1" hangingPunct="1"/>
            <a:r>
              <a:rPr lang="en-US" sz="2400"/>
              <a:t>NO:</a:t>
            </a:r>
            <a:endParaRPr lang="en-US" sz="2400"/>
          </a:p>
          <a:p>
            <a:pPr lvl="1" eaLnBrk="1" hangingPunct="1"/>
            <a:r>
              <a:rPr lang="en-US"/>
              <a:t>Law does not address all ethical dilemmas</a:t>
            </a:r>
            <a:endParaRPr lang="en-US"/>
          </a:p>
          <a:p>
            <a:pPr lvl="1" eaLnBrk="1" hangingPunct="1"/>
            <a:r>
              <a:rPr lang="en-US"/>
              <a:t>Legal duties may not meet standard of ethical conduct</a:t>
            </a:r>
            <a:endParaRPr lang="en-US"/>
          </a:p>
          <a:p>
            <a:pPr lvl="1" eaLnBrk="1" hangingPunct="1"/>
            <a:r>
              <a:rPr lang="en-US"/>
              <a:t>“Beyond Compliance” approach: fulfill legally recognized duties, but don’t stop there.</a:t>
            </a:r>
            <a:endParaRPr lang="en-US"/>
          </a:p>
        </p:txBody>
      </p:sp>
      <p:sp>
        <p:nvSpPr>
          <p:cNvPr id="36870" name="TextBox 5"/>
          <p:cNvSpPr txBox="1">
            <a:spLocks noChangeArrowheads="1"/>
          </p:cNvSpPr>
          <p:nvPr/>
        </p:nvSpPr>
        <p:spPr bwMode="auto">
          <a:xfrm>
            <a:off x="5918200" y="6581775"/>
            <a:ext cx="269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200">
                <a:latin typeface="Tahoma" panose="020B0604030504040204" pitchFamily="34" charset="0"/>
              </a:rPr>
              <a:t>From CSUN ME Senior Ethics Lecture</a:t>
            </a:r>
            <a:endParaRPr lang="en-US" sz="1200">
              <a:latin typeface="Tahoma" panose="020B0604030504040204" pitchFamily="34" charset="0"/>
            </a:endParaRPr>
          </a:p>
        </p:txBody>
      </p:sp>
      <p:sp>
        <p:nvSpPr>
          <p:cNvPr id="36871" name="TextBox 6"/>
          <p:cNvSpPr txBox="1">
            <a:spLocks noChangeArrowheads="1"/>
          </p:cNvSpPr>
          <p:nvPr/>
        </p:nvSpPr>
        <p:spPr bwMode="auto">
          <a:xfrm>
            <a:off x="1981200" y="5638800"/>
            <a:ext cx="5103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Tahoma" panose="020B0604030504040204" pitchFamily="34" charset="0"/>
              </a:rPr>
              <a:t>In case of conflicts, it’s generally held that legal </a:t>
            </a:r>
            <a:endParaRPr lang="en-US">
              <a:latin typeface="Tahoma" panose="020B0604030504040204" pitchFamily="34" charset="0"/>
            </a:endParaRPr>
          </a:p>
          <a:p>
            <a:pPr eaLnBrk="1" hangingPunct="1"/>
            <a:r>
              <a:rPr lang="en-US">
                <a:latin typeface="Tahoma" panose="020B0604030504040204" pitchFamily="34" charset="0"/>
              </a:rPr>
              <a:t>standards must give way to ethical standards</a:t>
            </a:r>
            <a:endParaRPr lang="en-US">
              <a:latin typeface="Tahoma" panose="020B060403050404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Content Placeholder 2"/>
          <p:cNvSpPr>
            <a:spLocks noGrp="1"/>
          </p:cNvSpPr>
          <p:nvPr>
            <p:ph idx="1"/>
          </p:nvPr>
        </p:nvSpPr>
        <p:spPr>
          <a:xfrm>
            <a:off x="228600" y="76200"/>
            <a:ext cx="8763000" cy="6553200"/>
          </a:xfrm>
        </p:spPr>
        <p:txBody>
          <a:bodyPr/>
          <a:lstStyle/>
          <a:p>
            <a:pPr marL="109220" indent="0" algn="just">
              <a:buNone/>
            </a:pPr>
            <a:r>
              <a:rPr lang="en-US" b="1" dirty="0"/>
              <a:t>Sources of law</a:t>
            </a:r>
            <a:r>
              <a:rPr lang="en-US" dirty="0"/>
              <a:t> means the origin from which rules of human conduct come into existence and derive legal force or binding characters. It also refers to the sovereign or the state from which the law derives its force or validity. There are many different sources of law in any society. Some laws will be written in the country's Constitution; others will be passed by the legislature (usually a parliament or congress); others will come from long social tradition. T</a:t>
            </a:r>
            <a:r>
              <a:rPr lang="en-US" b="1" dirty="0"/>
              <a:t>here are many different sources of law:</a:t>
            </a:r>
            <a:endParaRPr lang="en-US" dirty="0"/>
          </a:p>
          <a:p>
            <a:r>
              <a:rPr lang="en-US" b="1" dirty="0"/>
              <a:t>The Constitution</a:t>
            </a:r>
            <a:endParaRPr lang="en-US" dirty="0"/>
          </a:p>
          <a:p>
            <a:r>
              <a:rPr lang="en-US" b="1" dirty="0"/>
              <a:t>Customary law</a:t>
            </a:r>
            <a:endParaRPr lang="en-US" dirty="0"/>
          </a:p>
          <a:p>
            <a:r>
              <a:rPr lang="en-US" b="1" dirty="0"/>
              <a:t>Common law</a:t>
            </a:r>
            <a:endParaRPr lang="en-US" dirty="0"/>
          </a:p>
          <a:p>
            <a:r>
              <a:rPr lang="en-US" b="1" dirty="0"/>
              <a:t>Case law</a:t>
            </a:r>
            <a:endParaRPr lang="en-US" dirty="0"/>
          </a:p>
          <a:p>
            <a:r>
              <a:rPr lang="en-US" b="1" dirty="0"/>
              <a:t>Legislation</a:t>
            </a:r>
            <a:endParaRPr lang="en-US" dirty="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GB" dirty="0"/>
              <a:t>Nigerian legal system</a:t>
            </a:r>
            <a:endParaRPr lang="en-GB" dirty="0"/>
          </a:p>
        </p:txBody>
      </p:sp>
      <p:sp>
        <p:nvSpPr>
          <p:cNvPr id="3" name="Content Placeholder 2"/>
          <p:cNvSpPr>
            <a:spLocks noGrp="1"/>
          </p:cNvSpPr>
          <p:nvPr>
            <p:ph idx="1"/>
          </p:nvPr>
        </p:nvSpPr>
        <p:spPr>
          <a:xfrm>
            <a:off x="228600" y="762000"/>
            <a:ext cx="8610600" cy="5486400"/>
          </a:xfrm>
        </p:spPr>
        <p:txBody>
          <a:bodyPr/>
          <a:lstStyle/>
          <a:p>
            <a:r>
              <a:rPr lang="en-GB" sz="3200" dirty="0"/>
              <a:t>The </a:t>
            </a:r>
            <a:r>
              <a:rPr lang="en-GB" sz="3200" b="1" dirty="0"/>
              <a:t>Nigerian legal system</a:t>
            </a:r>
            <a:r>
              <a:rPr lang="en-GB" sz="3200" dirty="0"/>
              <a:t> is based on the English common law </a:t>
            </a:r>
            <a:r>
              <a:rPr lang="en-GB" sz="3200" b="1" dirty="0"/>
              <a:t>legal</a:t>
            </a:r>
            <a:r>
              <a:rPr lang="en-GB" sz="3200" dirty="0"/>
              <a:t> tradition. The sources of </a:t>
            </a:r>
            <a:r>
              <a:rPr lang="en-GB" sz="3200" b="1" dirty="0"/>
              <a:t>Nigerian</a:t>
            </a:r>
            <a:r>
              <a:rPr lang="en-GB" sz="3200" dirty="0"/>
              <a:t> law are: The Constitution, Legislation, English law, Customary law, Islamic law and </a:t>
            </a:r>
            <a:r>
              <a:rPr lang="en-GB" sz="3200" b="1" dirty="0"/>
              <a:t>Judicial</a:t>
            </a:r>
            <a:r>
              <a:rPr lang="en-GB" sz="3200" dirty="0"/>
              <a:t> precedents.</a:t>
            </a:r>
            <a:endParaRPr lang="en-GB" sz="3200" dirty="0"/>
          </a:p>
          <a:p>
            <a:r>
              <a:rPr lang="en-GB" sz="3200" dirty="0"/>
              <a:t>The </a:t>
            </a:r>
            <a:r>
              <a:rPr lang="en-GB" sz="3200" b="1" dirty="0"/>
              <a:t>three main sources of law</a:t>
            </a:r>
            <a:r>
              <a:rPr lang="en-GB" sz="3200" dirty="0"/>
              <a:t> are constitutional, statutory, and case </a:t>
            </a:r>
            <a:r>
              <a:rPr lang="en-GB" sz="3200" b="1" dirty="0"/>
              <a:t>law</a:t>
            </a:r>
            <a:r>
              <a:rPr lang="en-GB" sz="3200" dirty="0"/>
              <a:t>. The </a:t>
            </a:r>
            <a:r>
              <a:rPr lang="en-GB" sz="3200" b="1" dirty="0"/>
              <a:t>sources of law</a:t>
            </a:r>
            <a:r>
              <a:rPr lang="en-GB" sz="3200" dirty="0"/>
              <a:t> are ranked as follows: first, constitutional; second, statutory; and third, case </a:t>
            </a:r>
            <a:r>
              <a:rPr lang="en-GB" sz="3200" b="1" dirty="0"/>
              <a:t>law</a:t>
            </a:r>
            <a:r>
              <a:rPr lang="en-GB" sz="3200" dirty="0"/>
              <a:t>.</a:t>
            </a:r>
            <a:endParaRPr lang="en-GB"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172200"/>
          </a:xfrm>
        </p:spPr>
        <p:txBody>
          <a:bodyPr/>
          <a:lstStyle/>
          <a:p>
            <a:pPr marL="0" indent="0" algn="just">
              <a:buNone/>
            </a:pPr>
            <a:r>
              <a:rPr lang="en-US" sz="2800" b="1" dirty="0">
                <a:solidFill>
                  <a:srgbClr val="0A4A22"/>
                </a:solidFill>
              </a:rPr>
              <a:t>Sources of law</a:t>
            </a:r>
            <a:r>
              <a:rPr lang="en-US" sz="2800" dirty="0">
                <a:solidFill>
                  <a:srgbClr val="0A4A22"/>
                </a:solidFill>
              </a:rPr>
              <a:t> is a legal term that refers to the authorities by which law is made. There are a number of different sources that are used to define the creation and force of law, though not all are used equally. Some examples of sources include </a:t>
            </a:r>
            <a:r>
              <a:rPr lang="en-US" sz="2800" u="sng" dirty="0">
                <a:solidFill>
                  <a:srgbClr val="0A4A22"/>
                </a:solidFill>
                <a:hlinkClick r:id="rId1"/>
              </a:rPr>
              <a:t>legislation</a:t>
            </a:r>
            <a:r>
              <a:rPr lang="en-US" sz="2800" dirty="0">
                <a:solidFill>
                  <a:srgbClr val="0A4A22"/>
                </a:solidFill>
              </a:rPr>
              <a:t>, government regulation, court decisions, and custom.</a:t>
            </a:r>
            <a:endParaRPr lang="en-GB" sz="2800" dirty="0">
              <a:solidFill>
                <a:srgbClr val="0A4A22"/>
              </a:solidFill>
            </a:endParaRPr>
          </a:p>
          <a:p>
            <a:pPr marL="0" indent="0" algn="just">
              <a:buNone/>
            </a:pPr>
            <a:r>
              <a:rPr lang="en-US" sz="2800" dirty="0">
                <a:solidFill>
                  <a:srgbClr val="0A4A22"/>
                </a:solidFill>
              </a:rPr>
              <a:t>Several factors of law have contributed to the development of law. These factors are regarded as the sources of law.</a:t>
            </a:r>
            <a:endParaRPr lang="en-GB" sz="2800" dirty="0">
              <a:solidFill>
                <a:srgbClr val="0A4A22"/>
              </a:solidFill>
            </a:endParaRPr>
          </a:p>
          <a:p>
            <a:pPr algn="just"/>
            <a:r>
              <a:rPr lang="en-US" sz="2800" b="1" dirty="0">
                <a:solidFill>
                  <a:srgbClr val="0A4A22"/>
                </a:solidFill>
              </a:rPr>
              <a:t>There are different participants in the law:</a:t>
            </a:r>
            <a:endParaRPr lang="en-GB" sz="2800" dirty="0">
              <a:solidFill>
                <a:srgbClr val="0A4A22"/>
              </a:solidFill>
            </a:endParaRPr>
          </a:p>
          <a:p>
            <a:pPr lvl="0" algn="just"/>
            <a:r>
              <a:rPr lang="en-US" sz="2800" b="1" dirty="0">
                <a:solidFill>
                  <a:srgbClr val="0A4A22"/>
                </a:solidFill>
              </a:rPr>
              <a:t>Those who pass laws (legislature)</a:t>
            </a:r>
            <a:endParaRPr lang="en-GB" sz="2800" dirty="0">
              <a:solidFill>
                <a:srgbClr val="0A4A22"/>
              </a:solidFill>
            </a:endParaRPr>
          </a:p>
          <a:p>
            <a:pPr lvl="0" algn="just"/>
            <a:r>
              <a:rPr lang="en-US" sz="2800" b="1" dirty="0">
                <a:solidFill>
                  <a:srgbClr val="0A4A22"/>
                </a:solidFill>
              </a:rPr>
              <a:t>Those who apply laws (judiciary)</a:t>
            </a:r>
            <a:endParaRPr lang="en-GB" sz="2800" dirty="0">
              <a:solidFill>
                <a:srgbClr val="0A4A22"/>
              </a:solidFill>
            </a:endParaRPr>
          </a:p>
          <a:p>
            <a:pPr lvl="0" algn="just"/>
            <a:r>
              <a:rPr lang="en-US" sz="2800" b="1" dirty="0">
                <a:solidFill>
                  <a:srgbClr val="0A4A22"/>
                </a:solidFill>
              </a:rPr>
              <a:t>Those who enforce laws (police and others)</a:t>
            </a:r>
            <a:endParaRPr lang="en-GB" sz="2800" dirty="0">
              <a:solidFill>
                <a:srgbClr val="0A4A22"/>
              </a:solidFill>
            </a:endParaRPr>
          </a:p>
          <a:p>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629400"/>
          </a:xfrm>
        </p:spPr>
        <p:txBody>
          <a:bodyPr/>
          <a:lstStyle/>
          <a:p>
            <a:r>
              <a:rPr lang="en-US" b="1" dirty="0"/>
              <a:t>Sources of law</a:t>
            </a:r>
            <a:endParaRPr lang="en-GB" b="1" dirty="0"/>
          </a:p>
          <a:p>
            <a:pPr marL="0" indent="0">
              <a:buNone/>
            </a:pPr>
            <a:r>
              <a:rPr lang="en-US" sz="2800" dirty="0"/>
              <a:t>There are many different sources of law in any society. Some laws will be written in the country's Constitution; others will be passed by the legislature (usually a parliament or congress); others will come from long social tradition.</a:t>
            </a:r>
            <a:endParaRPr lang="en-US" sz="2800" dirty="0"/>
          </a:p>
          <a:p>
            <a:r>
              <a:rPr lang="en-US" sz="2800" b="1" i="1" dirty="0"/>
              <a:t>Constitutional law</a:t>
            </a:r>
            <a:endParaRPr lang="en-GB" sz="2800" b="1" i="1" dirty="0"/>
          </a:p>
          <a:p>
            <a:pPr marL="109220" indent="0" algn="just">
              <a:buNone/>
            </a:pPr>
            <a:r>
              <a:rPr lang="en-US" sz="2800" dirty="0"/>
              <a:t>In any country with a written Constitution, the Constitution will take precedence over any other source of law. For example, if the Constitution says there is freedom of speech for all citizens, but the social tradition is for women not to speak in public, a court will protect the right of any woman to speak in public if she chooses to do so; the Constitution takes priority over tradition.</a:t>
            </a:r>
            <a:endParaRPr lang="en-GB" sz="2800" dirty="0"/>
          </a:p>
          <a:p>
            <a:endParaRPr lang="en-GB" dirty="0"/>
          </a:p>
          <a:p>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Sources of Law</a:t>
            </a:r>
            <a:endParaRPr lang="en-GB" dirty="0"/>
          </a:p>
        </p:txBody>
      </p:sp>
      <p:sp>
        <p:nvSpPr>
          <p:cNvPr id="3" name="Content Placeholder 2"/>
          <p:cNvSpPr>
            <a:spLocks noGrp="1"/>
          </p:cNvSpPr>
          <p:nvPr>
            <p:ph idx="1"/>
          </p:nvPr>
        </p:nvSpPr>
        <p:spPr>
          <a:xfrm>
            <a:off x="457200" y="1447800"/>
            <a:ext cx="8534400" cy="4559300"/>
          </a:xfrm>
        </p:spPr>
        <p:txBody>
          <a:bodyPr>
            <a:normAutofit/>
          </a:bodyPr>
          <a:lstStyle/>
          <a:p>
            <a:pPr algn="just"/>
            <a:r>
              <a:rPr lang="en-GB" sz="3200" dirty="0"/>
              <a:t>The sources of the law in Nigeria  are:</a:t>
            </a:r>
            <a:endParaRPr lang="en-GB" sz="3200" dirty="0"/>
          </a:p>
          <a:p>
            <a:pPr lvl="1" algn="just"/>
            <a:r>
              <a:rPr lang="en-GB" sz="3200" dirty="0"/>
              <a:t>Constitution-  The system of laws, customs and conventions which define the composition and powers of organs of the state, and regulate the relations of the various state organs to one another and to the private citizen. It is the document containing the substance of the law</a:t>
            </a:r>
            <a:endParaRPr lang="en-GB"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0"/>
            <a:ext cx="8763000" cy="6629400"/>
          </a:xfrm>
        </p:spPr>
        <p:txBody>
          <a:bodyPr/>
          <a:lstStyle/>
          <a:p>
            <a:r>
              <a:rPr lang="en-US" b="1" i="1" dirty="0"/>
              <a:t>Customary law</a:t>
            </a:r>
            <a:endParaRPr lang="en-GB" b="1" i="1" dirty="0"/>
          </a:p>
          <a:p>
            <a:pPr marL="0" indent="0">
              <a:buNone/>
            </a:pPr>
            <a:r>
              <a:rPr lang="en-US" dirty="0"/>
              <a:t>In developing countries which have been decolonized since the 1940s or 1950s, the law is generally a mixture of law introduced by the former colonial power and customary law which was there before colonization. That customary law often still takes priority in certain areas of life.</a:t>
            </a:r>
            <a:r>
              <a:rPr lang="en-GB" dirty="0"/>
              <a:t> </a:t>
            </a:r>
            <a:r>
              <a:rPr lang="en-US" dirty="0"/>
              <a:t>Typically, customary law applies in those areas of life least affected by colonization. These may include land ownership, customary titles and family relationships.</a:t>
            </a:r>
            <a:r>
              <a:rPr lang="en-GB" dirty="0"/>
              <a:t> </a:t>
            </a:r>
            <a:r>
              <a:rPr lang="en-US" dirty="0"/>
              <a:t>There may be special courts to deal with these matters, conducted according to tradition and presided over by a customary chief or group of elders. Alternatively, these matters may be dealt with by an ordinary court, but customary law may take precedence over other kinds of law in these cases.</a:t>
            </a:r>
            <a:r>
              <a:rPr lang="en-GB" dirty="0"/>
              <a:t> </a:t>
            </a:r>
            <a:r>
              <a:rPr lang="en-US" dirty="0"/>
              <a:t>A custom is a rule which in a particular family or in a particular district or in a particular section, class or tribe, has from long usage obtained the force of law. </a:t>
            </a:r>
            <a:endParaRPr lang="en-GB" dirty="0"/>
          </a:p>
          <a:p>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096000"/>
          </a:xfrm>
        </p:spPr>
        <p:txBody>
          <a:bodyPr/>
          <a:lstStyle/>
          <a:p>
            <a:pPr marL="109220" indent="0" algn="just">
              <a:buNone/>
            </a:pPr>
            <a:r>
              <a:rPr lang="en-US" sz="3200" b="1" u="sng" dirty="0">
                <a:hlinkClick r:id="rId1"/>
              </a:rPr>
              <a:t>Common law</a:t>
            </a:r>
            <a:r>
              <a:rPr lang="en-US" sz="3200" dirty="0"/>
              <a:t> is one of the major sources of law that has been in use for nearly 1,000 years. This type of law is based on judges' decisions as well as legislation deeming certain actions illegal. Common law may dictate the specific laws and penalties of certain crimes, including murder, rape, and theft. One common concept in this important source of law is that of precedent, which suggests that future courts follow the rulings of prior courts on specific issues. </a:t>
            </a:r>
            <a:endParaRPr lang="en-GB" sz="3200" dirty="0"/>
          </a:p>
          <a:p>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477000"/>
          </a:xfrm>
        </p:spPr>
        <p:txBody>
          <a:bodyPr/>
          <a:lstStyle/>
          <a:p>
            <a:pPr marL="0" indent="0" algn="just">
              <a:buNone/>
            </a:pPr>
            <a:r>
              <a:rPr lang="en-US" sz="2800" dirty="0"/>
              <a:t>Legislation is that source of law which consists in the declaration of legal rules by a competent authority. Legislature is the direct source of law. Legislature frames new laws, amends the old laws and cancels existing laws in all countries. In modern times this is the most important source of law making. The term </a:t>
            </a:r>
            <a:r>
              <a:rPr lang="en-US" sz="2800" u="sng" dirty="0">
                <a:hlinkClick r:id="rId1" tooltip="Legislature"/>
              </a:rPr>
              <a:t>legislature</a:t>
            </a:r>
            <a:r>
              <a:rPr lang="en-US" sz="2800" dirty="0"/>
              <a:t> means any form of law making. Its scope has now been restricted so a particular form of law making. It not only creates new rules of law it also sweeps away existing inconvenient rules.</a:t>
            </a:r>
            <a:endParaRPr lang="en-GB" sz="2800" dirty="0"/>
          </a:p>
          <a:p>
            <a:pPr algn="just"/>
            <a:r>
              <a:rPr lang="en-US" sz="2800" b="1" i="1" dirty="0"/>
              <a:t>Legislature</a:t>
            </a:r>
            <a:r>
              <a:rPr lang="en-GB" sz="2800" b="1" i="1" dirty="0"/>
              <a:t>: </a:t>
            </a:r>
            <a:r>
              <a:rPr lang="en-US" sz="2800" dirty="0"/>
              <a:t>A legislature is a body which has the power to make laws. It may be a Parliament, or a Congress, or an Assembly, or a town council, or a council of chiefs. </a:t>
            </a:r>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096000"/>
          </a:xfrm>
        </p:spPr>
        <p:txBody>
          <a:bodyPr/>
          <a:lstStyle/>
          <a:p>
            <a:pPr algn="just"/>
            <a:r>
              <a:rPr lang="en-US" sz="2800" dirty="0"/>
              <a:t>It may have the power to pass laws which apply to the whole country, or just to part of it.</a:t>
            </a:r>
            <a:endParaRPr lang="en-GB" sz="2800" dirty="0"/>
          </a:p>
          <a:p>
            <a:pPr algn="just"/>
            <a:r>
              <a:rPr lang="en-US" sz="2800" dirty="0"/>
              <a:t>Legislation is that source of law which consists in the declaration of legal rules by a competent authority. Legislature is the direct source of law. Legislature frames new laws, amends the old laws and cancels existing laws in all countries. In modern times this is the most important source of law making. The term </a:t>
            </a:r>
            <a:r>
              <a:rPr lang="en-US" sz="2800" u="sng" dirty="0">
                <a:hlinkClick r:id="rId1" tooltip="Legislature"/>
              </a:rPr>
              <a:t>legislature</a:t>
            </a:r>
            <a:r>
              <a:rPr lang="en-US" sz="2800" dirty="0"/>
              <a:t> means any form of law making. Its scope has now been restricted so a particular form of law making. It not only creates new rules of law it also sweeps away existing inconvenient rules.</a:t>
            </a:r>
            <a:endParaRPr lang="en-GB" sz="2800" dirty="0"/>
          </a:p>
          <a:p>
            <a:pPr algn="just"/>
            <a:endParaRPr lang="en-GB"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096000"/>
          </a:xfrm>
        </p:spPr>
        <p:txBody>
          <a:bodyPr/>
          <a:lstStyle/>
          <a:p>
            <a:pPr algn="just"/>
            <a:r>
              <a:rPr lang="en-US" sz="2800" b="1" i="1" dirty="0"/>
              <a:t>Case law</a:t>
            </a:r>
            <a:endParaRPr lang="en-GB" sz="2800" b="1" i="1" dirty="0"/>
          </a:p>
          <a:p>
            <a:pPr algn="just"/>
            <a:r>
              <a:rPr lang="en-US" sz="2800" dirty="0"/>
              <a:t>Legislatures pass laws, but courts work out what they mean in practice. Laws are interpreted and tested by a succession of trials, over a period of time, under a variety of circumstances.</a:t>
            </a:r>
            <a:endParaRPr lang="en-US" sz="2800" dirty="0"/>
          </a:p>
          <a:p>
            <a:pPr algn="just"/>
            <a:r>
              <a:rPr lang="en-US" sz="2800" dirty="0"/>
              <a:t>Any case law that is from a court of equal or higher rank to the one where a case is now being heard, will normally take precedence over common law, should they differ. Also, a decision by a higher court (for example a court of appeal or supreme court) is binding upon a lower court. The lower court must follow what the higher court has said, in another case where the circumstances are similar.</a:t>
            </a:r>
            <a:endParaRPr lang="en-GB" sz="2800" dirty="0"/>
          </a:p>
          <a:p>
            <a:endParaRPr lang="en-GB" dirty="0"/>
          </a:p>
          <a:p>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096000"/>
          </a:xfrm>
        </p:spPr>
        <p:txBody>
          <a:bodyPr/>
          <a:lstStyle/>
          <a:p>
            <a:pPr algn="just"/>
            <a:r>
              <a:rPr lang="en-US" sz="3600" b="1" dirty="0"/>
              <a:t>The common law</a:t>
            </a:r>
            <a:r>
              <a:rPr lang="en-US" sz="3600" dirty="0"/>
              <a:t>, also referred to as case law, is a vast body of law that judges create, case by case, as they make rulings and as they determine the precise meaning of a law or regulation. Judges review the rulings of other judges in search of legal principles that can be applied to the dispute that comes before them. Judges may add refinements of their own pertaining to the specific facts before them, as the common law grows and evolves. </a:t>
            </a:r>
            <a:endParaRPr lang="en-GB" sz="3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Sources of Law Contd.</a:t>
            </a:r>
            <a:endParaRPr lang="en-GB" dirty="0"/>
          </a:p>
        </p:txBody>
      </p:sp>
      <p:sp>
        <p:nvSpPr>
          <p:cNvPr id="3" name="Content Placeholder 2"/>
          <p:cNvSpPr>
            <a:spLocks noGrp="1"/>
          </p:cNvSpPr>
          <p:nvPr>
            <p:ph idx="1"/>
          </p:nvPr>
        </p:nvSpPr>
        <p:spPr/>
        <p:txBody>
          <a:bodyPr>
            <a:normAutofit/>
          </a:bodyPr>
          <a:lstStyle/>
          <a:p>
            <a:pPr lvl="1"/>
            <a:r>
              <a:rPr lang="en-GB" dirty="0"/>
              <a:t>Legislation- This is the major source of the Law. This comprises all the statues, edicts, acts, decrees, bye-laws, orders and regulations </a:t>
            </a:r>
            <a:r>
              <a:rPr lang="en-GB" dirty="0" err="1"/>
              <a:t>etc</a:t>
            </a:r>
            <a:r>
              <a:rPr lang="en-GB" dirty="0"/>
              <a:t> passed by the parliament (National Assembly or House of Assembly)  i.e. law making bodies</a:t>
            </a:r>
            <a:endParaRPr lang="en-GB" dirty="0"/>
          </a:p>
          <a:p>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Sources of Law Contd.</a:t>
            </a:r>
            <a:endParaRPr lang="en-GB" dirty="0"/>
          </a:p>
        </p:txBody>
      </p:sp>
      <p:sp>
        <p:nvSpPr>
          <p:cNvPr id="3" name="Content Placeholder 2"/>
          <p:cNvSpPr>
            <a:spLocks noGrp="1"/>
          </p:cNvSpPr>
          <p:nvPr>
            <p:ph idx="1"/>
          </p:nvPr>
        </p:nvSpPr>
        <p:spPr>
          <a:xfrm>
            <a:off x="228600" y="1295400"/>
            <a:ext cx="8763000" cy="5287962"/>
          </a:xfrm>
        </p:spPr>
        <p:txBody>
          <a:bodyPr>
            <a:normAutofit fontScale="92500" lnSpcReduction="10000"/>
          </a:bodyPr>
          <a:lstStyle/>
          <a:p>
            <a:pPr marL="342900" lvl="1" indent="-342900">
              <a:buFont typeface="Arial" panose="020B0604020202020204" pitchFamily="34" charset="0"/>
              <a:buChar char="•"/>
            </a:pPr>
            <a:r>
              <a:rPr lang="en-GB" dirty="0"/>
              <a:t>Case Law- These are rules or precedents of law laid down in cases decided in the most authoritative courts of the land, which are then binding on the lower courts. There are two distinct types of case law:</a:t>
            </a:r>
            <a:endParaRPr lang="en-GB" dirty="0"/>
          </a:p>
          <a:p>
            <a:pPr marL="1200150" lvl="3" indent="-342900" algn="just"/>
            <a:r>
              <a:rPr lang="en-GB" sz="2400" dirty="0"/>
              <a:t>Common Law. These are principles of law that have been developed in cases decided over the centuries by judges of the higher courts, where statutory rules are not involved, called judicial precedents. An example is the set of common law rules relating to the formalities that must be gone through in order to enter a legally binding contract.</a:t>
            </a:r>
            <a:endParaRPr lang="en-GB" sz="2400" dirty="0"/>
          </a:p>
          <a:p>
            <a:pPr marL="1200150" lvl="3" indent="-342900" algn="just"/>
            <a:r>
              <a:rPr lang="en-GB" sz="2400" dirty="0"/>
              <a:t>This involves the interpretation of statutes wherever the language of a statute is occasionally ambiguous or the statute does not apply clearly to a given set of facts. The courts may therefore be called upon to interpret or rule upon the meaning of a particular statutory provision</a:t>
            </a:r>
            <a:endParaRPr lang="en-GB" sz="2400" dirty="0"/>
          </a:p>
          <a:p>
            <a:pPr marL="1200150" lvl="3" indent="-342900"/>
            <a:endParaRPr lang="en-GB" dirty="0"/>
          </a:p>
          <a:p>
            <a:pPr marL="0" indent="0">
              <a:buNone/>
            </a:pPr>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Sources of Law Contd.</a:t>
            </a:r>
            <a:endParaRPr lang="en-GB" dirty="0"/>
          </a:p>
        </p:txBody>
      </p:sp>
      <p:sp>
        <p:nvSpPr>
          <p:cNvPr id="3" name="Content Placeholder 2"/>
          <p:cNvSpPr>
            <a:spLocks noGrp="1"/>
          </p:cNvSpPr>
          <p:nvPr>
            <p:ph idx="1"/>
          </p:nvPr>
        </p:nvSpPr>
        <p:spPr/>
        <p:txBody>
          <a:bodyPr/>
          <a:lstStyle/>
          <a:p>
            <a:r>
              <a:rPr lang="en-GB" dirty="0"/>
              <a:t>The major portion of Case Laws of Nigeria consists of English Law, comprising Acts or Orders-in-Council applying directly to Nigeria statutes of general application, the common law and doctrines of equity</a:t>
            </a:r>
            <a:endParaRPr lang="en-GB" dirty="0"/>
          </a:p>
          <a:p>
            <a:endParaRPr lang="en-GB"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Sources of Law Contd.</a:t>
            </a:r>
            <a:endParaRPr lang="en-GB" dirty="0"/>
          </a:p>
        </p:txBody>
      </p:sp>
      <p:sp>
        <p:nvSpPr>
          <p:cNvPr id="3" name="Content Placeholder 2"/>
          <p:cNvSpPr>
            <a:spLocks noGrp="1"/>
          </p:cNvSpPr>
          <p:nvPr>
            <p:ph idx="1"/>
          </p:nvPr>
        </p:nvSpPr>
        <p:spPr/>
        <p:txBody>
          <a:bodyPr>
            <a:normAutofit fontScale="92500" lnSpcReduction="10000"/>
          </a:bodyPr>
          <a:lstStyle/>
          <a:p>
            <a:pPr lvl="1" algn="just"/>
            <a:r>
              <a:rPr lang="en-GB" sz="3600" dirty="0"/>
              <a:t>Customary Law (also called Native Law and Custom). This is the collection of largely unwritten codes, tenets and social principles, customs and traditions practices in a society and handed down from generation to generation. Sharia Law (Islamic Law is also under this category</a:t>
            </a:r>
            <a:endParaRPr lang="en-GB" sz="3600" dirty="0"/>
          </a:p>
          <a:p>
            <a:endParaRPr lang="en-GB"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Sources of Law Contd.</a:t>
            </a:r>
            <a:endParaRPr lang="en-GB" dirty="0"/>
          </a:p>
        </p:txBody>
      </p:sp>
      <p:sp>
        <p:nvSpPr>
          <p:cNvPr id="3" name="Content Placeholder 2"/>
          <p:cNvSpPr>
            <a:spLocks noGrp="1"/>
          </p:cNvSpPr>
          <p:nvPr>
            <p:ph idx="1"/>
          </p:nvPr>
        </p:nvSpPr>
        <p:spPr/>
        <p:txBody>
          <a:bodyPr/>
          <a:lstStyle/>
          <a:p>
            <a:r>
              <a:rPr lang="en-GB" dirty="0"/>
              <a:t>Codes of Guidance and other Official advice- apart from the statute and case laws, there are other rules of practice to be found in a variety of Codes of Guidance issued by the appropriate government or professional bodies, applicable only within the concerned are, trade or profession</a:t>
            </a:r>
            <a:endParaRPr lang="en-GB"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82000" cy="838200"/>
          </a:xfrm>
        </p:spPr>
        <p:txBody>
          <a:bodyPr>
            <a:normAutofit fontScale="90000"/>
          </a:bodyPr>
          <a:lstStyle/>
          <a:p>
            <a:r>
              <a:rPr lang="en-GB" sz="3200" dirty="0"/>
              <a:t>What is the difference between a criminal case and a civil case?</a:t>
            </a:r>
            <a:br>
              <a:rPr lang="en-GB" dirty="0"/>
            </a:br>
            <a:endParaRPr lang="en-GB" dirty="0"/>
          </a:p>
        </p:txBody>
      </p:sp>
      <p:sp>
        <p:nvSpPr>
          <p:cNvPr id="3" name="Content Placeholder 2"/>
          <p:cNvSpPr>
            <a:spLocks noGrp="1"/>
          </p:cNvSpPr>
          <p:nvPr>
            <p:ph idx="1"/>
          </p:nvPr>
        </p:nvSpPr>
        <p:spPr>
          <a:xfrm>
            <a:off x="228600" y="1066800"/>
            <a:ext cx="8458200" cy="5257800"/>
          </a:xfrm>
        </p:spPr>
        <p:txBody>
          <a:bodyPr/>
          <a:lstStyle/>
          <a:p>
            <a:pPr algn="just"/>
            <a:r>
              <a:rPr lang="en-GB" sz="3600" dirty="0"/>
              <a:t>Civil cases are generally brought by private individuals or corporations seeking to collect money owed or monetary damages. A criminal case is brought by the local, state or federal government in response to a suspected violation of law and seeks a fine, a jail sentence or both.</a:t>
            </a:r>
            <a:endParaRPr lang="en-GB" sz="3600" dirty="0"/>
          </a:p>
          <a:p>
            <a:pPr algn="just"/>
            <a:endParaRPr lang="en-GB" sz="3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763000" cy="6400800"/>
          </a:xfrm>
        </p:spPr>
        <p:txBody>
          <a:bodyPr/>
          <a:lstStyle/>
          <a:p>
            <a:pPr marL="109220" indent="0" algn="just">
              <a:buNone/>
            </a:pPr>
            <a:r>
              <a:rPr lang="en-GB" sz="2600" b="1" dirty="0"/>
              <a:t>Criminal law deals with behaviour that is or can be construed as an offense against the public, society, or the state—even if the immediate victim is an individual.</a:t>
            </a:r>
            <a:r>
              <a:rPr lang="en-GB" sz="2600" dirty="0"/>
              <a:t> Examples are murder, assault, theft, and drunken driving. </a:t>
            </a:r>
            <a:r>
              <a:rPr lang="en-GB" sz="2600" b="1" dirty="0"/>
              <a:t>Civil law deals with behaviour that constitutes an injury to an individual or other private party, such as a corporation.</a:t>
            </a:r>
            <a:r>
              <a:rPr lang="en-GB" sz="2600" dirty="0"/>
              <a:t> Examples are defamation (including libel and slander), breach of contract, negligence resulting in injury or death, and property damage. </a:t>
            </a:r>
            <a:endParaRPr lang="en-GB" sz="2600" dirty="0"/>
          </a:p>
          <a:p>
            <a:pPr algn="just"/>
            <a:r>
              <a:rPr lang="en-GB" sz="2600" b="1" dirty="0"/>
              <a:t>Criminal law</a:t>
            </a:r>
            <a:r>
              <a:rPr lang="en-GB" sz="2600" dirty="0"/>
              <a:t> is a category of public </a:t>
            </a:r>
            <a:r>
              <a:rPr lang="en-GB" sz="2600" b="1" dirty="0"/>
              <a:t>law</a:t>
            </a:r>
            <a:r>
              <a:rPr lang="en-GB" sz="2600" dirty="0"/>
              <a:t> that punishes behaviour that results in injury to people and/or property. In </a:t>
            </a:r>
            <a:r>
              <a:rPr lang="en-GB" sz="2600" b="1" dirty="0"/>
              <a:t>Canada</a:t>
            </a:r>
            <a:r>
              <a:rPr lang="en-GB" sz="2600" dirty="0"/>
              <a:t>, most </a:t>
            </a:r>
            <a:r>
              <a:rPr lang="en-GB" sz="2600" b="1" dirty="0"/>
              <a:t>criminal law</a:t>
            </a:r>
            <a:r>
              <a:rPr lang="en-GB" sz="2600" dirty="0"/>
              <a:t> is made by the federal government. Some </a:t>
            </a:r>
            <a:r>
              <a:rPr lang="en-GB" sz="2600" b="1" dirty="0"/>
              <a:t>laws</a:t>
            </a:r>
            <a:r>
              <a:rPr lang="en-GB" sz="2600" dirty="0"/>
              <a:t> made by the provincial and municipal governments are called "quasi-</a:t>
            </a:r>
            <a:r>
              <a:rPr lang="en-GB" sz="2600" b="1" dirty="0"/>
              <a:t>criminal</a:t>
            </a:r>
            <a:r>
              <a:rPr lang="en-GB" sz="2600" dirty="0"/>
              <a:t>." For example: offences under the Motor Vehicle Act.</a:t>
            </a:r>
            <a:endParaRPr lang="en-GB" sz="2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
            <a:ext cx="8610600" cy="6477000"/>
          </a:xfrm>
        </p:spPr>
        <p:txBody>
          <a:bodyPr/>
          <a:lstStyle/>
          <a:p>
            <a:pPr algn="just"/>
            <a:r>
              <a:rPr lang="en-GB" sz="3200" b="1" dirty="0"/>
              <a:t>General Principles</a:t>
            </a:r>
            <a:r>
              <a:rPr lang="en-GB" sz="3200" dirty="0"/>
              <a:t> in </a:t>
            </a:r>
            <a:r>
              <a:rPr lang="en-GB" sz="3200" b="1" dirty="0"/>
              <a:t>Criminal Law</a:t>
            </a:r>
            <a:r>
              <a:rPr lang="en-GB" sz="3200" dirty="0"/>
              <a:t>. ... The basis of our system of </a:t>
            </a:r>
            <a:r>
              <a:rPr lang="en-GB" sz="3200" b="1" dirty="0"/>
              <a:t>criminal</a:t>
            </a:r>
            <a:r>
              <a:rPr lang="en-GB" sz="3200" dirty="0"/>
              <a:t> justice is that a person, although charged with an offence, is considered innocent until proved guilty of the offence. The magistrate, judge or jury, as the case may be, must be satisfied beyond a reasonable doubt that the person is guilty.</a:t>
            </a:r>
            <a:endParaRPr lang="en-GB" sz="3200" dirty="0"/>
          </a:p>
          <a:p>
            <a:pPr algn="just"/>
            <a:r>
              <a:rPr lang="en-GB" sz="3200" dirty="0"/>
              <a:t>A </a:t>
            </a:r>
            <a:r>
              <a:rPr lang="en-GB" sz="3200" b="1" dirty="0"/>
              <a:t>legal</a:t>
            </a:r>
            <a:r>
              <a:rPr lang="en-GB" sz="3200" dirty="0"/>
              <a:t> doctrine is a framework, set of rules, procedural steps, or test, often established through precedent in the common law, through which judgments can be determined in a given </a:t>
            </a:r>
            <a:r>
              <a:rPr lang="en-GB" sz="3200" b="1" dirty="0"/>
              <a:t>legal</a:t>
            </a:r>
            <a:r>
              <a:rPr lang="en-GB" sz="3200" dirty="0"/>
              <a:t> case.</a:t>
            </a:r>
            <a:endParaRPr lang="en-GB" sz="3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10600" cy="6248400"/>
          </a:xfrm>
        </p:spPr>
        <p:txBody>
          <a:bodyPr/>
          <a:lstStyle/>
          <a:p>
            <a:pPr marL="0" indent="0" algn="just">
              <a:buNone/>
            </a:pPr>
            <a:r>
              <a:rPr lang="en-GB" sz="3200" b="1" dirty="0"/>
              <a:t>Criminal laws</a:t>
            </a:r>
            <a:r>
              <a:rPr lang="en-GB" sz="3200" dirty="0"/>
              <a:t> regulate </a:t>
            </a:r>
            <a:r>
              <a:rPr lang="en-GB" sz="3200" b="1" dirty="0"/>
              <a:t>crimes</a:t>
            </a:r>
            <a:r>
              <a:rPr lang="en-GB" sz="3200" dirty="0"/>
              <a:t>, or wrongs committed against the government. </a:t>
            </a:r>
            <a:r>
              <a:rPr lang="en-GB" sz="3200" b="1" dirty="0"/>
              <a:t>Civil laws</a:t>
            </a:r>
            <a:r>
              <a:rPr lang="en-GB" sz="3200" dirty="0"/>
              <a:t> regulate disputes </a:t>
            </a:r>
            <a:r>
              <a:rPr lang="en-GB" sz="3200" b="1" dirty="0"/>
              <a:t>between</a:t>
            </a:r>
            <a:r>
              <a:rPr lang="en-GB" sz="3200" dirty="0"/>
              <a:t> private parties. This lesson explains the main </a:t>
            </a:r>
            <a:r>
              <a:rPr lang="en-GB" sz="3200" b="1" dirty="0"/>
              <a:t>differences between criminal and civil law</a:t>
            </a:r>
            <a:r>
              <a:rPr lang="en-GB" sz="3200" dirty="0"/>
              <a:t>.</a:t>
            </a:r>
            <a:endParaRPr lang="en-GB" sz="3200" dirty="0"/>
          </a:p>
          <a:p>
            <a:pPr algn="just"/>
            <a:r>
              <a:rPr lang="en-GB" sz="3200" b="1" dirty="0"/>
              <a:t>Civil cases</a:t>
            </a:r>
            <a:r>
              <a:rPr lang="en-GB" sz="3200" dirty="0"/>
              <a:t> are generally brought by private individuals or corporations seeking to collect money owed or monetary damages. A </a:t>
            </a:r>
            <a:r>
              <a:rPr lang="en-GB" sz="3200" b="1" dirty="0"/>
              <a:t>criminal case</a:t>
            </a:r>
            <a:r>
              <a:rPr lang="en-GB" sz="3200" dirty="0"/>
              <a:t> is brought by the local, state or federal government in response to a suspected violation of law and seeks a fine, a jail sentence or both.</a:t>
            </a:r>
            <a:endParaRPr lang="en-GB" sz="3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4581"/>
            <a:ext cx="8763000" cy="6019800"/>
          </a:xfrm>
        </p:spPr>
        <p:txBody>
          <a:bodyPr/>
          <a:lstStyle/>
          <a:p>
            <a:pPr marL="109220" indent="0" algn="just">
              <a:buNone/>
            </a:pPr>
            <a:r>
              <a:rPr lang="en-US" sz="3600" dirty="0"/>
              <a:t>Criminal law deals with offences by people against society as a whole. Prosecutions are usually brought in the name of the Head of State, or of the State itself.</a:t>
            </a:r>
            <a:endParaRPr lang="en-GB" sz="3600" dirty="0"/>
          </a:p>
          <a:p>
            <a:pPr marL="0" indent="0" algn="just">
              <a:buNone/>
            </a:pPr>
            <a:r>
              <a:rPr lang="en-US" sz="3600" dirty="0"/>
              <a:t>Civil law deals with offences by people against other individuals. This may include disputes over fences and other land matters, defamation cases, damaged property, broken promises or a host of other disputes between people.</a:t>
            </a:r>
            <a:endParaRPr lang="en-GB" sz="3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52400"/>
            <a:ext cx="8686800" cy="6172200"/>
          </a:xfrm>
        </p:spPr>
        <p:txBody>
          <a:bodyPr/>
          <a:lstStyle/>
          <a:p>
            <a:pPr marL="0" indent="0" algn="just">
              <a:buNone/>
            </a:pPr>
            <a:r>
              <a:rPr lang="en-US" sz="3200" dirty="0"/>
              <a:t>In a criminal court, the two sides are called the </a:t>
            </a:r>
            <a:r>
              <a:rPr lang="en-US" sz="3200" i="1" dirty="0"/>
              <a:t>prosecution</a:t>
            </a:r>
            <a:r>
              <a:rPr lang="en-US" sz="3200" dirty="0"/>
              <a:t> and the </a:t>
            </a:r>
            <a:r>
              <a:rPr lang="en-US" sz="3200" i="1" dirty="0" err="1"/>
              <a:t>defence</a:t>
            </a:r>
            <a:r>
              <a:rPr lang="en-US" sz="3200" dirty="0"/>
              <a:t>. In a civil court the two sides are called the </a:t>
            </a:r>
            <a:r>
              <a:rPr lang="en-US" sz="3200" i="1" dirty="0"/>
              <a:t>plaintiff</a:t>
            </a:r>
            <a:r>
              <a:rPr lang="en-US" sz="3200" dirty="0"/>
              <a:t> (that is the person who is bringing the complaint) and the </a:t>
            </a:r>
            <a:r>
              <a:rPr lang="en-US" sz="3200" i="1" dirty="0"/>
              <a:t>defendant</a:t>
            </a:r>
            <a:r>
              <a:rPr lang="en-US" sz="3200" dirty="0"/>
              <a:t> or in some cases, the </a:t>
            </a:r>
            <a:r>
              <a:rPr lang="en-US" sz="3200" i="1" dirty="0"/>
              <a:t>respondent</a:t>
            </a:r>
            <a:r>
              <a:rPr lang="en-US" sz="3200" dirty="0"/>
              <a:t>.</a:t>
            </a:r>
            <a:endParaRPr lang="en-GB" sz="3200" dirty="0"/>
          </a:p>
          <a:p>
            <a:pPr marL="0" indent="0" algn="just">
              <a:buNone/>
            </a:pPr>
            <a:r>
              <a:rPr lang="en-US" sz="3200" dirty="0"/>
              <a:t>In a criminal court, the judgment at the end of the hearing will be that the defendant is either </a:t>
            </a:r>
            <a:r>
              <a:rPr lang="en-US" sz="3200" i="1" dirty="0"/>
              <a:t>guilty</a:t>
            </a:r>
            <a:r>
              <a:rPr lang="en-US" sz="3200" dirty="0"/>
              <a:t> or </a:t>
            </a:r>
            <a:r>
              <a:rPr lang="en-US" sz="3200" i="1" dirty="0"/>
              <a:t>not guilty</a:t>
            </a:r>
            <a:r>
              <a:rPr lang="en-US" sz="3200" dirty="0"/>
              <a:t>. In a civil case there is no question of guilt, because nobody has been charged with any crime; the judgment will simply be either </a:t>
            </a:r>
            <a:r>
              <a:rPr lang="en-US" sz="3200" i="1" dirty="0"/>
              <a:t>for the plaintiff</a:t>
            </a:r>
            <a:r>
              <a:rPr lang="en-US" sz="3200" dirty="0"/>
              <a:t> or </a:t>
            </a:r>
            <a:r>
              <a:rPr lang="en-US" sz="3200" i="1" dirty="0"/>
              <a:t>for the </a:t>
            </a:r>
            <a:r>
              <a:rPr lang="en-US" sz="3200" i="1" dirty="0" err="1"/>
              <a:t>defence</a:t>
            </a:r>
            <a:r>
              <a:rPr lang="en-US" sz="3200" dirty="0"/>
              <a:t>.</a:t>
            </a:r>
            <a:endParaRPr lang="en-GB" sz="3200" dirty="0"/>
          </a:p>
          <a:p>
            <a:pPr algn="just"/>
            <a:endParaRPr lang="en-GB" dirty="0"/>
          </a:p>
          <a:p>
            <a:endParaRPr lang="en-US" dirty="0"/>
          </a:p>
        </p:txBody>
      </p:sp>
      <p:sp>
        <p:nvSpPr>
          <p:cNvPr id="5" name="Slide Number Placeholder 4"/>
          <p:cNvSpPr>
            <a:spLocks noGrp="1"/>
          </p:cNvSpPr>
          <p:nvPr>
            <p:ph type="sldNum" sz="quarter" idx="12"/>
          </p:nvPr>
        </p:nvSpPr>
        <p:spPr/>
        <p:txBody>
          <a:bodyPr/>
          <a:lstStyle/>
          <a:p>
            <a:pPr>
              <a:defRPr/>
            </a:pPr>
            <a:fld id="{A2B5CF83-1F53-4043-8700-93E6329EBC98}" type="slidenum">
              <a:rPr lang="en-US" smtClean="0"/>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Content Placeholder 3"/>
          <p:cNvGraphicFramePr>
            <a:graphicFrameLocks noGrp="1"/>
          </p:cNvGraphicFramePr>
          <p:nvPr>
            <p:ph idx="1"/>
          </p:nvPr>
        </p:nvGraphicFramePr>
        <p:xfrm>
          <a:off x="152400" y="152400"/>
          <a:ext cx="8763000" cy="6500953"/>
        </p:xfrm>
        <a:graphic>
          <a:graphicData uri="http://schemas.openxmlformats.org/drawingml/2006/table">
            <a:tbl>
              <a:tblPr firstRow="1" firstCol="1" bandRow="1">
                <a:tableStyleId>{5C22544A-7EE6-4342-B048-85BDC9FD1C3A}</a:tableStyleId>
              </a:tblPr>
              <a:tblGrid>
                <a:gridCol w="4381500"/>
                <a:gridCol w="4381500"/>
              </a:tblGrid>
              <a:tr h="596215">
                <a:tc>
                  <a:txBody>
                    <a:bodyPr/>
                    <a:lstStyle/>
                    <a:p>
                      <a:pPr algn="ctr">
                        <a:lnSpc>
                          <a:spcPct val="115000"/>
                        </a:lnSpc>
                        <a:spcAft>
                          <a:spcPts val="1000"/>
                        </a:spcAft>
                      </a:pPr>
                      <a:r>
                        <a:rPr lang="en-US" sz="2400" dirty="0">
                          <a:effectLst/>
                        </a:rPr>
                        <a:t>Civil Law</a:t>
                      </a:r>
                      <a:endParaRPr lang="en-GB" sz="2400" dirty="0">
                        <a:effectLst/>
                        <a:latin typeface="Calibri" panose="020F0502020204030204"/>
                        <a:ea typeface="Calibri" panose="020F0502020204030204"/>
                        <a:cs typeface="Times New Roman" panose="02020603050405020304"/>
                      </a:endParaRPr>
                    </a:p>
                  </a:txBody>
                  <a:tcPr marL="9525" marR="9525" marT="9525" marB="9525" anchor="ctr"/>
                </a:tc>
                <a:tc>
                  <a:txBody>
                    <a:bodyPr/>
                    <a:lstStyle/>
                    <a:p>
                      <a:pPr algn="ctr">
                        <a:lnSpc>
                          <a:spcPct val="115000"/>
                        </a:lnSpc>
                        <a:spcAft>
                          <a:spcPts val="1000"/>
                        </a:spcAft>
                      </a:pPr>
                      <a:r>
                        <a:rPr lang="en-US" sz="2400" dirty="0">
                          <a:effectLst/>
                        </a:rPr>
                        <a:t>Criminal Law</a:t>
                      </a:r>
                      <a:endParaRPr lang="en-GB" sz="2400" dirty="0">
                        <a:effectLst/>
                        <a:latin typeface="Calibri" panose="020F0502020204030204"/>
                        <a:ea typeface="Calibri" panose="020F0502020204030204"/>
                        <a:cs typeface="Times New Roman" panose="02020603050405020304"/>
                      </a:endParaRPr>
                    </a:p>
                  </a:txBody>
                  <a:tcPr marL="9525" marR="9525" marT="9525" marB="9525" anchor="ctr"/>
                </a:tc>
              </a:tr>
              <a:tr h="2521954">
                <a:tc>
                  <a:txBody>
                    <a:bodyPr/>
                    <a:lstStyle/>
                    <a:p>
                      <a:pPr>
                        <a:lnSpc>
                          <a:spcPct val="115000"/>
                        </a:lnSpc>
                        <a:spcAft>
                          <a:spcPts val="1000"/>
                        </a:spcAft>
                      </a:pPr>
                      <a:r>
                        <a:rPr lang="en-US" sz="2400">
                          <a:effectLst/>
                        </a:rPr>
                        <a:t>Civil law deals with the disputes between individuals, organizations, or between the two, in which compensation is awarded to the victim.</a:t>
                      </a:r>
                      <a:endParaRPr lang="en-GB" sz="2400">
                        <a:effectLst/>
                        <a:latin typeface="Calibri" panose="020F0502020204030204"/>
                        <a:ea typeface="Calibri" panose="020F0502020204030204"/>
                        <a:cs typeface="Times New Roman" panose="02020603050405020304"/>
                      </a:endParaRPr>
                    </a:p>
                  </a:txBody>
                  <a:tcPr marL="9525" marR="9525" marT="9525" marB="9525" anchor="ctr"/>
                </a:tc>
                <a:tc>
                  <a:txBody>
                    <a:bodyPr/>
                    <a:lstStyle/>
                    <a:p>
                      <a:pPr>
                        <a:lnSpc>
                          <a:spcPct val="115000"/>
                        </a:lnSpc>
                        <a:spcAft>
                          <a:spcPts val="1000"/>
                        </a:spcAft>
                      </a:pPr>
                      <a:r>
                        <a:rPr lang="en-US" sz="2400" dirty="0">
                          <a:effectLst/>
                        </a:rPr>
                        <a:t>Criminal law is the body of law that deals with crime and the legal punishment of criminal offenses.</a:t>
                      </a:r>
                      <a:endParaRPr lang="en-GB" sz="2400" dirty="0">
                        <a:effectLst/>
                        <a:latin typeface="Calibri" panose="020F0502020204030204"/>
                        <a:ea typeface="Calibri" panose="020F0502020204030204"/>
                        <a:cs typeface="Times New Roman" panose="02020603050405020304"/>
                      </a:endParaRPr>
                    </a:p>
                  </a:txBody>
                  <a:tcPr marL="9525" marR="9525" marT="9525" marB="9525" anchor="ctr"/>
                </a:tc>
              </a:tr>
              <a:tr h="1258147">
                <a:tc>
                  <a:txBody>
                    <a:bodyPr/>
                    <a:lstStyle/>
                    <a:p>
                      <a:pPr>
                        <a:lnSpc>
                          <a:spcPct val="115000"/>
                        </a:lnSpc>
                        <a:spcAft>
                          <a:spcPts val="1000"/>
                        </a:spcAft>
                      </a:pPr>
                      <a:r>
                        <a:rPr lang="en-US" sz="2400" dirty="0">
                          <a:effectLst/>
                        </a:rPr>
                        <a:t>"Preponderance of evidence" The burden of proof falls on the plaintiff.</a:t>
                      </a:r>
                      <a:endParaRPr lang="en-GB" sz="2400" dirty="0">
                        <a:effectLst/>
                        <a:latin typeface="Calibri" panose="020F0502020204030204"/>
                        <a:ea typeface="Calibri" panose="020F0502020204030204"/>
                        <a:cs typeface="Times New Roman" panose="02020603050405020304"/>
                      </a:endParaRPr>
                    </a:p>
                  </a:txBody>
                  <a:tcPr marL="9525" marR="9525" marT="9525" marB="9525" anchor="ctr"/>
                </a:tc>
                <a:tc>
                  <a:txBody>
                    <a:bodyPr/>
                    <a:lstStyle/>
                    <a:p>
                      <a:pPr>
                        <a:lnSpc>
                          <a:spcPct val="115000"/>
                        </a:lnSpc>
                        <a:spcAft>
                          <a:spcPts val="1000"/>
                        </a:spcAft>
                      </a:pPr>
                      <a:r>
                        <a:rPr lang="en-US" sz="2400">
                          <a:effectLst/>
                        </a:rPr>
                        <a:t>"Beyond a reasonable doubt": Burden of proof is always on the state/government.</a:t>
                      </a:r>
                      <a:endParaRPr lang="en-GB" sz="2400">
                        <a:effectLst/>
                        <a:latin typeface="Calibri" panose="020F0502020204030204"/>
                        <a:ea typeface="Calibri" panose="020F0502020204030204"/>
                        <a:cs typeface="Times New Roman" panose="02020603050405020304"/>
                      </a:endParaRPr>
                    </a:p>
                  </a:txBody>
                  <a:tcPr marL="9525" marR="9525" marT="9525" marB="9525" anchor="ctr"/>
                </a:tc>
              </a:tr>
              <a:tr h="2100685">
                <a:tc>
                  <a:txBody>
                    <a:bodyPr/>
                    <a:lstStyle/>
                    <a:p>
                      <a:pPr>
                        <a:lnSpc>
                          <a:spcPct val="115000"/>
                        </a:lnSpc>
                        <a:spcAft>
                          <a:spcPts val="1000"/>
                        </a:spcAft>
                      </a:pPr>
                      <a:r>
                        <a:rPr lang="en-US" sz="2400">
                          <a:effectLst/>
                        </a:rPr>
                        <a:t>Landlord/tenant disputes, divorce proceedings, child custody proceedings, property disputes, personal injury, etc.</a:t>
                      </a:r>
                      <a:endParaRPr lang="en-GB" sz="2400">
                        <a:effectLst/>
                        <a:latin typeface="Calibri" panose="020F0502020204030204"/>
                        <a:ea typeface="Calibri" panose="020F0502020204030204"/>
                        <a:cs typeface="Times New Roman" panose="02020603050405020304"/>
                      </a:endParaRPr>
                    </a:p>
                  </a:txBody>
                  <a:tcPr marL="9525" marR="9525" marT="9525" marB="9525" anchor="ctr"/>
                </a:tc>
                <a:tc>
                  <a:txBody>
                    <a:bodyPr/>
                    <a:lstStyle/>
                    <a:p>
                      <a:pPr>
                        <a:lnSpc>
                          <a:spcPct val="115000"/>
                        </a:lnSpc>
                        <a:spcAft>
                          <a:spcPts val="1000"/>
                        </a:spcAft>
                      </a:pPr>
                      <a:r>
                        <a:rPr lang="en-US" sz="2400" dirty="0">
                          <a:effectLst/>
                        </a:rPr>
                        <a:t>Theft, assault, robbery, trafficking in controlled substances, murder, etc.</a:t>
                      </a:r>
                      <a:endParaRPr lang="en-GB" sz="2400" dirty="0">
                        <a:effectLst/>
                        <a:latin typeface="Calibri" panose="020F0502020204030204"/>
                        <a:ea typeface="Calibri" panose="020F0502020204030204"/>
                        <a:cs typeface="Times New Roman" panose="02020603050405020304"/>
                      </a:endParaRPr>
                    </a:p>
                  </a:txBody>
                  <a:tcPr marL="9525" marR="9525" marT="9525" marB="9525" anchor="ct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Content Placeholder 3"/>
          <p:cNvGraphicFramePr>
            <a:graphicFrameLocks noGrp="1"/>
          </p:cNvGraphicFramePr>
          <p:nvPr>
            <p:ph idx="1"/>
          </p:nvPr>
        </p:nvGraphicFramePr>
        <p:xfrm>
          <a:off x="152400" y="228600"/>
          <a:ext cx="8839200" cy="6019800"/>
        </p:xfrm>
        <a:graphic>
          <a:graphicData uri="http://schemas.openxmlformats.org/drawingml/2006/table">
            <a:tbl>
              <a:tblPr firstRow="1" firstCol="1" bandRow="1">
                <a:tableStyleId>{5C22544A-7EE6-4342-B048-85BDC9FD1C3A}</a:tableStyleId>
              </a:tblPr>
              <a:tblGrid>
                <a:gridCol w="4419600"/>
                <a:gridCol w="4419600"/>
              </a:tblGrid>
              <a:tr h="4868240">
                <a:tc>
                  <a:txBody>
                    <a:bodyPr/>
                    <a:lstStyle/>
                    <a:p>
                      <a:pPr>
                        <a:lnSpc>
                          <a:spcPct val="115000"/>
                        </a:lnSpc>
                        <a:spcAft>
                          <a:spcPts val="1000"/>
                        </a:spcAft>
                      </a:pPr>
                      <a:r>
                        <a:rPr lang="en-US" sz="2800" dirty="0">
                          <a:effectLst/>
                        </a:rPr>
                        <a:t>Civil litigation usually involves some type of compensation for injuries or damages as well as disposition of property and other disputes.</a:t>
                      </a:r>
                      <a:endParaRPr lang="en-GB" sz="2800" dirty="0">
                        <a:effectLst/>
                        <a:latin typeface="Calibri" panose="020F0502020204030204"/>
                        <a:ea typeface="Calibri" panose="020F0502020204030204"/>
                        <a:cs typeface="Times New Roman" panose="02020603050405020304"/>
                      </a:endParaRPr>
                    </a:p>
                  </a:txBody>
                  <a:tcPr marL="9525" marR="9525" marT="9525" marB="9525" anchor="ctr"/>
                </a:tc>
                <a:tc>
                  <a:txBody>
                    <a:bodyPr/>
                    <a:lstStyle/>
                    <a:p>
                      <a:pPr>
                        <a:lnSpc>
                          <a:spcPct val="115000"/>
                        </a:lnSpc>
                        <a:spcAft>
                          <a:spcPts val="1000"/>
                        </a:spcAft>
                      </a:pPr>
                      <a:r>
                        <a:rPr lang="en-US" sz="2800">
                          <a:effectLst/>
                        </a:rPr>
                        <a:t>A guilty defendant is punished by incarceration and/or fines, or in exceptional cases, the death penalty. Crimes are divided into two broad classes: Felonies and Misdemeanors.</a:t>
                      </a:r>
                      <a:endParaRPr lang="en-GB" sz="2800">
                        <a:effectLst/>
                        <a:latin typeface="Calibri" panose="020F0502020204030204"/>
                        <a:ea typeface="Calibri" panose="020F0502020204030204"/>
                        <a:cs typeface="Times New Roman" panose="02020603050405020304"/>
                      </a:endParaRPr>
                    </a:p>
                  </a:txBody>
                  <a:tcPr marL="9525" marR="9525" marT="9525" marB="9525" anchor="ctr"/>
                </a:tc>
              </a:tr>
              <a:tr h="1151560">
                <a:tc>
                  <a:txBody>
                    <a:bodyPr/>
                    <a:lstStyle/>
                    <a:p>
                      <a:pPr>
                        <a:lnSpc>
                          <a:spcPct val="115000"/>
                        </a:lnSpc>
                        <a:spcAft>
                          <a:spcPts val="1000"/>
                        </a:spcAft>
                      </a:pPr>
                      <a:r>
                        <a:rPr lang="en-US" sz="2800">
                          <a:effectLst/>
                        </a:rPr>
                        <a:t>Private party</a:t>
                      </a:r>
                      <a:endParaRPr lang="en-GB" sz="2800">
                        <a:effectLst/>
                        <a:latin typeface="Calibri" panose="020F0502020204030204"/>
                        <a:ea typeface="Calibri" panose="020F0502020204030204"/>
                        <a:cs typeface="Times New Roman" panose="02020603050405020304"/>
                      </a:endParaRPr>
                    </a:p>
                  </a:txBody>
                  <a:tcPr marL="9525" marR="9525" marT="9525" marB="9525" anchor="ctr"/>
                </a:tc>
                <a:tc>
                  <a:txBody>
                    <a:bodyPr/>
                    <a:lstStyle/>
                    <a:p>
                      <a:pPr>
                        <a:lnSpc>
                          <a:spcPct val="115000"/>
                        </a:lnSpc>
                        <a:spcAft>
                          <a:spcPts val="1000"/>
                        </a:spcAft>
                      </a:pPr>
                      <a:r>
                        <a:rPr lang="en-US" sz="2800" dirty="0">
                          <a:effectLst/>
                        </a:rPr>
                        <a:t>Government</a:t>
                      </a:r>
                      <a:endParaRPr lang="en-GB" sz="2800" dirty="0">
                        <a:effectLst/>
                        <a:latin typeface="Calibri" panose="020F0502020204030204"/>
                        <a:ea typeface="Calibri" panose="020F0502020204030204"/>
                        <a:cs typeface="Times New Roman" panose="02020603050405020304"/>
                      </a:endParaRPr>
                    </a:p>
                  </a:txBody>
                  <a:tcPr marL="9525" marR="9525" marT="9525" marB="9525" anchor="ct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382000" cy="6172200"/>
          </a:xfrm>
        </p:spPr>
        <p:txBody>
          <a:bodyPr/>
          <a:lstStyle/>
          <a:p>
            <a:pPr algn="just"/>
            <a:r>
              <a:rPr lang="en-GB" sz="3200" dirty="0"/>
              <a:t>In civil cases, by contrast, cases are initiated (suits are filed) by a private party (the plaintiff); cases are usually decided by a judge (though significant cases may involve juries); punishment almost always consists of a monetary award and never consists of imprisonment; to prevail, the plaintiff must establish the defendant's liability only according to the "preponderance of evidence"; and defendants are not entitled to the same legal protections as are the criminally accused.</a:t>
            </a:r>
            <a:endParaRPr lang="en-GB" sz="3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096000"/>
          </a:xfrm>
        </p:spPr>
        <p:txBody>
          <a:bodyPr/>
          <a:lstStyle/>
          <a:p>
            <a:pPr lvl="0" algn="just"/>
            <a:r>
              <a:rPr lang="en-GB" sz="3200" dirty="0"/>
              <a:t>The standard of proof is also very different in a </a:t>
            </a:r>
            <a:r>
              <a:rPr lang="en-GB" sz="3200" u="sng" dirty="0">
                <a:hlinkClick r:id="rId1" tooltip="FindLaw, Criminal Procedure"/>
              </a:rPr>
              <a:t>criminal case</a:t>
            </a:r>
            <a:r>
              <a:rPr lang="en-GB" sz="3200" dirty="0"/>
              <a:t> versus a civil case. Crimes must generally be proved "beyond a reasonable doubt", whereas civil cases are proved by lower standards of proof such as "the preponderance of the evidence" (which essentially means that it was more likely than not that something occurred in a certain way). The difference in standards exists because civil liability is considered less blameworthy and because the punishments are less severe.</a:t>
            </a:r>
            <a:endParaRPr lang="en-GB" sz="3200" dirty="0"/>
          </a:p>
          <a:p>
            <a:endParaRPr lang="en-GB" dirty="0"/>
          </a:p>
          <a:p>
            <a:endParaRPr lang="en-GB" dirty="0"/>
          </a:p>
          <a:p>
            <a:endParaRPr lang="en-GB"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8915400" cy="6096000"/>
          </a:xfrm>
        </p:spPr>
        <p:txBody>
          <a:bodyPr/>
          <a:lstStyle/>
          <a:p>
            <a:r>
              <a:rPr lang="en-GB" sz="3600" dirty="0"/>
              <a:t>In criminal law, a guilty defendant is punished by either (1) incarceration in a jail or prison, (2) fine paid to the government, or, in exceptional cases, (3) execution of the defendant: the death penalty. Crimes are divided into two broad classes: </a:t>
            </a:r>
            <a:r>
              <a:rPr lang="en-GB" sz="3600" i="1" dirty="0"/>
              <a:t>felonies</a:t>
            </a:r>
            <a:r>
              <a:rPr lang="en-GB" sz="3600" dirty="0"/>
              <a:t> have a maximum possible sentence of more than one year incarceration, </a:t>
            </a:r>
            <a:r>
              <a:rPr lang="en-GB" sz="3600" i="1" dirty="0" err="1"/>
              <a:t>misdemeanors</a:t>
            </a:r>
            <a:r>
              <a:rPr lang="en-GB" sz="3600" dirty="0"/>
              <a:t> have a maximum possible sentence of less than one year incarceration.</a:t>
            </a:r>
            <a:endParaRPr lang="en-GB" sz="3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096000"/>
          </a:xfrm>
        </p:spPr>
        <p:txBody>
          <a:bodyPr/>
          <a:lstStyle/>
          <a:p>
            <a:pPr algn="just"/>
            <a:r>
              <a:rPr lang="en-GB" dirty="0"/>
              <a:t>In contrast, a defendant in civil litigation is </a:t>
            </a:r>
            <a:r>
              <a:rPr lang="en-GB" i="1" dirty="0"/>
              <a:t>never</a:t>
            </a:r>
            <a:r>
              <a:rPr lang="en-GB" dirty="0"/>
              <a:t> incarcerated and never executed. In general, a losing defendant in civil litigation only reimburses the plaintiff for losses caused by the defendant's behaviour. </a:t>
            </a:r>
            <a:br>
              <a:rPr lang="en-GB" dirty="0"/>
            </a:br>
            <a:r>
              <a:rPr lang="en-GB" dirty="0"/>
              <a:t>So-called punitive damages are never awarded in a civil case under contract law. In a civil case under tort law, there is a possibility of punitive damages, </a:t>
            </a:r>
            <a:r>
              <a:rPr lang="en-GB" i="1" dirty="0"/>
              <a:t>if</a:t>
            </a:r>
            <a:r>
              <a:rPr lang="en-GB" dirty="0"/>
              <a:t> the defendant's conduct is egregious and had </a:t>
            </a:r>
            <a:r>
              <a:rPr lang="en-GB" i="1" dirty="0"/>
              <a:t>either</a:t>
            </a:r>
            <a:r>
              <a:rPr lang="en-GB" dirty="0"/>
              <a:t> (1) a malicious intent (i.e., desire to cause harm), (2) gross negligence (i.e., conscious indifference), </a:t>
            </a:r>
            <a:r>
              <a:rPr lang="en-GB" i="1" dirty="0"/>
              <a:t>or</a:t>
            </a:r>
            <a:r>
              <a:rPr lang="en-GB" dirty="0"/>
              <a:t> (3) a </a:t>
            </a:r>
            <a:r>
              <a:rPr lang="en-GB" dirty="0" err="1"/>
              <a:t>willful</a:t>
            </a:r>
            <a:r>
              <a:rPr lang="en-GB" dirty="0"/>
              <a:t> disregard for the rights of others. The use of punitive damages makes a public example of the defendant and supposedly deters future wrongful conduct by others. </a:t>
            </a:r>
            <a:endParaRPr lang="en-GB"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839200" cy="5943600"/>
          </a:xfrm>
        </p:spPr>
        <p:txBody>
          <a:bodyPr/>
          <a:lstStyle/>
          <a:p>
            <a:pPr marL="109220" indent="0" algn="just">
              <a:buNone/>
            </a:pPr>
            <a:r>
              <a:rPr lang="en-GB" sz="2600" dirty="0"/>
              <a:t>Punitive damages are particularly important in torts involving dignitary harms (e.g., invasion of privacy) and civil rights, where the actual monetary injury to plaintiff(s) may be small. </a:t>
            </a:r>
            <a:br>
              <a:rPr lang="en-GB" sz="2600" dirty="0"/>
            </a:br>
            <a:r>
              <a:rPr lang="en-GB" sz="2600" dirty="0"/>
              <a:t>One can purchase insurance that will pay damages and attorney's fees for tort claims. Such insurance coverage is a standard part of homeowner's insurance policies, automobile insurance, and insurance for businesses. In contrast, it is </a:t>
            </a:r>
            <a:r>
              <a:rPr lang="en-GB" sz="2600" i="1" dirty="0"/>
              <a:t>not</a:t>
            </a:r>
            <a:r>
              <a:rPr lang="en-GB" sz="2600" dirty="0"/>
              <a:t> possible for a defendant to purchase insurance to pay for his/her criminal acts. </a:t>
            </a:r>
            <a:br>
              <a:rPr lang="en-GB" sz="2600" dirty="0"/>
            </a:br>
            <a:r>
              <a:rPr lang="en-GB" sz="2600" dirty="0"/>
              <a:t>While a court can order a defendant to pay damages, the plaintiff may receive nothing if the defendant has no assets and no insurance, or if the defendant is </a:t>
            </a:r>
            <a:r>
              <a:rPr lang="en-GB" sz="2600" dirty="0" err="1"/>
              <a:t>skillful</a:t>
            </a:r>
            <a:r>
              <a:rPr lang="en-GB" sz="2600" dirty="0"/>
              <a:t> in concealing assets. In this way, large awards for plaintiffs in tort cases are often an illusion.</a:t>
            </a:r>
            <a:endParaRPr lang="en-GB" sz="2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382000" cy="6096000"/>
          </a:xfrm>
        </p:spPr>
        <p:txBody>
          <a:bodyPr/>
          <a:lstStyle/>
          <a:p>
            <a:pPr algn="just"/>
            <a:r>
              <a:rPr lang="en-US" sz="3200" dirty="0"/>
              <a:t>A </a:t>
            </a:r>
            <a:r>
              <a:rPr lang="en-US" sz="3200" b="1" dirty="0"/>
              <a:t>court</a:t>
            </a:r>
            <a:r>
              <a:rPr lang="en-US" sz="3200" dirty="0"/>
              <a:t> is a </a:t>
            </a:r>
            <a:r>
              <a:rPr lang="en-US" sz="3200" dirty="0">
                <a:hlinkClick r:id="rId1" tooltip="Tribunal"/>
              </a:rPr>
              <a:t>tribunal</a:t>
            </a:r>
            <a:r>
              <a:rPr lang="en-US" sz="3200" dirty="0"/>
              <a:t>, often a </a:t>
            </a:r>
            <a:r>
              <a:rPr lang="en-US" sz="3200" dirty="0">
                <a:hlinkClick r:id="rId2" tooltip="Government"/>
              </a:rPr>
              <a:t>governmental</a:t>
            </a:r>
            <a:r>
              <a:rPr lang="en-US" sz="3200" dirty="0"/>
              <a:t> </a:t>
            </a:r>
            <a:r>
              <a:rPr lang="en-US" sz="3200" dirty="0">
                <a:hlinkClick r:id="rId3" tooltip="Institution"/>
              </a:rPr>
              <a:t>institution</a:t>
            </a:r>
            <a:r>
              <a:rPr lang="en-US" sz="3200" dirty="0"/>
              <a:t>, with the </a:t>
            </a:r>
            <a:r>
              <a:rPr lang="en-US" sz="3200" dirty="0">
                <a:hlinkClick r:id="rId4" tooltip="Authority"/>
              </a:rPr>
              <a:t>authority</a:t>
            </a:r>
            <a:r>
              <a:rPr lang="en-US" sz="3200" dirty="0"/>
              <a:t> to </a:t>
            </a:r>
            <a:r>
              <a:rPr lang="en-US" sz="3200" dirty="0">
                <a:hlinkClick r:id="rId5" tooltip="Adjudication"/>
              </a:rPr>
              <a:t>adjudicate</a:t>
            </a:r>
            <a:r>
              <a:rPr lang="en-US" sz="3200" dirty="0"/>
              <a:t> </a:t>
            </a:r>
            <a:r>
              <a:rPr lang="en-US" sz="3200" dirty="0">
                <a:hlinkClick r:id="rId6" tooltip="Legal dispute"/>
              </a:rPr>
              <a:t>legal disputes</a:t>
            </a:r>
            <a:r>
              <a:rPr lang="en-US" sz="3200" dirty="0"/>
              <a:t> between </a:t>
            </a:r>
            <a:r>
              <a:rPr lang="en-US" sz="3200" dirty="0">
                <a:hlinkClick r:id="rId7" tooltip="Party (law)"/>
              </a:rPr>
              <a:t>parties</a:t>
            </a:r>
            <a:r>
              <a:rPr lang="en-US" sz="3200" dirty="0"/>
              <a:t> and carry out the administration of </a:t>
            </a:r>
            <a:r>
              <a:rPr lang="en-US" sz="3200" dirty="0">
                <a:hlinkClick r:id="rId8" tooltip="Justice"/>
              </a:rPr>
              <a:t>justice</a:t>
            </a:r>
            <a:r>
              <a:rPr lang="en-US" sz="3200" dirty="0"/>
              <a:t> in </a:t>
            </a:r>
            <a:r>
              <a:rPr lang="en-US" sz="3200" dirty="0">
                <a:hlinkClick r:id="rId9" tooltip="Private law"/>
              </a:rPr>
              <a:t>civil</a:t>
            </a:r>
            <a:r>
              <a:rPr lang="en-US" sz="3200" dirty="0"/>
              <a:t>, </a:t>
            </a:r>
            <a:r>
              <a:rPr lang="en-US" sz="3200" dirty="0">
                <a:hlinkClick r:id="rId10" tooltip="Criminal law"/>
              </a:rPr>
              <a:t>criminal</a:t>
            </a:r>
            <a:r>
              <a:rPr lang="en-US" sz="3200" dirty="0"/>
              <a:t>, and </a:t>
            </a:r>
            <a:r>
              <a:rPr lang="en-US" sz="3200" dirty="0">
                <a:hlinkClick r:id="rId11" tooltip="Administrative law"/>
              </a:rPr>
              <a:t>administrative</a:t>
            </a:r>
            <a:r>
              <a:rPr lang="en-US" sz="3200" dirty="0"/>
              <a:t> matters in accordance with the </a:t>
            </a:r>
            <a:r>
              <a:rPr lang="en-US" sz="3200" dirty="0">
                <a:hlinkClick r:id="rId12" tooltip="Rule of law"/>
              </a:rPr>
              <a:t>rule of law</a:t>
            </a:r>
            <a:r>
              <a:rPr lang="en-US" sz="3200" dirty="0"/>
              <a:t>.</a:t>
            </a:r>
            <a:r>
              <a:rPr lang="en-US" sz="3200" baseline="30000" dirty="0"/>
              <a:t> </a:t>
            </a:r>
            <a:r>
              <a:rPr lang="en-US" sz="3200" dirty="0"/>
              <a:t>In both </a:t>
            </a:r>
            <a:r>
              <a:rPr lang="en-US" sz="3200" dirty="0">
                <a:hlinkClick r:id="rId13" tooltip="Common law"/>
              </a:rPr>
              <a:t>common law</a:t>
            </a:r>
            <a:r>
              <a:rPr lang="en-US" sz="3200" dirty="0"/>
              <a:t> and </a:t>
            </a:r>
            <a:r>
              <a:rPr lang="en-US" sz="3200" dirty="0">
                <a:hlinkClick r:id="rId14" tooltip="Civil law (legal system)"/>
              </a:rPr>
              <a:t>civil law</a:t>
            </a:r>
            <a:r>
              <a:rPr lang="en-US" sz="3200" dirty="0"/>
              <a:t> </a:t>
            </a:r>
            <a:r>
              <a:rPr lang="en-US" sz="3200" dirty="0">
                <a:hlinkClick r:id="rId15" tooltip="Legal system"/>
              </a:rPr>
              <a:t>legal systems</a:t>
            </a:r>
            <a:r>
              <a:rPr lang="en-US" sz="3200" dirty="0"/>
              <a:t>, courts are the central means for </a:t>
            </a:r>
            <a:r>
              <a:rPr lang="en-US" sz="3200" dirty="0">
                <a:hlinkClick r:id="rId16" tooltip="Dispute resolution"/>
              </a:rPr>
              <a:t>dispute resolution</a:t>
            </a:r>
            <a:r>
              <a:rPr lang="en-US" sz="3200" dirty="0"/>
              <a:t>, and it is generally understood that all persons have an ability to bring their claims before a court. </a:t>
            </a:r>
            <a:endParaRPr lang="en-GB" sz="3200" dirty="0"/>
          </a:p>
          <a:p>
            <a:pPr algn="just"/>
            <a:endParaRPr lang="en-GB" sz="3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534400" cy="6096000"/>
          </a:xfrm>
        </p:spPr>
        <p:txBody>
          <a:bodyPr/>
          <a:lstStyle/>
          <a:p>
            <a:pPr algn="just"/>
            <a:r>
              <a:rPr lang="en-US" sz="3600" dirty="0"/>
              <a:t>The system of courts that interpret and apply the </a:t>
            </a:r>
            <a:r>
              <a:rPr lang="en-US" sz="3600" u="sng" dirty="0">
                <a:hlinkClick r:id="rId1" tooltip="Law"/>
              </a:rPr>
              <a:t>law</a:t>
            </a:r>
            <a:r>
              <a:rPr lang="en-US" sz="3600" dirty="0"/>
              <a:t> are collectively known as the </a:t>
            </a:r>
            <a:r>
              <a:rPr lang="en-US" sz="3600" u="sng" dirty="0">
                <a:hlinkClick r:id="rId2" tooltip="Judiciary"/>
              </a:rPr>
              <a:t>judiciary</a:t>
            </a:r>
            <a:r>
              <a:rPr lang="en-US" sz="3600" dirty="0"/>
              <a:t>. The place where a court sits is known as a </a:t>
            </a:r>
            <a:r>
              <a:rPr lang="en-US" sz="3600" u="sng" dirty="0">
                <a:hlinkClick r:id="rId3" tooltip="Venue (law)"/>
              </a:rPr>
              <a:t>venue</a:t>
            </a:r>
            <a:r>
              <a:rPr lang="en-US" sz="3600" dirty="0"/>
              <a:t>. The room where court proceedings occur is known as a </a:t>
            </a:r>
            <a:r>
              <a:rPr lang="en-US" sz="3600" u="sng" dirty="0">
                <a:hlinkClick r:id="rId4" tooltip="Courtroom"/>
              </a:rPr>
              <a:t>courtroom</a:t>
            </a:r>
            <a:r>
              <a:rPr lang="en-US" sz="3600" dirty="0"/>
              <a:t>, and the building as a </a:t>
            </a:r>
            <a:r>
              <a:rPr lang="en-US" sz="3600" u="sng" dirty="0">
                <a:hlinkClick r:id="rId5" tooltip="Courthouse"/>
              </a:rPr>
              <a:t>courthouse</a:t>
            </a:r>
            <a:r>
              <a:rPr lang="en-US" sz="3600" dirty="0"/>
              <a:t>; court facilities range from simple and very small facilities in rural communities to large buildings in cities.</a:t>
            </a:r>
            <a:endParaRPr lang="en-GB" sz="3600" dirty="0"/>
          </a:p>
          <a:p>
            <a:endParaRPr lang="en-GB"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lstStyle/>
          <a:p>
            <a:pPr algn="just"/>
            <a:r>
              <a:rPr lang="en-GB" dirty="0"/>
              <a:t>Courts are recognized and renowned as the hallowed chambers of justice, where even-handed justice is meted out to all and sundry, without sentiment, emotion, favouritism or being unnecessarily embroiled in crass legalism. They are not only courts of law but courts of equity. As discussed in an earlier post, a party is entitled to fair hearing before a court and where there is a breach of the rule of fair hearing as guaranteed by the 1999 Constitution (As Amended), the whole proceedings automatically become vitiated with a basic and fundamental irregularity, which renders such proceedings null and void. The test of fair hearing is the impression of a reasonable person who was present at the trial- whether from his observation, justice has been done in the case.</a:t>
            </a:r>
            <a:endParaRPr lang="en-GB" dirty="0"/>
          </a:p>
          <a:p>
            <a:endParaRPr lang="en-GB"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10600" cy="6248400"/>
          </a:xfrm>
        </p:spPr>
        <p:txBody>
          <a:bodyPr/>
          <a:lstStyle/>
          <a:p>
            <a:pPr algn="just"/>
            <a:r>
              <a:rPr lang="en-GB" sz="2800" dirty="0"/>
              <a:t>In Nigeria, the 1999 Constitution (As Amended) divides the structure of government into three arms – the legislative; the executive and the judiciary. By the provision of Section 6 of the 1999 Constitution (As Amended), judicial powers are vested in the courts. Courts are authorized by law to exercise jurisdiction at first instance and on appeals on all actions and proceedings relating to matters between persons, or between government or authority and any person in Nigeria to determine any question as to the civil rights and obligations of that person. It is in line with this that we will be considering in this article, the issues of hierarchy and jurisdiction of courts in Nigeria.</a:t>
            </a:r>
            <a:endParaRPr lang="en-GB" sz="2800" dirty="0"/>
          </a:p>
          <a:p>
            <a:endParaRPr lang="en-GB"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Organization of court</a:t>
            </a:r>
            <a:endParaRPr lang="en-GB" dirty="0"/>
          </a:p>
        </p:txBody>
      </p:sp>
      <p:sp>
        <p:nvSpPr>
          <p:cNvPr id="3" name="Content Placeholder 2"/>
          <p:cNvSpPr>
            <a:spLocks noGrp="1"/>
          </p:cNvSpPr>
          <p:nvPr>
            <p:ph idx="1"/>
          </p:nvPr>
        </p:nvSpPr>
        <p:spPr>
          <a:xfrm>
            <a:off x="467544" y="1412776"/>
            <a:ext cx="8424936" cy="4968552"/>
          </a:xfrm>
        </p:spPr>
        <p:txBody>
          <a:bodyPr>
            <a:normAutofit fontScale="92500" lnSpcReduction="10000"/>
          </a:bodyPr>
          <a:lstStyle/>
          <a:p>
            <a:pPr marL="0" indent="0" algn="just">
              <a:buNone/>
            </a:pPr>
            <a:r>
              <a:rPr lang="en-GB" sz="4000" dirty="0"/>
              <a:t>The Supreme </a:t>
            </a:r>
            <a:r>
              <a:rPr lang="en-GB" sz="4000" b="1" dirty="0"/>
              <a:t>Court</a:t>
            </a:r>
            <a:r>
              <a:rPr lang="en-GB" sz="4000" dirty="0"/>
              <a:t> of </a:t>
            </a:r>
            <a:r>
              <a:rPr lang="en-GB" sz="4000" b="1" dirty="0"/>
              <a:t>Nigeria</a:t>
            </a:r>
            <a:r>
              <a:rPr lang="en-GB" sz="4000" dirty="0"/>
              <a:t> is the highest </a:t>
            </a:r>
            <a:r>
              <a:rPr lang="en-GB" sz="4000" b="1" dirty="0"/>
              <a:t>court in Nigeria</a:t>
            </a:r>
            <a:r>
              <a:rPr lang="en-GB" sz="4000" dirty="0"/>
              <a:t>. It is based in the capital, Abuja. The Supreme </a:t>
            </a:r>
            <a:r>
              <a:rPr lang="en-GB" sz="4000" b="1" dirty="0"/>
              <a:t>Court</a:t>
            </a:r>
            <a:r>
              <a:rPr lang="en-GB" sz="4000" dirty="0"/>
              <a:t> is mainly a </a:t>
            </a:r>
            <a:r>
              <a:rPr lang="en-GB" sz="4000" b="1" dirty="0"/>
              <a:t>court</a:t>
            </a:r>
            <a:r>
              <a:rPr lang="en-GB" sz="4000" dirty="0"/>
              <a:t> of appellate </a:t>
            </a:r>
            <a:r>
              <a:rPr lang="en-GB" sz="4000" b="1" dirty="0"/>
              <a:t>jurisdiction</a:t>
            </a:r>
            <a:r>
              <a:rPr lang="en-GB" sz="4000" dirty="0"/>
              <a:t> and is the final appeal </a:t>
            </a:r>
            <a:r>
              <a:rPr lang="en-GB" sz="4000" b="1" dirty="0"/>
              <a:t>court</a:t>
            </a:r>
            <a:r>
              <a:rPr lang="en-GB" sz="4000" dirty="0"/>
              <a:t> in the country. It also has original </a:t>
            </a:r>
            <a:r>
              <a:rPr lang="en-GB" sz="4000" b="1" dirty="0"/>
              <a:t>jurisdiction</a:t>
            </a:r>
            <a:r>
              <a:rPr lang="en-GB" sz="4000" dirty="0"/>
              <a:t> in State vs. State and State vs. Federal Government cases</a:t>
            </a:r>
            <a:endParaRPr lang="en-GB" sz="4000" dirty="0"/>
          </a:p>
          <a:p>
            <a:endParaRPr lang="en-GB"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84976" cy="6336704"/>
          </a:xfrm>
        </p:spPr>
        <p:txBody>
          <a:bodyPr>
            <a:noAutofit/>
          </a:bodyPr>
          <a:lstStyle/>
          <a:p>
            <a:pPr marL="0" indent="0" algn="just">
              <a:buNone/>
            </a:pPr>
            <a:r>
              <a:rPr lang="en-GB" sz="3600" dirty="0"/>
              <a:t>The Supreme Court is composed of the Chief Justice of Nigeria and such number of justices not more than 21, appointed by the </a:t>
            </a:r>
            <a:r>
              <a:rPr lang="en-GB" sz="3600" dirty="0">
                <a:hlinkClick r:id="rId1" tooltip="President of Nigeria"/>
              </a:rPr>
              <a:t>President</a:t>
            </a:r>
            <a:r>
              <a:rPr lang="en-GB" sz="3600" dirty="0"/>
              <a:t> on the recommendation of the National Judicial Council, (NJC) and subject to confirmation by the </a:t>
            </a:r>
            <a:r>
              <a:rPr lang="en-GB" sz="3600" dirty="0">
                <a:hlinkClick r:id="rId2" tooltip="Senate of Nigeria"/>
              </a:rPr>
              <a:t>Senate</a:t>
            </a:r>
            <a:r>
              <a:rPr lang="en-GB" sz="3600" dirty="0"/>
              <a:t>. Justices of the Supreme Court must be qualified to practice law in Nigeria, and must have been so qualified for a period not less than fifteen years. Justices of the Supreme Court of Nigeria have a mandatory retirement age of 70 years.</a:t>
            </a:r>
            <a:endParaRPr lang="en-GB" sz="3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6632"/>
            <a:ext cx="8784976" cy="6408712"/>
          </a:xfrm>
        </p:spPr>
        <p:txBody>
          <a:bodyPr>
            <a:normAutofit fontScale="92500"/>
          </a:bodyPr>
          <a:lstStyle/>
          <a:p>
            <a:pPr algn="just"/>
            <a:r>
              <a:rPr lang="en-GB" sz="3600" dirty="0"/>
              <a:t>Tier 3 </a:t>
            </a:r>
            <a:r>
              <a:rPr lang="en-GB" sz="3600" b="1" dirty="0"/>
              <a:t>Courts</a:t>
            </a:r>
            <a:r>
              <a:rPr lang="en-GB" sz="3600" dirty="0"/>
              <a:t>. Just below the Federal </a:t>
            </a:r>
            <a:r>
              <a:rPr lang="en-GB" sz="3600" b="1" dirty="0"/>
              <a:t>Court</a:t>
            </a:r>
            <a:r>
              <a:rPr lang="en-GB" sz="3600" dirty="0"/>
              <a:t> of Appeal are the tier 3 </a:t>
            </a:r>
            <a:r>
              <a:rPr lang="en-GB" sz="3600" b="1" dirty="0"/>
              <a:t>courts</a:t>
            </a:r>
            <a:r>
              <a:rPr lang="en-GB" sz="3600" dirty="0"/>
              <a:t>. They include: (1) the Federal High </a:t>
            </a:r>
            <a:r>
              <a:rPr lang="en-GB" sz="3600" b="1" dirty="0"/>
              <a:t>Court</a:t>
            </a:r>
            <a:r>
              <a:rPr lang="en-GB" sz="3600" dirty="0"/>
              <a:t> and (2) the High </a:t>
            </a:r>
            <a:r>
              <a:rPr lang="en-GB" sz="3600" b="1" dirty="0"/>
              <a:t>Court</a:t>
            </a:r>
            <a:r>
              <a:rPr lang="en-GB" sz="3600" dirty="0"/>
              <a:t> of a state/FCT, (3) the Customary </a:t>
            </a:r>
            <a:r>
              <a:rPr lang="en-GB" sz="3600" b="1" dirty="0"/>
              <a:t>Court</a:t>
            </a:r>
            <a:r>
              <a:rPr lang="en-GB" sz="3600" dirty="0"/>
              <a:t> of Appeal of a state/FCT and (4) the Sharia </a:t>
            </a:r>
            <a:r>
              <a:rPr lang="en-GB" sz="3600" b="1" dirty="0"/>
              <a:t>Court</a:t>
            </a:r>
            <a:r>
              <a:rPr lang="en-GB" sz="3600" dirty="0"/>
              <a:t> of Appeal of a state/FCT. The Federal High </a:t>
            </a:r>
            <a:r>
              <a:rPr lang="en-GB" sz="3600" b="1" dirty="0"/>
              <a:t>Court</a:t>
            </a:r>
            <a:r>
              <a:rPr lang="en-GB" sz="3600" dirty="0"/>
              <a:t> is based in Abuja.</a:t>
            </a:r>
            <a:endParaRPr lang="en-GB" sz="3600" dirty="0"/>
          </a:p>
          <a:p>
            <a:pPr algn="just"/>
            <a:r>
              <a:rPr lang="en-GB" sz="3600" dirty="0"/>
              <a:t>The </a:t>
            </a:r>
            <a:r>
              <a:rPr lang="en-GB" sz="3600" i="1" dirty="0"/>
              <a:t>Chief Justice of Nigeria</a:t>
            </a:r>
            <a:r>
              <a:rPr lang="en-GB" sz="3600" dirty="0"/>
              <a:t> or CJN is the head of the judicial arm of the government of Nigeria, ... 2014–2016. </a:t>
            </a:r>
            <a:endParaRPr lang="en-GB" sz="3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507288" cy="5865515"/>
          </a:xfrm>
        </p:spPr>
        <p:txBody>
          <a:bodyPr/>
          <a:lstStyle/>
          <a:p>
            <a:r>
              <a:rPr lang="en-GB" dirty="0"/>
              <a:t>The </a:t>
            </a:r>
            <a:r>
              <a:rPr lang="en-GB" b="1" dirty="0"/>
              <a:t>Nigerian legal system</a:t>
            </a:r>
            <a:r>
              <a:rPr lang="en-GB" dirty="0"/>
              <a:t> is based on the English common law </a:t>
            </a:r>
            <a:r>
              <a:rPr lang="en-GB" b="1" dirty="0"/>
              <a:t>legal</a:t>
            </a:r>
            <a:r>
              <a:rPr lang="en-GB" dirty="0"/>
              <a:t> tradition. The sources of </a:t>
            </a:r>
            <a:r>
              <a:rPr lang="en-GB" b="1" dirty="0"/>
              <a:t>Nigerian</a:t>
            </a:r>
            <a:r>
              <a:rPr lang="en-GB" dirty="0"/>
              <a:t> law are: The Constitution, Legislation, English law, Customary law, Islamic law and </a:t>
            </a:r>
            <a:r>
              <a:rPr lang="en-GB" b="1" dirty="0"/>
              <a:t>Judicial</a:t>
            </a:r>
            <a:r>
              <a:rPr lang="en-GB" dirty="0"/>
              <a:t> precedents</a:t>
            </a:r>
            <a:endParaRPr lang="en-GB"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381000"/>
          </a:xfrm>
        </p:spPr>
        <p:txBody>
          <a:bodyPr>
            <a:normAutofit fontScale="90000"/>
          </a:bodyPr>
          <a:lstStyle/>
          <a:p>
            <a:r>
              <a:rPr lang="en-GB" sz="4000" dirty="0"/>
              <a:t>Organisation of Nigerian Courts</a:t>
            </a:r>
            <a:endParaRPr lang="en-GB" sz="4000" dirty="0"/>
          </a:p>
        </p:txBody>
      </p:sp>
      <p:sp>
        <p:nvSpPr>
          <p:cNvPr id="3" name="Content Placeholder 2"/>
          <p:cNvSpPr>
            <a:spLocks noGrp="1"/>
          </p:cNvSpPr>
          <p:nvPr>
            <p:ph idx="1"/>
          </p:nvPr>
        </p:nvSpPr>
        <p:spPr>
          <a:xfrm>
            <a:off x="381000" y="838200"/>
            <a:ext cx="8458200" cy="5562600"/>
          </a:xfrm>
        </p:spPr>
        <p:txBody>
          <a:bodyPr/>
          <a:lstStyle/>
          <a:p>
            <a:pPr algn="just"/>
            <a:r>
              <a:rPr lang="en-GB" sz="3200" dirty="0"/>
              <a:t>1</a:t>
            </a:r>
            <a:r>
              <a:rPr lang="en-GB" sz="3200" dirty="0">
                <a:latin typeface="Agency FB" pitchFamily="34" charset="0"/>
              </a:rPr>
              <a:t>.     </a:t>
            </a:r>
            <a:r>
              <a:rPr lang="en-GB" sz="3200" b="1" dirty="0">
                <a:latin typeface="Agency FB" pitchFamily="34" charset="0"/>
              </a:rPr>
              <a:t>THE SUPREME COURT OF NIGERIA</a:t>
            </a:r>
            <a:r>
              <a:rPr lang="en-GB" sz="3200" dirty="0">
                <a:latin typeface="Agency FB" pitchFamily="34" charset="0"/>
              </a:rPr>
              <a:t> </a:t>
            </a:r>
            <a:endParaRPr lang="en-GB" sz="3200" dirty="0">
              <a:latin typeface="Agency FB" pitchFamily="34" charset="0"/>
            </a:endParaRPr>
          </a:p>
          <a:p>
            <a:pPr algn="just"/>
            <a:r>
              <a:rPr lang="en-GB" sz="3200" dirty="0">
                <a:latin typeface="Agency FB" pitchFamily="34" charset="0"/>
              </a:rPr>
              <a:t>2.     </a:t>
            </a:r>
            <a:r>
              <a:rPr lang="en-GB" sz="3200" b="1" dirty="0">
                <a:latin typeface="Agency FB" pitchFamily="34" charset="0"/>
              </a:rPr>
              <a:t>THE COURT OF APPEAL</a:t>
            </a:r>
            <a:endParaRPr lang="en-GB" sz="3200" dirty="0">
              <a:latin typeface="Agency FB" pitchFamily="34" charset="0"/>
            </a:endParaRPr>
          </a:p>
          <a:p>
            <a:pPr algn="just"/>
            <a:r>
              <a:rPr lang="en-GB" sz="3200" dirty="0">
                <a:latin typeface="Agency FB" pitchFamily="34" charset="0"/>
              </a:rPr>
              <a:t>3.     </a:t>
            </a:r>
            <a:r>
              <a:rPr lang="en-GB" sz="3200" b="1" dirty="0">
                <a:latin typeface="Agency FB" pitchFamily="34" charset="0"/>
              </a:rPr>
              <a:t>THE FEDERAL HIGH COURT</a:t>
            </a:r>
            <a:endParaRPr lang="en-GB" sz="3200" dirty="0">
              <a:latin typeface="Agency FB" pitchFamily="34" charset="0"/>
            </a:endParaRPr>
          </a:p>
          <a:p>
            <a:pPr algn="just"/>
            <a:r>
              <a:rPr lang="en-GB" sz="3200" dirty="0">
                <a:latin typeface="Agency FB" pitchFamily="34" charset="0"/>
              </a:rPr>
              <a:t>4. </a:t>
            </a:r>
            <a:r>
              <a:rPr lang="en-GB" sz="3200" b="1" dirty="0">
                <a:latin typeface="Agency FB" pitchFamily="34" charset="0"/>
              </a:rPr>
              <a:t>THE HIGH COURT OF THE FEDERAL CAPITAL TERRITORY (FCT)/ STATE HIGH COURT</a:t>
            </a:r>
            <a:endParaRPr lang="en-GB" sz="3200" dirty="0">
              <a:latin typeface="Agency FB" pitchFamily="34" charset="0"/>
            </a:endParaRPr>
          </a:p>
          <a:p>
            <a:pPr algn="just"/>
            <a:r>
              <a:rPr lang="en-GB" sz="3200" dirty="0">
                <a:latin typeface="Agency FB" pitchFamily="34" charset="0"/>
              </a:rPr>
              <a:t>5.     </a:t>
            </a:r>
            <a:r>
              <a:rPr lang="en-GB" sz="3200" b="1" dirty="0">
                <a:latin typeface="Agency FB" pitchFamily="34" charset="0"/>
              </a:rPr>
              <a:t>NATIONAL INDUSTRIAL COURT</a:t>
            </a:r>
            <a:endParaRPr lang="en-GB" sz="3200" dirty="0">
              <a:latin typeface="Agency FB" pitchFamily="34" charset="0"/>
            </a:endParaRPr>
          </a:p>
          <a:p>
            <a:pPr algn="just"/>
            <a:r>
              <a:rPr lang="en-GB" sz="3200" dirty="0">
                <a:latin typeface="Agency FB" pitchFamily="34" charset="0"/>
              </a:rPr>
              <a:t>6.     </a:t>
            </a:r>
            <a:r>
              <a:rPr lang="en-GB" sz="3200" b="1" dirty="0">
                <a:latin typeface="Agency FB" pitchFamily="34" charset="0"/>
              </a:rPr>
              <a:t>SHARIA COURT OF APPEAL</a:t>
            </a:r>
            <a:endParaRPr lang="en-GB" sz="3200" dirty="0">
              <a:latin typeface="Agency FB" pitchFamily="34" charset="0"/>
            </a:endParaRPr>
          </a:p>
          <a:p>
            <a:pPr algn="just"/>
            <a:r>
              <a:rPr lang="en-GB" sz="3200" dirty="0">
                <a:latin typeface="Agency FB" pitchFamily="34" charset="0"/>
              </a:rPr>
              <a:t>7.     </a:t>
            </a:r>
            <a:r>
              <a:rPr lang="en-GB" sz="3200" b="1" dirty="0">
                <a:latin typeface="Agency FB" pitchFamily="34" charset="0"/>
              </a:rPr>
              <a:t>CUSTOMARY COURT OF APPEAL</a:t>
            </a:r>
            <a:endParaRPr lang="en-GB" sz="3200" dirty="0">
              <a:latin typeface="Agency FB" pitchFamily="34" charset="0"/>
            </a:endParaRPr>
          </a:p>
          <a:p>
            <a:pPr algn="just"/>
            <a:r>
              <a:rPr lang="en-GB" sz="3200" dirty="0">
                <a:latin typeface="Agency FB" pitchFamily="34" charset="0"/>
              </a:rPr>
              <a:t>8. </a:t>
            </a:r>
            <a:r>
              <a:rPr lang="en-GB" sz="3200" b="1" dirty="0">
                <a:latin typeface="Agency FB" pitchFamily="34" charset="0"/>
              </a:rPr>
              <a:t>MAGISTRATE COURTS AND DISTRICT COURTS</a:t>
            </a:r>
            <a:endParaRPr lang="en-GB" sz="3200" dirty="0">
              <a:latin typeface="Agency FB" pitchFamily="34" charset="0"/>
            </a:endParaRPr>
          </a:p>
          <a:p>
            <a:endParaRPr lang="en-GB"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741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496" y="0"/>
            <a:ext cx="9108504" cy="6741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533400"/>
          </a:xfrm>
        </p:spPr>
        <p:txBody>
          <a:bodyPr>
            <a:normAutofit fontScale="90000"/>
          </a:bodyPr>
          <a:lstStyle/>
          <a:p>
            <a:r>
              <a:rPr lang="en-GB" sz="4800" dirty="0"/>
              <a:t>Organisation of Nigerian Courts</a:t>
            </a:r>
            <a:endParaRPr lang="en-GB" sz="4800" dirty="0"/>
          </a:p>
        </p:txBody>
      </p:sp>
      <p:sp>
        <p:nvSpPr>
          <p:cNvPr id="3" name="Content Placeholder 2"/>
          <p:cNvSpPr>
            <a:spLocks noGrp="1"/>
          </p:cNvSpPr>
          <p:nvPr>
            <p:ph idx="1"/>
          </p:nvPr>
        </p:nvSpPr>
        <p:spPr>
          <a:xfrm>
            <a:off x="304800" y="1219200"/>
            <a:ext cx="8610600" cy="5410200"/>
          </a:xfrm>
        </p:spPr>
        <p:txBody>
          <a:bodyPr>
            <a:noAutofit/>
          </a:bodyPr>
          <a:lstStyle/>
          <a:p>
            <a:r>
              <a:rPr lang="en-GB" sz="2800" dirty="0"/>
              <a:t>Superior Courts- The following courts are the only ones expressly prescribed in section 6 (5) as superior courts of records in Nigeria:</a:t>
            </a:r>
            <a:endParaRPr lang="en-GB" sz="2800" dirty="0"/>
          </a:p>
          <a:p>
            <a:pPr lvl="1"/>
            <a:r>
              <a:rPr lang="en-GB" sz="2800" dirty="0"/>
              <a:t>The Supreme Court of Nigeria</a:t>
            </a:r>
            <a:endParaRPr lang="en-GB" sz="2800" dirty="0"/>
          </a:p>
          <a:p>
            <a:pPr lvl="1"/>
            <a:r>
              <a:rPr lang="en-GB" sz="2800" dirty="0"/>
              <a:t>The Court of Appeal</a:t>
            </a:r>
            <a:endParaRPr lang="en-GB" sz="2800" dirty="0"/>
          </a:p>
          <a:p>
            <a:pPr lvl="1"/>
            <a:r>
              <a:rPr lang="en-GB" sz="2800" dirty="0"/>
              <a:t>The Federal High Court</a:t>
            </a:r>
            <a:endParaRPr lang="en-GB" sz="2800" dirty="0"/>
          </a:p>
          <a:p>
            <a:pPr lvl="1"/>
            <a:r>
              <a:rPr lang="en-GB" sz="2800" dirty="0"/>
              <a:t>The High Court of the Federal Capital Territory, Abuja</a:t>
            </a:r>
            <a:endParaRPr lang="en-GB" sz="2800" dirty="0"/>
          </a:p>
          <a:p>
            <a:pPr lvl="1"/>
            <a:r>
              <a:rPr lang="en-GB" sz="2800" dirty="0"/>
              <a:t>A High Court of  a State</a:t>
            </a:r>
            <a:endParaRPr lang="en-GB" sz="2800" dirty="0"/>
          </a:p>
          <a:p>
            <a:pPr marL="393700" lvl="1" indent="0">
              <a:buNone/>
            </a:pPr>
            <a:endParaRPr lang="en-GB" sz="2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534400" cy="6096000"/>
          </a:xfrm>
        </p:spPr>
        <p:txBody>
          <a:bodyPr/>
          <a:lstStyle/>
          <a:p>
            <a:pPr lvl="1"/>
            <a:r>
              <a:rPr lang="en-GB" sz="2800" dirty="0"/>
              <a:t>The Sharia Court of Appeal of the FCT, Abuja</a:t>
            </a:r>
            <a:endParaRPr lang="en-GB" sz="2800" dirty="0"/>
          </a:p>
          <a:p>
            <a:pPr lvl="1"/>
            <a:r>
              <a:rPr lang="en-GB" sz="2800" dirty="0"/>
              <a:t>A Sharia Court of Appeal of a State</a:t>
            </a:r>
            <a:endParaRPr lang="en-GB" sz="2800" dirty="0"/>
          </a:p>
          <a:p>
            <a:pPr lvl="1"/>
            <a:r>
              <a:rPr lang="en-GB" sz="2800" dirty="0"/>
              <a:t>The Customary Court of Appeal of the FCT, Abuja</a:t>
            </a:r>
            <a:endParaRPr lang="en-GB" sz="2800" dirty="0"/>
          </a:p>
          <a:p>
            <a:pPr lvl="1"/>
            <a:r>
              <a:rPr lang="en-GB" sz="2800" dirty="0"/>
              <a:t>A Customary Court of Appeal of a State</a:t>
            </a:r>
            <a:endParaRPr lang="en-GB" sz="2800" dirty="0"/>
          </a:p>
          <a:p>
            <a:pPr lvl="1"/>
            <a:r>
              <a:rPr lang="en-GB" sz="2800" dirty="0"/>
              <a:t>Other courts as may be authorised by law to exercise jurisdiction on matters with respect to which the National Assembly may make laws</a:t>
            </a:r>
            <a:endParaRPr lang="en-GB" sz="2800" dirty="0"/>
          </a:p>
          <a:p>
            <a:pPr lvl="1"/>
            <a:r>
              <a:rPr lang="en-GB" sz="2800" dirty="0"/>
              <a:t>Other courts as may be authorised by law to exercise jurisdiction at first instance or on appeal on matters with respect to which a House of Assembly may make</a:t>
            </a:r>
            <a:endParaRPr lang="en-GB"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001000" cy="609600"/>
          </a:xfrm>
        </p:spPr>
        <p:txBody>
          <a:bodyPr>
            <a:normAutofit fontScale="90000"/>
          </a:bodyPr>
          <a:lstStyle/>
          <a:p>
            <a:r>
              <a:rPr lang="en-GB" sz="4400" dirty="0"/>
              <a:t>Organisation of Nigerian Courts</a:t>
            </a:r>
            <a:endParaRPr lang="en-GB" sz="4400" dirty="0"/>
          </a:p>
        </p:txBody>
      </p:sp>
      <p:sp>
        <p:nvSpPr>
          <p:cNvPr id="3" name="Content Placeholder 2"/>
          <p:cNvSpPr>
            <a:spLocks noGrp="1"/>
          </p:cNvSpPr>
          <p:nvPr>
            <p:ph idx="1"/>
          </p:nvPr>
        </p:nvSpPr>
        <p:spPr>
          <a:xfrm>
            <a:off x="304800" y="1066800"/>
            <a:ext cx="8534400" cy="5562600"/>
          </a:xfrm>
        </p:spPr>
        <p:txBody>
          <a:bodyPr>
            <a:normAutofit lnSpcReduction="10000"/>
          </a:bodyPr>
          <a:lstStyle/>
          <a:p>
            <a:r>
              <a:rPr lang="en-GB" dirty="0"/>
              <a:t>Inferior Courts, Tribunals and Special Courts</a:t>
            </a:r>
            <a:endParaRPr lang="en-GB" dirty="0"/>
          </a:p>
          <a:p>
            <a:pPr lvl="1"/>
            <a:r>
              <a:rPr lang="en-GB" dirty="0"/>
              <a:t>Magistrates’ and District Courts</a:t>
            </a:r>
            <a:endParaRPr lang="en-GB" dirty="0"/>
          </a:p>
          <a:p>
            <a:pPr lvl="1"/>
            <a:r>
              <a:rPr lang="en-GB" dirty="0"/>
              <a:t>Juvenile Courts</a:t>
            </a:r>
            <a:endParaRPr lang="en-GB" dirty="0"/>
          </a:p>
          <a:p>
            <a:pPr lvl="1"/>
            <a:r>
              <a:rPr lang="en-GB" dirty="0"/>
              <a:t>Customary and Area Courts</a:t>
            </a:r>
            <a:endParaRPr lang="en-GB" dirty="0"/>
          </a:p>
          <a:p>
            <a:pPr lvl="1"/>
            <a:r>
              <a:rPr lang="en-GB" dirty="0"/>
              <a:t>Tribunals</a:t>
            </a:r>
            <a:endParaRPr lang="en-GB" dirty="0"/>
          </a:p>
          <a:p>
            <a:pPr lvl="1"/>
            <a:r>
              <a:rPr lang="en-GB" dirty="0"/>
              <a:t>National Industrial Court</a:t>
            </a:r>
            <a:endParaRPr lang="en-GB" dirty="0"/>
          </a:p>
          <a:p>
            <a:pPr lvl="1"/>
            <a:r>
              <a:rPr lang="en-GB" dirty="0"/>
              <a:t>Courts Martial</a:t>
            </a:r>
            <a:endParaRPr lang="en-GB" dirty="0"/>
          </a:p>
          <a:p>
            <a:pPr lvl="1"/>
            <a:r>
              <a:rPr lang="en-GB" dirty="0"/>
              <a:t>Public Complaints Commission</a:t>
            </a:r>
            <a:endParaRPr lang="en-GB" dirty="0"/>
          </a:p>
          <a:p>
            <a:r>
              <a:rPr lang="en-GB" dirty="0"/>
              <a:t>Alternative Dispute Resolution</a:t>
            </a:r>
            <a:endParaRPr lang="en-GB" dirty="0"/>
          </a:p>
          <a:p>
            <a:pPr lvl="1"/>
            <a:r>
              <a:rPr lang="en-GB" dirty="0"/>
              <a:t>Arbitration</a:t>
            </a:r>
            <a:endParaRPr lang="en-GB" dirty="0"/>
          </a:p>
          <a:p>
            <a:pPr lvl="1"/>
            <a:r>
              <a:rPr lang="en-GB" dirty="0"/>
              <a:t>Conciliation</a:t>
            </a:r>
            <a:endParaRPr lang="en-GB" dirty="0"/>
          </a:p>
          <a:p>
            <a:pPr lvl="1"/>
            <a:r>
              <a:rPr lang="en-GB" dirty="0"/>
              <a:t>Mediation</a:t>
            </a:r>
            <a:endParaRPr lang="en-GB" dirty="0"/>
          </a:p>
          <a:p>
            <a:pPr lvl="1"/>
            <a:r>
              <a:rPr lang="en-GB" dirty="0"/>
              <a:t>Mini trial</a:t>
            </a:r>
            <a:endParaRPr lang="en-GB" dirty="0"/>
          </a:p>
          <a:p>
            <a:pPr lvl="1"/>
            <a:r>
              <a:rPr lang="en-GB" dirty="0"/>
              <a:t>Multi-door Courthouse</a:t>
            </a:r>
            <a:endParaRPr lang="en-GB" dirty="0"/>
          </a:p>
          <a:p>
            <a:pPr lvl="1"/>
            <a:r>
              <a:rPr lang="en-GB" dirty="0"/>
              <a:t>Negotiation </a:t>
            </a:r>
            <a:r>
              <a:rPr lang="en-GB" dirty="0" err="1"/>
              <a:t>etc</a:t>
            </a:r>
            <a:endParaRPr lang="en-GB" dirty="0"/>
          </a:p>
          <a:p>
            <a:endParaRPr lang="en-GB"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Organisation of Nigerian Courts</a:t>
            </a:r>
            <a:endParaRPr lang="en-GB" dirty="0"/>
          </a:p>
        </p:txBody>
      </p:sp>
      <p:sp>
        <p:nvSpPr>
          <p:cNvPr id="3" name="Content Placeholder 2"/>
          <p:cNvSpPr>
            <a:spLocks noGrp="1"/>
          </p:cNvSpPr>
          <p:nvPr>
            <p:ph idx="1"/>
          </p:nvPr>
        </p:nvSpPr>
        <p:spPr/>
        <p:txBody>
          <a:bodyPr>
            <a:normAutofit fontScale="92500" lnSpcReduction="20000"/>
          </a:bodyPr>
          <a:lstStyle/>
          <a:p>
            <a:r>
              <a:rPr lang="en-GB" dirty="0"/>
              <a:t>Supreme Court</a:t>
            </a:r>
            <a:endParaRPr lang="en-GB" dirty="0"/>
          </a:p>
          <a:p>
            <a:pPr lvl="1"/>
            <a:r>
              <a:rPr lang="en-GB" dirty="0"/>
              <a:t>Established under section 230 of the 1999 constitution</a:t>
            </a:r>
            <a:endParaRPr lang="en-GB" dirty="0"/>
          </a:p>
          <a:p>
            <a:pPr lvl="1"/>
            <a:r>
              <a:rPr lang="en-GB" dirty="0"/>
              <a:t>The court consists of the Chief Justice of Nigeria (CJN) and such number of Justices of the Supreme Court not exceeding 21 as may be prescribed by an act of the National Assembly</a:t>
            </a:r>
            <a:endParaRPr lang="en-GB" dirty="0"/>
          </a:p>
          <a:p>
            <a:pPr lvl="1"/>
            <a:r>
              <a:rPr lang="en-GB" dirty="0"/>
              <a:t>It is the highest court in Nigeria </a:t>
            </a:r>
            <a:endParaRPr lang="en-GB" dirty="0"/>
          </a:p>
          <a:p>
            <a:pPr lvl="1"/>
            <a:r>
              <a:rPr lang="en-GB" dirty="0"/>
              <a:t>It has original jurisdiction in any dispute between</a:t>
            </a:r>
            <a:endParaRPr lang="en-GB" dirty="0"/>
          </a:p>
          <a:p>
            <a:pPr lvl="2"/>
            <a:r>
              <a:rPr lang="en-GB" dirty="0"/>
              <a:t>the Federation and a State</a:t>
            </a:r>
            <a:endParaRPr lang="en-GB" dirty="0"/>
          </a:p>
          <a:p>
            <a:pPr lvl="2"/>
            <a:r>
              <a:rPr lang="en-GB" dirty="0"/>
              <a:t>States</a:t>
            </a:r>
            <a:endParaRPr lang="en-GB" dirty="0"/>
          </a:p>
          <a:p>
            <a:pPr lvl="2"/>
            <a:r>
              <a:rPr lang="en-GB" dirty="0"/>
              <a:t>The National Assembly and the President</a:t>
            </a:r>
            <a:endParaRPr lang="en-GB" dirty="0"/>
          </a:p>
          <a:p>
            <a:pPr lvl="2"/>
            <a:r>
              <a:rPr lang="en-GB" dirty="0"/>
              <a:t>The National Assembly and any State House of Assembly</a:t>
            </a:r>
            <a:endParaRPr lang="en-GB" dirty="0"/>
          </a:p>
          <a:p>
            <a:pPr lvl="2"/>
            <a:r>
              <a:rPr lang="en-GB" dirty="0"/>
              <a:t>The National Assembly and the State of the Federation</a:t>
            </a:r>
            <a:endParaRPr lang="en-GB" dirty="0"/>
          </a:p>
          <a:p>
            <a:pPr lvl="1"/>
            <a:r>
              <a:rPr lang="en-GB" dirty="0"/>
              <a:t>It has appellate jurisdiction to hear and determine appeals from the Court of Appeal</a:t>
            </a:r>
            <a:endParaRPr lang="en-GB" dirty="0"/>
          </a:p>
          <a:p>
            <a:pPr lvl="1"/>
            <a:endParaRPr lang="en-GB"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153400" cy="533400"/>
          </a:xfrm>
        </p:spPr>
        <p:txBody>
          <a:bodyPr>
            <a:normAutofit fontScale="90000"/>
          </a:bodyPr>
          <a:lstStyle/>
          <a:p>
            <a:r>
              <a:rPr lang="en-GB" sz="4400" dirty="0"/>
              <a:t>Organisation of Nigerian Courts</a:t>
            </a:r>
            <a:endParaRPr lang="en-GB" sz="4400" dirty="0"/>
          </a:p>
        </p:txBody>
      </p:sp>
      <p:sp>
        <p:nvSpPr>
          <p:cNvPr id="3" name="Content Placeholder 2"/>
          <p:cNvSpPr>
            <a:spLocks noGrp="1"/>
          </p:cNvSpPr>
          <p:nvPr>
            <p:ph idx="1"/>
          </p:nvPr>
        </p:nvSpPr>
        <p:spPr>
          <a:xfrm>
            <a:off x="228600" y="990600"/>
            <a:ext cx="8686800" cy="5715000"/>
          </a:xfrm>
        </p:spPr>
        <p:txBody>
          <a:bodyPr>
            <a:normAutofit fontScale="92500" lnSpcReduction="10000"/>
          </a:bodyPr>
          <a:lstStyle/>
          <a:p>
            <a:pPr marL="393700" lvl="1" indent="0">
              <a:buNone/>
            </a:pPr>
            <a:r>
              <a:rPr lang="en-GB" sz="2800" dirty="0"/>
              <a:t>The Supreme Court shall ordinarily be duly constituted if it consists of not less than five Justices of the Court. It shall be constituted by seven Justices </a:t>
            </a:r>
            <a:endParaRPr lang="en-GB" sz="2800" dirty="0"/>
          </a:p>
          <a:p>
            <a:pPr lvl="2"/>
            <a:r>
              <a:rPr lang="en-GB" sz="2800" dirty="0"/>
              <a:t>Where the court is sitting to consider an appeal on questions as to the interpretation and application of the Constitution</a:t>
            </a:r>
            <a:endParaRPr lang="en-GB" sz="2800" dirty="0"/>
          </a:p>
          <a:p>
            <a:pPr lvl="2"/>
            <a:r>
              <a:rPr lang="en-GB" sz="2800" dirty="0"/>
              <a:t>Where the court is sitting to consider an appeal as to whether any of the provisions of Chapter Iv of the Constitution (dealing with human rights) has been or is likely to be contravened in relation to any person</a:t>
            </a:r>
            <a:endParaRPr lang="en-GB" sz="2800" dirty="0"/>
          </a:p>
          <a:p>
            <a:pPr lvl="2"/>
            <a:r>
              <a:rPr lang="en-GB" sz="2800" dirty="0"/>
              <a:t>Where the Court is sitting to exercise its original jurisdiction according to the constitution</a:t>
            </a:r>
            <a:endParaRPr lang="en-GB" sz="2800" dirty="0"/>
          </a:p>
          <a:p>
            <a:endParaRPr lang="en-GB" sz="2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153400" cy="304800"/>
          </a:xfrm>
        </p:spPr>
        <p:txBody>
          <a:bodyPr>
            <a:normAutofit fontScale="90000"/>
          </a:bodyPr>
          <a:lstStyle/>
          <a:p>
            <a:r>
              <a:rPr lang="en-GB" sz="2000" dirty="0"/>
              <a:t>Organisation of Nigerian Courts</a:t>
            </a:r>
            <a:endParaRPr lang="en-GB" sz="2000" dirty="0"/>
          </a:p>
        </p:txBody>
      </p:sp>
      <p:sp>
        <p:nvSpPr>
          <p:cNvPr id="3" name="Content Placeholder 2"/>
          <p:cNvSpPr>
            <a:spLocks noGrp="1"/>
          </p:cNvSpPr>
          <p:nvPr>
            <p:ph idx="1"/>
          </p:nvPr>
        </p:nvSpPr>
        <p:spPr>
          <a:xfrm>
            <a:off x="0" y="457200"/>
            <a:ext cx="8915400" cy="5943600"/>
          </a:xfrm>
        </p:spPr>
        <p:txBody>
          <a:bodyPr>
            <a:noAutofit/>
          </a:bodyPr>
          <a:lstStyle/>
          <a:p>
            <a:pPr algn="just"/>
            <a:r>
              <a:rPr lang="en-GB" sz="2400" dirty="0"/>
              <a:t>Court of Appeal </a:t>
            </a:r>
            <a:endParaRPr lang="en-GB" sz="2400" dirty="0"/>
          </a:p>
          <a:p>
            <a:pPr lvl="1" algn="just"/>
            <a:r>
              <a:rPr lang="en-GB" dirty="0"/>
              <a:t>Established under Section 237 of the Constitution</a:t>
            </a:r>
            <a:endParaRPr lang="en-GB" dirty="0"/>
          </a:p>
          <a:p>
            <a:pPr lvl="1" algn="just"/>
            <a:r>
              <a:rPr lang="en-GB" dirty="0"/>
              <a:t>It comprises the President and such number of Justices of the Court of Appeal not less than 45 as may be prescribed by an Act of the National Assembly</a:t>
            </a:r>
            <a:endParaRPr lang="en-GB" dirty="0"/>
          </a:p>
          <a:p>
            <a:pPr lvl="1" algn="just"/>
            <a:r>
              <a:rPr lang="en-GB" dirty="0"/>
              <a:t>At least three of the Justices must be learned in Islamic Law and at least three must be learned in Customary Law</a:t>
            </a:r>
            <a:endParaRPr lang="en-GB" dirty="0"/>
          </a:p>
          <a:p>
            <a:pPr lvl="1" algn="just"/>
            <a:r>
              <a:rPr lang="en-GB" dirty="0"/>
              <a:t>The Appeal Court has original  jurisdiction to hear and determine any question as to whether</a:t>
            </a:r>
            <a:endParaRPr lang="en-GB" dirty="0"/>
          </a:p>
          <a:p>
            <a:pPr lvl="2" algn="just"/>
            <a:r>
              <a:rPr lang="en-GB" sz="2400" dirty="0"/>
              <a:t>Any person has been validly elected to the office of President or Vice-President under the constitution</a:t>
            </a:r>
            <a:endParaRPr lang="en-GB" sz="2400" dirty="0"/>
          </a:p>
          <a:p>
            <a:pPr lvl="2" algn="just"/>
            <a:r>
              <a:rPr lang="en-GB" sz="2400" dirty="0"/>
              <a:t>The term of office of the President or Vice-President has ceased</a:t>
            </a:r>
            <a:endParaRPr lang="en-GB" sz="2400" dirty="0"/>
          </a:p>
          <a:p>
            <a:pPr lvl="2" algn="just"/>
            <a:r>
              <a:rPr lang="en-GB" sz="2400" dirty="0"/>
              <a:t>The office of President or Vice-President has become vacant</a:t>
            </a:r>
            <a:endParaRPr lang="en-GB"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610600" cy="5791200"/>
          </a:xfrm>
        </p:spPr>
        <p:txBody>
          <a:bodyPr/>
          <a:lstStyle/>
          <a:p>
            <a:r>
              <a:rPr lang="en-GB" b="1" dirty="0"/>
              <a:t>THE COURT OF APPEAL</a:t>
            </a:r>
            <a:endParaRPr lang="en-GB" dirty="0"/>
          </a:p>
          <a:p>
            <a:pPr algn="just"/>
            <a:r>
              <a:rPr lang="en-GB" sz="3200" dirty="0"/>
              <a:t>The Nigerian Court of Appeal is the next court in the hierarchy of courts in Nigeria. Unlike the Supreme Court which is situated only in Abuja, the Court of Appeal is divided into different judicial divisions and sits in certain states in Nigeria. It is established by Section 237 of the 1999 Constitution (As Amended), headed by the President of the Court of Appeal and consists of not less than 49(forty-nine) judges at all times. </a:t>
            </a:r>
            <a:endParaRPr lang="en-GB" sz="3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382000" cy="6096000"/>
          </a:xfrm>
        </p:spPr>
        <p:txBody>
          <a:bodyPr/>
          <a:lstStyle/>
          <a:p>
            <a:pPr lvl="1" algn="just"/>
            <a:r>
              <a:rPr lang="en-GB" dirty="0"/>
              <a:t>The Court has appellate jurisdiction to hear and determine appeals from</a:t>
            </a:r>
            <a:endParaRPr lang="en-GB" dirty="0"/>
          </a:p>
          <a:p>
            <a:pPr lvl="2" algn="just"/>
            <a:r>
              <a:rPr lang="en-GB" sz="2400" dirty="0"/>
              <a:t>The Federal High Court</a:t>
            </a:r>
            <a:endParaRPr lang="en-GB" sz="2400" dirty="0"/>
          </a:p>
          <a:p>
            <a:pPr lvl="2" algn="just"/>
            <a:r>
              <a:rPr lang="en-GB" sz="2400" dirty="0"/>
              <a:t>The High Court of the Federal Capital Territory, Abuja</a:t>
            </a:r>
            <a:endParaRPr lang="en-GB" sz="2400" dirty="0"/>
          </a:p>
          <a:p>
            <a:pPr lvl="2" algn="just"/>
            <a:r>
              <a:rPr lang="en-GB" sz="2400" dirty="0"/>
              <a:t>A high Court of  a State</a:t>
            </a:r>
            <a:endParaRPr lang="en-GB" sz="2400" dirty="0"/>
          </a:p>
          <a:p>
            <a:pPr lvl="2" algn="just"/>
            <a:r>
              <a:rPr lang="en-GB" sz="2400" dirty="0"/>
              <a:t>The Sharia Court of Appeal of the FCT, Abuja</a:t>
            </a:r>
            <a:endParaRPr lang="en-GB" sz="2400" dirty="0"/>
          </a:p>
          <a:p>
            <a:pPr lvl="2" algn="just"/>
            <a:r>
              <a:rPr lang="en-GB" sz="2400" dirty="0"/>
              <a:t>A Sharia Court of Appeal of a State</a:t>
            </a:r>
            <a:endParaRPr lang="en-GB" sz="2400" dirty="0"/>
          </a:p>
          <a:p>
            <a:pPr lvl="2" algn="just"/>
            <a:r>
              <a:rPr lang="en-GB" sz="2400" dirty="0"/>
              <a:t>The Customary Court of Appeal of the FCT, Abuja</a:t>
            </a:r>
            <a:endParaRPr lang="en-GB" sz="2400" dirty="0"/>
          </a:p>
          <a:p>
            <a:pPr lvl="2" algn="just"/>
            <a:r>
              <a:rPr lang="en-GB" sz="2400" dirty="0"/>
              <a:t>A Customary Court of Appeal of a State</a:t>
            </a:r>
            <a:endParaRPr lang="en-GB" sz="2400" dirty="0"/>
          </a:p>
          <a:p>
            <a:pPr lvl="2" algn="just"/>
            <a:r>
              <a:rPr lang="en-GB" sz="2400" dirty="0"/>
              <a:t>A Court Martial or other tribunal as may be prescribed by the National Assembly</a:t>
            </a:r>
            <a:endParaRPr lang="en-GB" sz="2400" dirty="0"/>
          </a:p>
          <a:p>
            <a:pPr lvl="1" algn="just"/>
            <a:r>
              <a:rPr lang="en-GB" dirty="0"/>
              <a:t>The Court of Appeal is duly constituted for the purpose of hearing and determining appeals coming before it by a panel of at least 3 Justices of the Court of Appeal</a:t>
            </a:r>
            <a:endParaRPr lang="en-GB" dirty="0"/>
          </a:p>
          <a:p>
            <a:endParaRPr lang="en-GB"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219200"/>
            <a:ext cx="8839200" cy="5410200"/>
          </a:xfrm>
        </p:spPr>
        <p:txBody>
          <a:bodyPr/>
          <a:lstStyle/>
          <a:p>
            <a:pPr algn="just"/>
            <a:r>
              <a:rPr lang="en-US" sz="2800" dirty="0"/>
              <a:t>A </a:t>
            </a:r>
            <a:r>
              <a:rPr lang="en-US" sz="2800" b="1" dirty="0"/>
              <a:t>tort</a:t>
            </a:r>
            <a:r>
              <a:rPr lang="en-US" sz="2800" dirty="0"/>
              <a:t> is simply a civil wrong. There are three general types of </a:t>
            </a:r>
            <a:r>
              <a:rPr lang="en-US" sz="2800" b="1" dirty="0"/>
              <a:t>torts</a:t>
            </a:r>
            <a:r>
              <a:rPr lang="en-US" sz="2800" dirty="0"/>
              <a:t> that may cause injury to another person. In civil </a:t>
            </a:r>
            <a:r>
              <a:rPr lang="en-US" sz="2800" b="1" dirty="0"/>
              <a:t>law</a:t>
            </a:r>
            <a:r>
              <a:rPr lang="en-US" sz="2800" dirty="0"/>
              <a:t>, </a:t>
            </a:r>
            <a:r>
              <a:rPr lang="en-US" sz="2800" b="1" dirty="0"/>
              <a:t>torts</a:t>
            </a:r>
            <a:r>
              <a:rPr lang="en-US" sz="2800" dirty="0"/>
              <a:t> are grounds for lawsuits to compensate a grieving party for any damages or injuries suffered. Many </a:t>
            </a:r>
            <a:r>
              <a:rPr lang="en-US" sz="2800" b="1" dirty="0"/>
              <a:t>torts</a:t>
            </a:r>
            <a:r>
              <a:rPr lang="en-US" sz="2800" dirty="0"/>
              <a:t> are accidents, like car accidents or slippery floors that make people fall down and get hurt. But some </a:t>
            </a:r>
            <a:r>
              <a:rPr lang="en-US" sz="2800" b="1" dirty="0"/>
              <a:t>torts</a:t>
            </a:r>
            <a:r>
              <a:rPr lang="en-US" sz="2800" dirty="0"/>
              <a:t> are done on purpose. These are called intentional </a:t>
            </a:r>
            <a:r>
              <a:rPr lang="en-US" sz="2800" b="1" dirty="0"/>
              <a:t>torts</a:t>
            </a:r>
            <a:r>
              <a:rPr lang="en-US" sz="2800" dirty="0"/>
              <a:t>. For </a:t>
            </a:r>
            <a:r>
              <a:rPr lang="en-US" sz="2800" b="1" dirty="0"/>
              <a:t>example</a:t>
            </a:r>
            <a:r>
              <a:rPr lang="en-US" sz="2800" dirty="0"/>
              <a:t>, if one person punches another person in the nose, it might be an intentional </a:t>
            </a:r>
            <a:r>
              <a:rPr lang="en-US" sz="2800" b="1" dirty="0"/>
              <a:t>tort</a:t>
            </a:r>
            <a:r>
              <a:rPr lang="en-US" sz="2800" dirty="0"/>
              <a:t> called battery.</a:t>
            </a:r>
            <a:endParaRPr lang="en-US" sz="2800" dirty="0"/>
          </a:p>
        </p:txBody>
      </p:sp>
      <p:sp>
        <p:nvSpPr>
          <p:cNvPr id="3" name="Title 2"/>
          <p:cNvSpPr>
            <a:spLocks noGrp="1"/>
          </p:cNvSpPr>
          <p:nvPr>
            <p:ph type="title"/>
          </p:nvPr>
        </p:nvSpPr>
        <p:spPr/>
        <p:txBody>
          <a:bodyPr/>
          <a:lstStyle/>
          <a:p>
            <a:r>
              <a:rPr lang="en-US" dirty="0"/>
              <a:t>Law of  Tort</a:t>
            </a:r>
            <a:endParaRPr lang="en-US" dirty="0"/>
          </a:p>
        </p:txBody>
      </p:sp>
      <p:sp>
        <p:nvSpPr>
          <p:cNvPr id="5" name="Slide Number Placeholder 4"/>
          <p:cNvSpPr>
            <a:spLocks noGrp="1"/>
          </p:cNvSpPr>
          <p:nvPr>
            <p:ph type="sldNum" sz="quarter" idx="12"/>
          </p:nvPr>
        </p:nvSpPr>
        <p:spPr/>
        <p:txBody>
          <a:bodyPr/>
          <a:lstStyle/>
          <a:p>
            <a:pPr>
              <a:defRPr/>
            </a:pPr>
            <a:fld id="{A2B5CF83-1F53-4043-8700-93E6329EBC98}" type="slidenum">
              <a:rPr lang="en-US" smtClean="0"/>
            </a:fld>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381000"/>
            <a:ext cx="8458200" cy="5626100"/>
          </a:xfrm>
        </p:spPr>
        <p:txBody>
          <a:bodyPr/>
          <a:lstStyle/>
          <a:p>
            <a:pPr algn="just"/>
            <a:r>
              <a:rPr lang="en-US" sz="2800" dirty="0"/>
              <a:t>There are four elements to </a:t>
            </a:r>
            <a:r>
              <a:rPr lang="en-US" sz="2800" b="1" dirty="0"/>
              <a:t>tort law</a:t>
            </a:r>
            <a:r>
              <a:rPr lang="en-US" sz="2800" dirty="0"/>
              <a:t>: duty, breach of duty, causation, and injury. In order to claim damages, there must be a breach in the duty of the defendant towards the plaintiff, which results in an injury. The three main </a:t>
            </a:r>
            <a:r>
              <a:rPr lang="en-US" sz="2800" b="1" dirty="0"/>
              <a:t>types of torts</a:t>
            </a:r>
            <a:r>
              <a:rPr lang="en-US" sz="2800" dirty="0"/>
              <a:t> are negligence, strict liability (product liability), and intentional </a:t>
            </a:r>
            <a:r>
              <a:rPr lang="en-US" sz="2800" b="1" dirty="0"/>
              <a:t>torts</a:t>
            </a:r>
            <a:r>
              <a:rPr lang="en-US" sz="2800" dirty="0"/>
              <a:t>. A </a:t>
            </a:r>
            <a:r>
              <a:rPr lang="en-US" sz="2800" b="1" dirty="0"/>
              <a:t>tort</a:t>
            </a:r>
            <a:r>
              <a:rPr lang="en-US" sz="2800" dirty="0"/>
              <a:t>, in common </a:t>
            </a:r>
            <a:r>
              <a:rPr lang="en-US" sz="2800" b="1" dirty="0"/>
              <a:t>law</a:t>
            </a:r>
            <a:r>
              <a:rPr lang="en-US" sz="2800" dirty="0"/>
              <a:t> jurisdictions, is a civil wrong that causes someone else to suffer loss or harm resulting in legal liability for the person who commits the </a:t>
            </a:r>
            <a:r>
              <a:rPr lang="en-US" sz="2800" dirty="0" err="1"/>
              <a:t>tortious</a:t>
            </a:r>
            <a:r>
              <a:rPr lang="en-US" sz="2800" b="1" dirty="0" err="1"/>
              <a:t>act</a:t>
            </a:r>
            <a:r>
              <a:rPr lang="en-US" sz="2800" dirty="0"/>
              <a:t>.</a:t>
            </a:r>
            <a:endParaRPr lang="en-US" sz="2800" dirty="0"/>
          </a:p>
        </p:txBody>
      </p:sp>
      <p:sp>
        <p:nvSpPr>
          <p:cNvPr id="4" name="Footer Placeholder 3"/>
          <p:cNvSpPr>
            <a:spLocks noGrp="1"/>
          </p:cNvSpPr>
          <p:nvPr>
            <p:ph type="ftr" sz="quarter" idx="11"/>
          </p:nvPr>
        </p:nvSpPr>
        <p:spPr/>
        <p:txBody>
          <a:bodyPr/>
          <a:lstStyle/>
          <a:p>
            <a:pPr>
              <a:defRPr/>
            </a:pPr>
            <a:r>
              <a:rPr lang="en-US"/>
              <a:t>Afram Fondamentals of Well-Logging</a:t>
            </a:r>
            <a:endParaRPr lang="en-US"/>
          </a:p>
        </p:txBody>
      </p:sp>
      <p:sp>
        <p:nvSpPr>
          <p:cNvPr id="5" name="Slide Number Placeholder 4"/>
          <p:cNvSpPr>
            <a:spLocks noGrp="1"/>
          </p:cNvSpPr>
          <p:nvPr>
            <p:ph type="sldNum" sz="quarter" idx="12"/>
          </p:nvPr>
        </p:nvSpPr>
        <p:spPr/>
        <p:txBody>
          <a:bodyPr/>
          <a:lstStyle/>
          <a:p>
            <a:pPr>
              <a:defRPr/>
            </a:pPr>
            <a:fld id="{A2B5CF83-1F53-4043-8700-93E6329EBC98}" type="slidenum">
              <a:rPr lang="en-US" smtClean="0"/>
            </a:fld>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74638"/>
            <a:ext cx="8147248" cy="778098"/>
          </a:xfrm>
        </p:spPr>
        <p:txBody>
          <a:bodyPr/>
          <a:lstStyle/>
          <a:p>
            <a:r>
              <a:rPr lang="en-GB" dirty="0"/>
              <a:t>What is Contract</a:t>
            </a:r>
            <a:endParaRPr lang="en-GB" dirty="0"/>
          </a:p>
        </p:txBody>
      </p:sp>
      <p:sp>
        <p:nvSpPr>
          <p:cNvPr id="3" name="Content Placeholder 2"/>
          <p:cNvSpPr>
            <a:spLocks noGrp="1"/>
          </p:cNvSpPr>
          <p:nvPr>
            <p:ph idx="1"/>
          </p:nvPr>
        </p:nvSpPr>
        <p:spPr>
          <a:xfrm>
            <a:off x="457200" y="1196752"/>
            <a:ext cx="8579296" cy="5256584"/>
          </a:xfrm>
        </p:spPr>
        <p:txBody>
          <a:bodyPr>
            <a:normAutofit fontScale="92500" lnSpcReduction="10000"/>
          </a:bodyPr>
          <a:lstStyle/>
          <a:p>
            <a:pPr marL="0" indent="0" algn="just">
              <a:buNone/>
            </a:pPr>
            <a:r>
              <a:rPr lang="en-US" sz="4000" dirty="0"/>
              <a:t>A contract is a voluntary, deliberate, and legally binding agreement with specific terms entered into by two or more competent parties and generally have to do with employment, sale or lease, or tenancy. In this agreement, an ‘offer’ is made by one party and an ‘acceptance’ of that offer by the other. </a:t>
            </a:r>
            <a:endParaRPr lang="en-GB" sz="4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Contract</a:t>
            </a:r>
            <a:endParaRPr lang="en-GB" dirty="0"/>
          </a:p>
        </p:txBody>
      </p:sp>
      <p:sp>
        <p:nvSpPr>
          <p:cNvPr id="3" name="Content Placeholder 2"/>
          <p:cNvSpPr>
            <a:spLocks noGrp="1"/>
          </p:cNvSpPr>
          <p:nvPr>
            <p:ph idx="1"/>
          </p:nvPr>
        </p:nvSpPr>
        <p:spPr>
          <a:xfrm>
            <a:off x="323528" y="1412776"/>
            <a:ext cx="8352928" cy="5040560"/>
          </a:xfrm>
        </p:spPr>
        <p:txBody>
          <a:bodyPr/>
          <a:lstStyle/>
          <a:p>
            <a:pPr marL="457200" lvl="1" indent="0" algn="just">
              <a:buNone/>
            </a:pPr>
            <a:r>
              <a:rPr lang="en-GB" sz="3600" dirty="0"/>
              <a:t>A contract is defined as an agreement which is enforceable by law </a:t>
            </a:r>
            <a:endParaRPr lang="en-GB" sz="3600" dirty="0"/>
          </a:p>
          <a:p>
            <a:pPr lvl="1" algn="just"/>
            <a:r>
              <a:rPr lang="en-GB" sz="3600" dirty="0"/>
              <a:t>A contract is an agreement which the law will enforce or recognise as affecting the legal rights and duties of the parties</a:t>
            </a:r>
            <a:endParaRPr lang="en-GB" sz="3600" dirty="0"/>
          </a:p>
          <a:p>
            <a:pPr lvl="1" algn="just"/>
            <a:r>
              <a:rPr lang="en-GB" sz="3600" dirty="0"/>
              <a:t>A contract is a promise or a set of promises the law will enforce</a:t>
            </a:r>
            <a:endParaRPr lang="en-GB" sz="3600" dirty="0"/>
          </a:p>
          <a:p>
            <a:pPr lvl="1"/>
            <a:endParaRPr lang="en-GB"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74638"/>
            <a:ext cx="8147248" cy="850106"/>
          </a:xfrm>
        </p:spPr>
        <p:txBody>
          <a:bodyPr/>
          <a:lstStyle/>
          <a:p>
            <a:r>
              <a:rPr lang="en-GB" dirty="0"/>
              <a:t>Definitions of A Contract</a:t>
            </a:r>
            <a:endParaRPr lang="en-GB" dirty="0"/>
          </a:p>
        </p:txBody>
      </p:sp>
      <p:sp>
        <p:nvSpPr>
          <p:cNvPr id="3" name="Content Placeholder 2"/>
          <p:cNvSpPr>
            <a:spLocks noGrp="1"/>
          </p:cNvSpPr>
          <p:nvPr>
            <p:ph idx="1"/>
          </p:nvPr>
        </p:nvSpPr>
        <p:spPr>
          <a:xfrm>
            <a:off x="179512" y="1124744"/>
            <a:ext cx="8712968" cy="5400600"/>
          </a:xfrm>
        </p:spPr>
        <p:txBody>
          <a:bodyPr>
            <a:normAutofit fontScale="92500" lnSpcReduction="10000"/>
          </a:bodyPr>
          <a:lstStyle/>
          <a:p>
            <a:pPr lvl="1" algn="just"/>
            <a:r>
              <a:rPr lang="en-GB" sz="3500" dirty="0"/>
              <a:t>It is an agreement enforceable by law, between two or more persons to do some act or acts, their intention being to create  legal relations and not merely to exchange mutual promises, both having given something, or having promised to give something of value as consideration for any benefit derived from the agreement</a:t>
            </a:r>
            <a:endParaRPr lang="en-GB" sz="3500" dirty="0"/>
          </a:p>
          <a:p>
            <a:pPr lvl="1" algn="just"/>
            <a:r>
              <a:rPr lang="en-GB" sz="3500" dirty="0"/>
              <a:t>A contract is a legally binding agreement that gives rise to obligations that are enforced by law </a:t>
            </a:r>
            <a:r>
              <a:rPr lang="en-GB" sz="3500" dirty="0" err="1"/>
              <a:t>etc</a:t>
            </a:r>
            <a:endParaRPr lang="en-GB" sz="3500" dirty="0"/>
          </a:p>
          <a:p>
            <a:endParaRPr lang="en-GB"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468313" y="692150"/>
            <a:ext cx="8351837" cy="5510213"/>
          </a:xfrm>
          <a:prstGeom prst="rect">
            <a:avLst/>
          </a:prstGeom>
        </p:spPr>
        <p:txBody>
          <a:bodyPr>
            <a:spAutoFit/>
          </a:bodyPr>
          <a:lstStyle/>
          <a:p>
            <a:pPr>
              <a:defRPr/>
            </a:pPr>
            <a:r>
              <a:rPr lang="en-US" sz="4400" dirty="0"/>
              <a:t>A contract is a legal agreement between two parties which is enforceable in a court of law or by binding arbitration. In other words, a contract is an exchange of promises with a specific remedy for breach of those promises</a:t>
            </a:r>
            <a:r>
              <a:rPr lang="en-US" sz="4400" dirty="0">
                <a:solidFill>
                  <a:schemeClr val="tx1">
                    <a:lumMod val="95000"/>
                    <a:lumOff val="5000"/>
                  </a:schemeClr>
                </a:solidFill>
              </a:rPr>
              <a:t>.</a:t>
            </a:r>
            <a:endParaRPr lang="en-US" sz="4400" dirty="0">
              <a:solidFill>
                <a:schemeClr val="tx1">
                  <a:lumMod val="95000"/>
                  <a:lumOff val="5000"/>
                </a:schemeClr>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AU" b="1" dirty="0"/>
              <a:t>Characteristics of a Contract</a:t>
            </a:r>
            <a:endParaRPr lang="en-US" b="1" dirty="0"/>
          </a:p>
        </p:txBody>
      </p:sp>
      <p:sp>
        <p:nvSpPr>
          <p:cNvPr id="4099" name="Rectangle 3"/>
          <p:cNvSpPr>
            <a:spLocks noGrp="1" noChangeArrowheads="1"/>
          </p:cNvSpPr>
          <p:nvPr>
            <p:ph type="body" idx="1"/>
          </p:nvPr>
        </p:nvSpPr>
        <p:spPr/>
        <p:txBody>
          <a:bodyPr/>
          <a:lstStyle/>
          <a:p>
            <a:pPr marL="609600" indent="-609600" algn="just" eaLnBrk="1" hangingPunct="1">
              <a:lnSpc>
                <a:spcPct val="90000"/>
              </a:lnSpc>
              <a:buFontTx/>
              <a:buNone/>
              <a:defRPr/>
            </a:pPr>
            <a:r>
              <a:rPr lang="en-AU" sz="3600" b="1" dirty="0"/>
              <a:t>1.	There will be a promise or promises.</a:t>
            </a:r>
            <a:endParaRPr lang="en-AU" sz="3600" b="1" dirty="0"/>
          </a:p>
          <a:p>
            <a:pPr marL="609600" indent="-609600" algn="just" eaLnBrk="1" hangingPunct="1">
              <a:lnSpc>
                <a:spcPct val="90000"/>
              </a:lnSpc>
              <a:buFontTx/>
              <a:buNone/>
              <a:defRPr/>
            </a:pPr>
            <a:r>
              <a:rPr lang="en-AU" sz="3600" b="1" dirty="0"/>
              <a:t>2.	They will be made by “parties to the contract”.</a:t>
            </a:r>
            <a:endParaRPr lang="en-AU" sz="3600" b="1" dirty="0"/>
          </a:p>
          <a:p>
            <a:pPr marL="609600" indent="-609600" algn="just" eaLnBrk="1" hangingPunct="1">
              <a:lnSpc>
                <a:spcPct val="90000"/>
              </a:lnSpc>
              <a:buFontTx/>
              <a:buNone/>
              <a:defRPr/>
            </a:pPr>
            <a:r>
              <a:rPr lang="en-AU" sz="3600" b="1" dirty="0"/>
              <a:t>3.	They will create an obligation.</a:t>
            </a:r>
            <a:endParaRPr lang="en-AU" sz="3600" b="1" dirty="0"/>
          </a:p>
          <a:p>
            <a:pPr marL="609600" indent="-609600" algn="just" eaLnBrk="1" hangingPunct="1">
              <a:lnSpc>
                <a:spcPct val="90000"/>
              </a:lnSpc>
              <a:buFontTx/>
              <a:buNone/>
              <a:defRPr/>
            </a:pPr>
            <a:r>
              <a:rPr lang="en-AU" sz="3600" b="1" dirty="0"/>
              <a:t>4.	That obligation will be enforceable at law.</a:t>
            </a:r>
            <a:endParaRPr lang="en-AU" sz="3600" b="1" dirty="0"/>
          </a:p>
          <a:p>
            <a:pPr marL="609600" indent="-609600" algn="just" eaLnBrk="1" hangingPunct="1">
              <a:lnSpc>
                <a:spcPct val="90000"/>
              </a:lnSpc>
              <a:buFontTx/>
              <a:buNone/>
              <a:defRPr/>
            </a:pPr>
            <a:r>
              <a:rPr lang="en-AU" sz="3600" b="1" dirty="0"/>
              <a:t>5.	Often found in negotiations, rather than a formal document.</a:t>
            </a:r>
            <a:endParaRPr lang="en-AU" sz="3600" b="1" dirty="0"/>
          </a:p>
          <a:p>
            <a:pPr marL="609600" indent="-609600" eaLnBrk="1" hangingPunct="1">
              <a:lnSpc>
                <a:spcPct val="90000"/>
              </a:lnSpc>
              <a:buFont typeface="Wingdings" panose="05000000000000000000" pitchFamily="2" charset="2"/>
              <a:buNone/>
              <a:defRPr/>
            </a:pPr>
            <a:endParaRPr lang="en-US"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8363272" cy="5721499"/>
          </a:xfrm>
        </p:spPr>
        <p:txBody>
          <a:bodyPr>
            <a:noAutofit/>
          </a:bodyPr>
          <a:lstStyle/>
          <a:p>
            <a:pPr marL="0" indent="0" algn="just">
              <a:buNone/>
            </a:pPr>
            <a:r>
              <a:rPr lang="en-GB" sz="3600" i="1" dirty="0"/>
              <a:t>Contracts</a:t>
            </a:r>
            <a:r>
              <a:rPr lang="en-GB" sz="3600" dirty="0"/>
              <a:t> are normally enforceable whether or not in a written form, although a written </a:t>
            </a:r>
            <a:r>
              <a:rPr lang="en-GB" sz="3600" i="1" dirty="0"/>
              <a:t>contract</a:t>
            </a:r>
            <a:r>
              <a:rPr lang="en-GB" sz="3600" dirty="0"/>
              <a:t> protects all parties to it. Some </a:t>
            </a:r>
            <a:r>
              <a:rPr lang="en-GB" sz="3600" i="1" dirty="0"/>
              <a:t>contracts</a:t>
            </a:r>
            <a:r>
              <a:rPr lang="en-GB" sz="3600" dirty="0"/>
              <a:t>, (such as for sale of real property, instalment plans, or insurance policies) must be in writing to be legally binding and enforceable. A </a:t>
            </a:r>
            <a:r>
              <a:rPr lang="en-GB" sz="3600" i="1" dirty="0"/>
              <a:t>contract</a:t>
            </a:r>
            <a:r>
              <a:rPr lang="en-GB" sz="3600" dirty="0"/>
              <a:t> is like a promise between people. It is an understanding, a deal between two or more people or organisations to do certain things.</a:t>
            </a:r>
            <a:endParaRPr lang="en-GB" sz="3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6632"/>
            <a:ext cx="8712968" cy="6336704"/>
          </a:xfrm>
        </p:spPr>
        <p:txBody>
          <a:bodyPr/>
          <a:lstStyle/>
          <a:p>
            <a:pPr algn="just"/>
            <a:r>
              <a:rPr lang="en-US" dirty="0"/>
              <a:t>Contract is an agreement between two or more parties representing a promise to be performed for consideration.</a:t>
            </a:r>
            <a:endParaRPr lang="en-US" dirty="0"/>
          </a:p>
          <a:p>
            <a:pPr algn="just"/>
            <a:r>
              <a:rPr lang="en-GB" dirty="0"/>
              <a:t>It is a written or spoken agreement, especially one concerning employment, sales, or tenancy, that is intended to be enforceable by law.</a:t>
            </a:r>
            <a:endParaRPr lang="en-GB" dirty="0"/>
          </a:p>
          <a:p>
            <a:pPr algn="just"/>
            <a:r>
              <a:rPr lang="en-US" dirty="0"/>
              <a:t>It is a </a:t>
            </a:r>
            <a:r>
              <a:rPr lang="en-US" u="sng" dirty="0"/>
              <a:t>binding agreement </a:t>
            </a:r>
            <a:r>
              <a:rPr lang="en-US" dirty="0"/>
              <a:t>between two or more persons or parties ; </a:t>
            </a:r>
            <a:r>
              <a:rPr lang="en-US" i="1" dirty="0"/>
              <a:t>especially</a:t>
            </a:r>
            <a:r>
              <a:rPr lang="en-US" dirty="0"/>
              <a:t> one </a:t>
            </a:r>
            <a:r>
              <a:rPr lang="en-US" u="sng" dirty="0"/>
              <a:t>legally enforceable.</a:t>
            </a:r>
            <a:endParaRPr lang="en-US" u="sng" dirty="0"/>
          </a:p>
          <a:p>
            <a:pPr algn="just"/>
            <a:r>
              <a:rPr lang="en-US" dirty="0"/>
              <a:t>It is a business arrangement for the supply of goods or services at a fixed price.</a:t>
            </a:r>
            <a:endParaRPr lang="en-US" dirty="0"/>
          </a:p>
          <a:p>
            <a:endParaRPr lang="en-GB"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640960" cy="6264696"/>
          </a:xfrm>
        </p:spPr>
        <p:txBody>
          <a:bodyPr>
            <a:normAutofit fontScale="77500" lnSpcReduction="20000"/>
          </a:bodyPr>
          <a:lstStyle/>
          <a:p>
            <a:pPr marL="0" indent="0" algn="just">
              <a:buNone/>
            </a:pPr>
            <a:r>
              <a:rPr lang="en-GB" sz="3800" dirty="0"/>
              <a:t>A </a:t>
            </a:r>
            <a:r>
              <a:rPr lang="en-GB" sz="3800" b="1" dirty="0"/>
              <a:t>contract</a:t>
            </a:r>
            <a:r>
              <a:rPr lang="en-GB" sz="3800" dirty="0"/>
              <a:t> is a voluntary arrangement between two or more </a:t>
            </a:r>
            <a:r>
              <a:rPr lang="en-GB" sz="3800" dirty="0">
                <a:hlinkClick r:id="rId1" tooltip="Party (law)"/>
              </a:rPr>
              <a:t>parties</a:t>
            </a:r>
            <a:r>
              <a:rPr lang="en-GB" sz="3800" dirty="0"/>
              <a:t> that is enforceable by law as a binding legal agreement. Contract is a branch of the </a:t>
            </a:r>
            <a:r>
              <a:rPr lang="en-GB" sz="3800" dirty="0">
                <a:hlinkClick r:id="rId2" tooltip="Law of obligations"/>
              </a:rPr>
              <a:t>law of obligations</a:t>
            </a:r>
            <a:r>
              <a:rPr lang="en-GB" sz="3800" dirty="0"/>
              <a:t> in jurisdictions of the </a:t>
            </a:r>
            <a:r>
              <a:rPr lang="en-GB" sz="3800" dirty="0">
                <a:hlinkClick r:id="rId3" tooltip="Civil law (legal system)"/>
              </a:rPr>
              <a:t>civil law</a:t>
            </a:r>
            <a:r>
              <a:rPr lang="en-GB" sz="3800" dirty="0"/>
              <a:t> tradition. Contract law concerns the rights and duties that arise from agreements.</a:t>
            </a:r>
            <a:endParaRPr lang="en-GB" sz="3800" dirty="0"/>
          </a:p>
          <a:p>
            <a:pPr marL="0" indent="0" algn="just">
              <a:buNone/>
            </a:pPr>
            <a:r>
              <a:rPr lang="en-GB" sz="3800" dirty="0"/>
              <a:t>A contract arises when the parties agree that there is an agreement. Formation of a contract generally requires an </a:t>
            </a:r>
            <a:r>
              <a:rPr lang="en-GB" sz="3800" dirty="0">
                <a:hlinkClick r:id="rId4" tooltip="Offer and acceptance"/>
              </a:rPr>
              <a:t>offer, acceptance</a:t>
            </a:r>
            <a:r>
              <a:rPr lang="en-GB" sz="3800" dirty="0"/>
              <a:t>, </a:t>
            </a:r>
            <a:r>
              <a:rPr lang="en-GB" sz="3800" dirty="0">
                <a:hlinkClick r:id="rId5" tooltip="Consideration"/>
              </a:rPr>
              <a:t>consideration</a:t>
            </a:r>
            <a:r>
              <a:rPr lang="en-GB" sz="3800" dirty="0"/>
              <a:t>, and a </a:t>
            </a:r>
            <a:r>
              <a:rPr lang="en-GB" sz="3800" dirty="0">
                <a:hlinkClick r:id="rId6" tooltip="Meeting of the minds"/>
              </a:rPr>
              <a:t>mutual intent to be bound</a:t>
            </a:r>
            <a:r>
              <a:rPr lang="en-GB" sz="3800" dirty="0"/>
              <a:t>. Each party to a contract must have capacity to enter the agreement. Minors, intoxicated persons, and those under a mental affliction may have insufficient capacity to enter a contract. </a:t>
            </a:r>
            <a:endParaRPr lang="en-GB" sz="3800" dirty="0"/>
          </a:p>
          <a:p>
            <a:endParaRPr lang="en-GB"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Contract</a:t>
            </a:r>
            <a:endParaRPr lang="en-GB" dirty="0"/>
          </a:p>
        </p:txBody>
      </p:sp>
      <p:sp>
        <p:nvSpPr>
          <p:cNvPr id="3" name="Content Placeholder 2"/>
          <p:cNvSpPr>
            <a:spLocks noGrp="1"/>
          </p:cNvSpPr>
          <p:nvPr>
            <p:ph idx="1"/>
          </p:nvPr>
        </p:nvSpPr>
        <p:spPr>
          <a:xfrm>
            <a:off x="251520" y="1196752"/>
            <a:ext cx="8640960" cy="5256584"/>
          </a:xfrm>
        </p:spPr>
        <p:txBody>
          <a:bodyPr/>
          <a:lstStyle/>
          <a:p>
            <a:r>
              <a:rPr lang="en-GB" dirty="0"/>
              <a:t>It does not mean that the legal profession plays a part in every contract; the majority of contracts are executed with both parties satisfied with their involvement and these never come to the court. However, when there is a dispute, provided that the courts are satisfied that a valid contract existed, they will enforce the details of the agreement.</a:t>
            </a:r>
            <a:endParaRPr lang="en-GB"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GB" dirty="0"/>
              <a:t>Formation of Contract</a:t>
            </a:r>
            <a:endParaRPr lang="en-GB" dirty="0"/>
          </a:p>
        </p:txBody>
      </p:sp>
      <p:sp>
        <p:nvSpPr>
          <p:cNvPr id="3" name="Content Placeholder 2"/>
          <p:cNvSpPr>
            <a:spLocks noGrp="1"/>
          </p:cNvSpPr>
          <p:nvPr>
            <p:ph idx="1"/>
          </p:nvPr>
        </p:nvSpPr>
        <p:spPr>
          <a:xfrm>
            <a:off x="228600" y="990600"/>
            <a:ext cx="8686800" cy="5257800"/>
          </a:xfrm>
        </p:spPr>
        <p:txBody>
          <a:bodyPr>
            <a:noAutofit/>
          </a:bodyPr>
          <a:lstStyle/>
          <a:p>
            <a:r>
              <a:rPr lang="en-GB" sz="2400" dirty="0"/>
              <a:t>Intention to Create Legal Relations</a:t>
            </a:r>
            <a:endParaRPr lang="en-GB" sz="2400" dirty="0"/>
          </a:p>
          <a:p>
            <a:pPr lvl="1" algn="just"/>
            <a:r>
              <a:rPr lang="en-GB" dirty="0"/>
              <a:t>People make several promises in the course of dealing with one another but a contract will not be implied merely on the basis of the existence of mutual promises. There must be an intention to create or to enter into a transaction which is expected to have legal consequences. </a:t>
            </a:r>
            <a:endParaRPr lang="en-GB" dirty="0"/>
          </a:p>
          <a:p>
            <a:pPr lvl="1" algn="just"/>
            <a:r>
              <a:rPr lang="en-GB" dirty="0"/>
              <a:t>This condition entails that the contract must have form. A contract has form when it is made by deed, signed sealed and delivered. Contracts which have form  are more easily enforced in court than contracts without form</a:t>
            </a:r>
            <a:endParaRPr lang="en-GB" dirty="0"/>
          </a:p>
          <a:p>
            <a:pPr lvl="1" algn="just"/>
            <a:r>
              <a:rPr lang="en-GB" dirty="0"/>
              <a:t>Under domestic, social and private arrangements, it is generally presumed that there is no intention to create legal relations whereas it is for commercial and business agreements </a:t>
            </a:r>
            <a:endParaRPr lang="en-GB"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Elements of a contract</a:t>
            </a:r>
            <a:endParaRPr lang="en-GB" dirty="0"/>
          </a:p>
        </p:txBody>
      </p:sp>
      <p:sp>
        <p:nvSpPr>
          <p:cNvPr id="3" name="Content Placeholder 2"/>
          <p:cNvSpPr>
            <a:spLocks noGrp="1"/>
          </p:cNvSpPr>
          <p:nvPr>
            <p:ph idx="1"/>
          </p:nvPr>
        </p:nvSpPr>
        <p:spPr/>
        <p:txBody>
          <a:bodyPr/>
          <a:lstStyle/>
          <a:p>
            <a:r>
              <a:rPr lang="en-GB" dirty="0"/>
              <a:t>**An Offer</a:t>
            </a:r>
            <a:endParaRPr lang="en-GB" dirty="0"/>
          </a:p>
          <a:p>
            <a:r>
              <a:rPr lang="en-GB" dirty="0"/>
              <a:t>**Consideration</a:t>
            </a:r>
            <a:endParaRPr lang="en-GB" dirty="0"/>
          </a:p>
          <a:p>
            <a:r>
              <a:rPr lang="en-GB" dirty="0"/>
              <a:t>**Terms and Conditions</a:t>
            </a:r>
            <a:endParaRPr lang="en-GB" dirty="0"/>
          </a:p>
          <a:p>
            <a:r>
              <a:rPr lang="en-GB" dirty="0"/>
              <a:t>**Agreement/Consent.</a:t>
            </a:r>
            <a:endParaRPr lang="en-GB" dirty="0"/>
          </a:p>
          <a:p>
            <a:r>
              <a:rPr lang="en-GB" dirty="0"/>
              <a:t>**Legal Capacity.</a:t>
            </a:r>
            <a:endParaRPr lang="en-GB" dirty="0"/>
          </a:p>
          <a:p>
            <a:r>
              <a:rPr lang="en-GB" dirty="0"/>
              <a:t>**Legality.</a:t>
            </a:r>
            <a:endParaRPr lang="en-GB"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640960" cy="6264696"/>
          </a:xfrm>
        </p:spPr>
        <p:txBody>
          <a:bodyPr>
            <a:normAutofit fontScale="92500" lnSpcReduction="10000"/>
          </a:bodyPr>
          <a:lstStyle/>
          <a:p>
            <a:r>
              <a:rPr lang="en-GB" sz="4000" dirty="0"/>
              <a:t>**An Offer. One party offers to do -- or not do -- something for another party. ... **Consideration. This is "something of value" that is exchanged for the goods or services offered. ...</a:t>
            </a:r>
            <a:endParaRPr lang="en-GB" sz="4000" dirty="0"/>
          </a:p>
          <a:p>
            <a:r>
              <a:rPr lang="en-GB" sz="4000" dirty="0"/>
              <a:t> **Terms and Conditions. These are the specific details and understandings the parties agree to. ... **Agreement/Consent. ... </a:t>
            </a:r>
            <a:endParaRPr lang="en-GB" sz="4000" dirty="0"/>
          </a:p>
          <a:p>
            <a:r>
              <a:rPr lang="en-GB" sz="4000" dirty="0"/>
              <a:t>**Legal Capacity. ... **Legality.</a:t>
            </a:r>
            <a:endParaRPr lang="en-GB" sz="4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2" name="Title 1"/>
          <p:cNvSpPr>
            <a:spLocks noGrp="1"/>
          </p:cNvSpPr>
          <p:nvPr>
            <p:ph type="title"/>
          </p:nvPr>
        </p:nvSpPr>
        <p:spPr/>
        <p:txBody>
          <a:bodyPr>
            <a:normAutofit/>
          </a:bodyPr>
          <a:lstStyle/>
          <a:p>
            <a:r>
              <a:rPr lang="en-US" sz="3200" b="1" dirty="0">
                <a:latin typeface="Arial" panose="020B0604020202020204" pitchFamily="34" charset="0"/>
                <a:cs typeface="Arial" panose="020B0604020202020204" pitchFamily="34" charset="0"/>
              </a:rPr>
              <a:t>Types of contract</a:t>
            </a:r>
            <a:endParaRPr lang="en-US" sz="3200" b="1" dirty="0">
              <a:latin typeface="Arial" panose="020B0604020202020204" pitchFamily="34" charset="0"/>
              <a:cs typeface="Arial" panose="020B0604020202020204" pitchFamily="34" charset="0"/>
            </a:endParaRPr>
          </a:p>
        </p:txBody>
      </p:sp>
      <p:sp>
        <p:nvSpPr>
          <p:cNvPr id="1048593" name="Content Placeholder 2"/>
          <p:cNvSpPr>
            <a:spLocks noGrp="1"/>
          </p:cNvSpPr>
          <p:nvPr>
            <p:ph idx="1"/>
          </p:nvPr>
        </p:nvSpPr>
        <p:spPr>
          <a:xfrm>
            <a:off x="152400" y="1600200"/>
            <a:ext cx="8763000" cy="4397009"/>
          </a:xfrm>
        </p:spPr>
        <p:txBody>
          <a:bodyPr>
            <a:noAutofit/>
          </a:bodyPr>
          <a:lstStyle/>
          <a:p>
            <a:pPr marL="114300" indent="0" algn="just">
              <a:buNone/>
            </a:pPr>
            <a:r>
              <a:rPr lang="en-US" b="1" dirty="0">
                <a:latin typeface="Arial" panose="020B0604020202020204" pitchFamily="34" charset="0"/>
                <a:cs typeface="Arial" panose="020B0604020202020204" pitchFamily="34" charset="0"/>
              </a:rPr>
              <a:t>Voidable Contract:</a:t>
            </a:r>
            <a:endParaRPr lang="en-US" b="1" dirty="0">
              <a:latin typeface="Arial" panose="020B0604020202020204" pitchFamily="34" charset="0"/>
              <a:cs typeface="Arial" panose="020B0604020202020204" pitchFamily="34" charset="0"/>
            </a:endParaRPr>
          </a:p>
          <a:p>
            <a:pPr marL="114300" indent="0" algn="just">
              <a:buNone/>
            </a:pPr>
            <a:r>
              <a:rPr lang="en-US" dirty="0">
                <a:latin typeface="Arial" panose="020B0604020202020204" pitchFamily="34" charset="0"/>
                <a:cs typeface="Arial" panose="020B0604020202020204" pitchFamily="34" charset="0"/>
              </a:rPr>
              <a:t>An agreement that is enforceable at law (legally binding) at the option of one or more parties to the agreement  but not at the option of the other is called a voidable contract.</a:t>
            </a:r>
            <a:endParaRPr lang="en-US" dirty="0">
              <a:latin typeface="Arial" panose="020B0604020202020204" pitchFamily="34" charset="0"/>
              <a:cs typeface="Arial" panose="020B0604020202020204" pitchFamily="34" charset="0"/>
            </a:endParaRPr>
          </a:p>
          <a:p>
            <a:pPr marL="114300" indent="0" algn="just">
              <a:buNone/>
            </a:pPr>
            <a:r>
              <a:rPr lang="en-US" dirty="0">
                <a:latin typeface="Arial" panose="020B0604020202020204" pitchFamily="34" charset="0"/>
                <a:cs typeface="Arial" panose="020B0604020202020204" pitchFamily="34" charset="0"/>
              </a:rPr>
              <a:t>“An agreement enforceable by law at the option of one or more parties, but not at the option of the other”</a:t>
            </a:r>
            <a:endParaRPr lang="en-GB" sz="2400" b="1" dirty="0">
              <a:latin typeface="Arial" panose="020B0604020202020204" pitchFamily="34" charset="0"/>
              <a:cs typeface="Arial" panose="020B0604020202020204" pitchFamily="34" charset="0"/>
            </a:endParaRPr>
          </a:p>
        </p:txBody>
      </p:sp>
      <p:pic>
        <p:nvPicPr>
          <p:cNvPr id="2097153" name="Picture 2097152"/>
          <p:cNvPicPr/>
          <p:nvPr/>
        </p:nvPicPr>
        <p:blipFill>
          <a:blip r:embed="rId1" cstate="print"/>
          <a:stretch>
            <a:fillRect/>
          </a:stretch>
        </p:blipFill>
        <p:spPr>
          <a:xfrm>
            <a:off x="4203041" y="5329503"/>
            <a:ext cx="3975745" cy="1353887"/>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88" name="Title 1"/>
          <p:cNvSpPr>
            <a:spLocks noGrp="1"/>
          </p:cNvSpPr>
          <p:nvPr>
            <p:ph type="title"/>
          </p:nvPr>
        </p:nvSpPr>
        <p:spPr/>
        <p:txBody>
          <a:bodyPr>
            <a:normAutofit/>
          </a:bodyPr>
          <a:lstStyle/>
          <a:p>
            <a:r>
              <a:rPr lang="en-US" sz="3200" b="1" dirty="0">
                <a:latin typeface="Arial" panose="020B0604020202020204" pitchFamily="34" charset="0"/>
                <a:cs typeface="Arial" panose="020B0604020202020204" pitchFamily="34" charset="0"/>
              </a:rPr>
              <a:t>Types of contract</a:t>
            </a:r>
            <a:endParaRPr lang="en-US" sz="3200" b="1" dirty="0">
              <a:latin typeface="Arial" panose="020B0604020202020204" pitchFamily="34" charset="0"/>
              <a:cs typeface="Arial" panose="020B0604020202020204" pitchFamily="34" charset="0"/>
            </a:endParaRPr>
          </a:p>
        </p:txBody>
      </p:sp>
      <p:sp>
        <p:nvSpPr>
          <p:cNvPr id="1048589" name="Content Placeholder 2"/>
          <p:cNvSpPr>
            <a:spLocks noGrp="1"/>
          </p:cNvSpPr>
          <p:nvPr>
            <p:ph idx="1"/>
          </p:nvPr>
        </p:nvSpPr>
        <p:spPr>
          <a:xfrm>
            <a:off x="228600" y="1524000"/>
            <a:ext cx="8610600" cy="5181599"/>
          </a:xfrm>
        </p:spPr>
        <p:txBody>
          <a:bodyPr>
            <a:noAutofit/>
          </a:bodyPr>
          <a:lstStyle/>
          <a:p>
            <a:pPr marL="114300" indent="0" algn="just">
              <a:buNone/>
            </a:pPr>
            <a:r>
              <a:rPr lang="en-US" b="1" dirty="0">
                <a:latin typeface="Arial" panose="020B0604020202020204" pitchFamily="34" charset="0"/>
                <a:cs typeface="Arial" panose="020B0604020202020204" pitchFamily="34" charset="0"/>
              </a:rPr>
              <a:t>Void Contract:</a:t>
            </a:r>
            <a:endParaRPr lang="en-US" b="1" dirty="0">
              <a:latin typeface="Arial" panose="020B0604020202020204" pitchFamily="34" charset="0"/>
              <a:cs typeface="Arial" panose="020B0604020202020204" pitchFamily="34" charset="0"/>
            </a:endParaRPr>
          </a:p>
          <a:p>
            <a:pPr marL="114300" indent="0" algn="just">
              <a:buNone/>
            </a:pPr>
            <a:r>
              <a:rPr lang="en-US" dirty="0">
                <a:latin typeface="Arial" panose="020B0604020202020204" pitchFamily="34" charset="0"/>
                <a:cs typeface="Arial" panose="020B0604020202020204" pitchFamily="34" charset="0"/>
              </a:rPr>
              <a:t>A contract which is ordinarily enforceable at law (legally binding) but cannot be enforced due to the taking place of a certain event is known as void contract.</a:t>
            </a:r>
            <a:endParaRPr lang="en-US" dirty="0">
              <a:latin typeface="Arial" panose="020B0604020202020204" pitchFamily="34" charset="0"/>
              <a:cs typeface="Arial" panose="020B0604020202020204" pitchFamily="34" charset="0"/>
            </a:endParaRPr>
          </a:p>
          <a:p>
            <a:pPr marL="114300" indent="0" algn="just">
              <a:buNone/>
            </a:pPr>
            <a:endParaRPr lang="en-US" dirty="0">
              <a:latin typeface="Arial" panose="020B0604020202020204" pitchFamily="34" charset="0"/>
              <a:cs typeface="Arial" panose="020B0604020202020204" pitchFamily="34" charset="0"/>
            </a:endParaRPr>
          </a:p>
        </p:txBody>
      </p:sp>
      <p:pic>
        <p:nvPicPr>
          <p:cNvPr id="2097160" name="Picture 2097159"/>
          <p:cNvPicPr/>
          <p:nvPr/>
        </p:nvPicPr>
        <p:blipFill>
          <a:blip r:embed="rId1" cstate="print"/>
          <a:stretch>
            <a:fillRect/>
          </a:stretch>
        </p:blipFill>
        <p:spPr>
          <a:xfrm>
            <a:off x="4833343" y="3658512"/>
            <a:ext cx="3684126" cy="3023484"/>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of Contracts</a:t>
            </a:r>
            <a:endParaRPr lang="en-GB" dirty="0"/>
          </a:p>
        </p:txBody>
      </p:sp>
      <p:sp>
        <p:nvSpPr>
          <p:cNvPr id="3" name="Content Placeholder 2"/>
          <p:cNvSpPr>
            <a:spLocks noGrp="1"/>
          </p:cNvSpPr>
          <p:nvPr>
            <p:ph idx="1"/>
          </p:nvPr>
        </p:nvSpPr>
        <p:spPr/>
        <p:txBody>
          <a:bodyPr>
            <a:normAutofit/>
          </a:bodyPr>
          <a:lstStyle/>
          <a:p>
            <a:r>
              <a:rPr lang="en-GB" b="1" dirty="0"/>
              <a:t>Void contract</a:t>
            </a:r>
            <a:r>
              <a:rPr lang="en-GB" dirty="0"/>
              <a:t>: A void contract is one which has no binding effect whatsoever </a:t>
            </a:r>
            <a:endParaRPr lang="en-GB" dirty="0"/>
          </a:p>
          <a:p>
            <a:r>
              <a:rPr lang="en-GB" b="1" dirty="0"/>
              <a:t>Voidable Contract</a:t>
            </a:r>
            <a:r>
              <a:rPr lang="en-GB" dirty="0"/>
              <a:t>: a voidable contract is binding but one party has the right, at his option to set aside</a:t>
            </a:r>
            <a:endParaRPr lang="en-GB" dirty="0"/>
          </a:p>
          <a:p>
            <a:r>
              <a:rPr lang="en-GB" b="1" dirty="0"/>
              <a:t>Unenforceable contract</a:t>
            </a:r>
            <a:r>
              <a:rPr lang="en-GB" dirty="0"/>
              <a:t>: an unenforceable contract is valid in all respects but it can not be enforced in a law court if any of the parties defaults usually due to failure to follow some technical legal procedures or formalities</a:t>
            </a:r>
            <a:endParaRPr lang="en-GB"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 the basis of formation</a:t>
            </a:r>
            <a:endParaRPr lang="en-US" dirty="0"/>
          </a:p>
        </p:txBody>
      </p:sp>
      <p:sp>
        <p:nvSpPr>
          <p:cNvPr id="3" name="Content Placeholder 2"/>
          <p:cNvSpPr>
            <a:spLocks noGrp="1"/>
          </p:cNvSpPr>
          <p:nvPr>
            <p:ph idx="1"/>
          </p:nvPr>
        </p:nvSpPr>
        <p:spPr>
          <a:xfrm>
            <a:off x="107504" y="1412776"/>
            <a:ext cx="8784976" cy="5112568"/>
          </a:xfrm>
        </p:spPr>
        <p:txBody>
          <a:bodyPr>
            <a:normAutofit fontScale="92500" lnSpcReduction="10000"/>
          </a:bodyPr>
          <a:lstStyle/>
          <a:p>
            <a:pPr marL="0" indent="0">
              <a:buNone/>
            </a:pPr>
            <a:r>
              <a:rPr lang="en-US" b="1" dirty="0"/>
              <a:t>1</a:t>
            </a:r>
            <a:r>
              <a:rPr lang="en-US" sz="4000" b="1" dirty="0"/>
              <a:t>. Express Contract</a:t>
            </a:r>
            <a:endParaRPr lang="en-US" sz="4000" b="1" dirty="0"/>
          </a:p>
          <a:p>
            <a:pPr>
              <a:buNone/>
            </a:pPr>
            <a:r>
              <a:rPr lang="en-US" sz="4000" dirty="0"/>
              <a:t> Contracts formed with the words </a:t>
            </a:r>
            <a:r>
              <a:rPr lang="en-US" sz="4000" b="1" dirty="0"/>
              <a:t>spoken or written,</a:t>
            </a:r>
            <a:r>
              <a:rPr lang="en-US" sz="4000" dirty="0"/>
              <a:t> is an express contract.</a:t>
            </a:r>
            <a:endParaRPr lang="en-US" sz="4000" dirty="0"/>
          </a:p>
          <a:p>
            <a:pPr>
              <a:buNone/>
            </a:pPr>
            <a:endParaRPr lang="en-US" sz="4000" dirty="0"/>
          </a:p>
          <a:p>
            <a:pPr>
              <a:buNone/>
            </a:pPr>
            <a:r>
              <a:rPr lang="en-US" sz="4000" dirty="0"/>
              <a:t>   </a:t>
            </a:r>
            <a:r>
              <a:rPr lang="en-US" sz="4000" dirty="0" err="1"/>
              <a:t>Eg</a:t>
            </a:r>
            <a:r>
              <a:rPr lang="en-US" sz="4000" dirty="0"/>
              <a:t>- A tells B on phone that he wants to buy his car for Rs 80,000 and B accepts the offer on phone, this is an express contract.</a:t>
            </a:r>
            <a:endParaRPr lang="en-US" sz="4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548680"/>
            <a:ext cx="8435280" cy="5577483"/>
          </a:xfrm>
        </p:spPr>
        <p:txBody>
          <a:bodyPr>
            <a:normAutofit/>
          </a:bodyPr>
          <a:lstStyle/>
          <a:p>
            <a:pPr>
              <a:buNone/>
            </a:pPr>
            <a:r>
              <a:rPr lang="en-US" sz="2800" b="1" dirty="0">
                <a:solidFill>
                  <a:schemeClr val="accent1">
                    <a:lumMod val="75000"/>
                  </a:schemeClr>
                </a:solidFill>
              </a:rPr>
              <a:t>2. Implied Contract</a:t>
            </a:r>
            <a:endParaRPr lang="en-US" sz="2800" b="1" dirty="0">
              <a:solidFill>
                <a:schemeClr val="accent1">
                  <a:lumMod val="75000"/>
                </a:schemeClr>
              </a:solidFill>
            </a:endParaRPr>
          </a:p>
          <a:p>
            <a:pPr>
              <a:buNone/>
            </a:pPr>
            <a:r>
              <a:rPr lang="en-US" b="1" dirty="0"/>
              <a:t>   </a:t>
            </a:r>
            <a:r>
              <a:rPr lang="en-US" dirty="0"/>
              <a:t>When the offer and acceptance is made by </a:t>
            </a:r>
            <a:r>
              <a:rPr lang="en-US" sz="2800" b="1" dirty="0">
                <a:solidFill>
                  <a:schemeClr val="tx2">
                    <a:lumMod val="50000"/>
                  </a:schemeClr>
                </a:solidFill>
              </a:rPr>
              <a:t>acts or conducts </a:t>
            </a:r>
            <a:r>
              <a:rPr lang="en-US" dirty="0"/>
              <a:t>of the parties, it is an implied contract.</a:t>
            </a:r>
            <a:endParaRPr lang="en-US" dirty="0"/>
          </a:p>
          <a:p>
            <a:pPr>
              <a:buNone/>
            </a:pPr>
            <a:endParaRPr lang="en-US" dirty="0"/>
          </a:p>
          <a:p>
            <a:pPr>
              <a:buNone/>
            </a:pPr>
            <a:r>
              <a:rPr lang="en-US" dirty="0"/>
              <a:t>   For example- A, a coolie in uniform takes up the luggage of B at Railway Station and B allows him to do so, then the law implies that B will have to pay for the services of A. This is an implied contract.</a:t>
            </a:r>
            <a:endParaRPr lang="en-US" dirty="0"/>
          </a:p>
          <a:p>
            <a:pPr>
              <a:buNone/>
            </a:pPr>
            <a:endParaRPr lang="en-US" b="1" dirty="0"/>
          </a:p>
          <a:p>
            <a:pPr>
              <a:buNone/>
            </a:pPr>
            <a:endParaRPr lang="en-US" b="1" dirty="0"/>
          </a:p>
          <a:p>
            <a:pPr>
              <a:buNone/>
            </a:pPr>
            <a:endParaRPr lang="en-US" b="1"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260648"/>
            <a:ext cx="8496944" cy="6192688"/>
          </a:xfrm>
        </p:spPr>
        <p:txBody>
          <a:bodyPr/>
          <a:lstStyle/>
          <a:p>
            <a:pPr>
              <a:buNone/>
            </a:pPr>
            <a:r>
              <a:rPr lang="en-US" sz="2800" b="1" dirty="0">
                <a:solidFill>
                  <a:schemeClr val="accent1">
                    <a:lumMod val="75000"/>
                  </a:schemeClr>
                </a:solidFill>
              </a:rPr>
              <a:t>3. Quasi-Contract</a:t>
            </a:r>
            <a:endParaRPr lang="en-US" sz="2800" b="1" dirty="0">
              <a:solidFill>
                <a:schemeClr val="accent1">
                  <a:lumMod val="75000"/>
                </a:schemeClr>
              </a:solidFill>
            </a:endParaRPr>
          </a:p>
          <a:p>
            <a:pPr>
              <a:buNone/>
            </a:pPr>
            <a:r>
              <a:rPr lang="en-US" dirty="0"/>
              <a:t>Quasi-contract doesn’t arise by virtue of any agreement, but the law infers or </a:t>
            </a:r>
            <a:r>
              <a:rPr lang="en-US" dirty="0" err="1"/>
              <a:t>recognises</a:t>
            </a:r>
            <a:r>
              <a:rPr lang="en-US" dirty="0"/>
              <a:t> these contracts under special circumstances.</a:t>
            </a:r>
            <a:endParaRPr lang="en-US" dirty="0"/>
          </a:p>
          <a:p>
            <a:pPr>
              <a:buNone/>
            </a:pPr>
            <a:endParaRPr lang="en-US" dirty="0"/>
          </a:p>
          <a:p>
            <a:pPr>
              <a:buNone/>
            </a:pPr>
            <a:r>
              <a:rPr lang="en-US" dirty="0"/>
              <a:t> For </a:t>
            </a:r>
            <a:r>
              <a:rPr lang="en-US" dirty="0" err="1"/>
              <a:t>eg</a:t>
            </a:r>
            <a:r>
              <a:rPr lang="en-US" dirty="0"/>
              <a:t>- Claims for necessaries supplied to an incapable person.</a:t>
            </a:r>
            <a:endParaRPr lang="en-US" dirty="0"/>
          </a:p>
          <a:p>
            <a:pPr>
              <a:buNone/>
            </a:pPr>
            <a:r>
              <a:rPr lang="en-US" dirty="0"/>
              <a:t>2. Responsibilities of finder of goods.</a:t>
            </a:r>
            <a:endParaRPr lang="en-US" dirty="0"/>
          </a:p>
          <a:p>
            <a:pPr>
              <a:buNone/>
            </a:pP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 the basis of execution</a:t>
            </a:r>
            <a:endParaRPr lang="en-US" dirty="0"/>
          </a:p>
        </p:txBody>
      </p:sp>
      <p:sp>
        <p:nvSpPr>
          <p:cNvPr id="3" name="Content Placeholder 2"/>
          <p:cNvSpPr>
            <a:spLocks noGrp="1"/>
          </p:cNvSpPr>
          <p:nvPr>
            <p:ph idx="1"/>
          </p:nvPr>
        </p:nvSpPr>
        <p:spPr>
          <a:xfrm>
            <a:off x="467544" y="1600200"/>
            <a:ext cx="8424936" cy="4421088"/>
          </a:xfrm>
        </p:spPr>
        <p:txBody>
          <a:bodyPr>
            <a:normAutofit fontScale="92500" lnSpcReduction="20000"/>
          </a:bodyPr>
          <a:lstStyle/>
          <a:p>
            <a:pPr algn="just">
              <a:buNone/>
            </a:pPr>
            <a:r>
              <a:rPr lang="en-US" sz="3600" dirty="0"/>
              <a:t>  1. </a:t>
            </a:r>
            <a:r>
              <a:rPr lang="en-US" sz="3600" b="1" dirty="0">
                <a:solidFill>
                  <a:schemeClr val="accent1">
                    <a:lumMod val="75000"/>
                  </a:schemeClr>
                </a:solidFill>
              </a:rPr>
              <a:t>Executed Contract</a:t>
            </a:r>
            <a:endParaRPr lang="en-US" sz="3600" b="1" dirty="0">
              <a:solidFill>
                <a:schemeClr val="accent1">
                  <a:lumMod val="75000"/>
                </a:schemeClr>
              </a:solidFill>
            </a:endParaRPr>
          </a:p>
          <a:p>
            <a:pPr algn="just">
              <a:buNone/>
            </a:pPr>
            <a:r>
              <a:rPr lang="en-US" sz="3600" dirty="0"/>
              <a:t>   A contract is said to be executed contract when both the parties to a contract have performed their obligations.</a:t>
            </a:r>
            <a:endParaRPr lang="en-US" sz="3600" dirty="0"/>
          </a:p>
          <a:p>
            <a:pPr algn="just">
              <a:buNone/>
            </a:pPr>
            <a:r>
              <a:rPr lang="en-US" sz="3600" dirty="0"/>
              <a:t>For </a:t>
            </a:r>
            <a:r>
              <a:rPr lang="en-US" sz="3600" dirty="0" err="1"/>
              <a:t>eg</a:t>
            </a:r>
            <a:r>
              <a:rPr lang="en-US" sz="3600" dirty="0"/>
              <a:t>- When a bookseller sells a book on cash payment, it is an executed contract because both the parties have done what they were to do in a contract.</a:t>
            </a:r>
            <a:endParaRPr lang="en-US" sz="3600" dirty="0"/>
          </a:p>
          <a:p>
            <a:pPr>
              <a:buNone/>
            </a:pPr>
            <a:endParaRPr lang="en-US" dirty="0"/>
          </a:p>
          <a:p>
            <a:pPr>
              <a:buNone/>
            </a:pPr>
            <a:endParaRPr lang="en-US" dirty="0"/>
          </a:p>
          <a:p>
            <a:pPr>
              <a:buNone/>
            </a:pPr>
            <a:endParaRPr lang="en-US" dirty="0"/>
          </a:p>
          <a:p>
            <a:pPr>
              <a:buNone/>
            </a:pP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435280" cy="5865515"/>
          </a:xfrm>
        </p:spPr>
        <p:txBody>
          <a:bodyPr>
            <a:normAutofit/>
          </a:bodyPr>
          <a:lstStyle/>
          <a:p>
            <a:r>
              <a:rPr lang="en-US" sz="2800" b="1" dirty="0">
                <a:solidFill>
                  <a:schemeClr val="accent1">
                    <a:lumMod val="75000"/>
                  </a:schemeClr>
                </a:solidFill>
              </a:rPr>
              <a:t>2. EXECUTORY CONTRACT</a:t>
            </a:r>
            <a:endParaRPr lang="en-US" sz="2800" b="1" dirty="0">
              <a:solidFill>
                <a:schemeClr val="accent1">
                  <a:lumMod val="75000"/>
                </a:schemeClr>
              </a:solidFill>
            </a:endParaRPr>
          </a:p>
          <a:p>
            <a:pPr>
              <a:buNone/>
            </a:pPr>
            <a:r>
              <a:rPr lang="en-US" dirty="0"/>
              <a:t>   When either both the parties to a contract have still to perform their share of obligation, then it is </a:t>
            </a:r>
            <a:r>
              <a:rPr lang="en-US" dirty="0" err="1"/>
              <a:t>executory</a:t>
            </a:r>
            <a:r>
              <a:rPr lang="en-US" dirty="0"/>
              <a:t> contract.</a:t>
            </a:r>
            <a:endParaRPr lang="en-US" dirty="0"/>
          </a:p>
          <a:p>
            <a:pPr>
              <a:buNone/>
            </a:pPr>
            <a:endParaRPr lang="en-US" dirty="0"/>
          </a:p>
          <a:p>
            <a:pPr>
              <a:buNone/>
            </a:pPr>
            <a:r>
              <a:rPr lang="en-US" dirty="0"/>
              <a:t>  For </a:t>
            </a:r>
            <a:r>
              <a:rPr lang="en-US" dirty="0" err="1"/>
              <a:t>eg</a:t>
            </a:r>
            <a:r>
              <a:rPr lang="en-US" dirty="0"/>
              <a:t>- A buys a car from B for Rs 100,000. Now, A has made the payment but B has not transferred the contract, it is an </a:t>
            </a:r>
            <a:r>
              <a:rPr lang="en-US" dirty="0" err="1"/>
              <a:t>executory</a:t>
            </a:r>
            <a:r>
              <a:rPr lang="en-US" dirty="0"/>
              <a:t> contract as the parties have to meet the obligation.</a:t>
            </a:r>
            <a:endParaRPr lang="en-US" dirty="0"/>
          </a:p>
          <a:p>
            <a:pPr>
              <a:buNone/>
            </a:pPr>
            <a:endParaRPr lang="en-US" dirty="0"/>
          </a:p>
          <a:p>
            <a:pPr>
              <a:buNone/>
            </a:pP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of Contracts</a:t>
            </a:r>
            <a:endParaRPr lang="en-GB" dirty="0"/>
          </a:p>
        </p:txBody>
      </p:sp>
      <p:sp>
        <p:nvSpPr>
          <p:cNvPr id="3" name="Content Placeholder 2"/>
          <p:cNvSpPr>
            <a:spLocks noGrp="1"/>
          </p:cNvSpPr>
          <p:nvPr>
            <p:ph idx="1"/>
          </p:nvPr>
        </p:nvSpPr>
        <p:spPr/>
        <p:txBody>
          <a:bodyPr/>
          <a:lstStyle/>
          <a:p>
            <a:r>
              <a:rPr lang="en-GB" b="1" dirty="0"/>
              <a:t>Executed Contract</a:t>
            </a:r>
            <a:r>
              <a:rPr lang="en-GB" dirty="0"/>
              <a:t>: An executed contract is one in which one or all the parties have done all that are required by the contract</a:t>
            </a:r>
            <a:endParaRPr lang="en-GB" dirty="0"/>
          </a:p>
          <a:p>
            <a:r>
              <a:rPr lang="en-GB" b="1" dirty="0" err="1"/>
              <a:t>Executory</a:t>
            </a:r>
            <a:r>
              <a:rPr lang="en-GB" b="1" dirty="0"/>
              <a:t> Contract</a:t>
            </a:r>
            <a:r>
              <a:rPr lang="en-GB" dirty="0"/>
              <a:t>: A </a:t>
            </a:r>
            <a:r>
              <a:rPr lang="en-GB" dirty="0" err="1"/>
              <a:t>executory</a:t>
            </a:r>
            <a:r>
              <a:rPr lang="en-GB" dirty="0"/>
              <a:t> contract is one in which the obligations of one or all the parties remain to be carried out</a:t>
            </a:r>
            <a:endParaRPr lang="en-GB"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of Contracts</a:t>
            </a:r>
            <a:endParaRPr lang="en-GB" dirty="0"/>
          </a:p>
        </p:txBody>
      </p:sp>
      <p:sp>
        <p:nvSpPr>
          <p:cNvPr id="3" name="Content Placeholder 2"/>
          <p:cNvSpPr>
            <a:spLocks noGrp="1"/>
          </p:cNvSpPr>
          <p:nvPr>
            <p:ph idx="1"/>
          </p:nvPr>
        </p:nvSpPr>
        <p:spPr/>
        <p:txBody>
          <a:bodyPr/>
          <a:lstStyle/>
          <a:p>
            <a:r>
              <a:rPr lang="en-GB" b="1" dirty="0"/>
              <a:t>Speciality Contract</a:t>
            </a:r>
            <a:r>
              <a:rPr lang="en-GB" dirty="0"/>
              <a:t>: A speciality contract is one made under seal and signed, sealed and delivered. Signature is usually witnessed and an action on it must be brought within twelve years. Consideration is not essential while it may operate as estoppel against the party making the statements contained in it except if there is fraud, duress, mistake or lack od capacity or illegality</a:t>
            </a:r>
            <a:endParaRPr lang="en-GB"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of Contracts</a:t>
            </a:r>
            <a:endParaRPr lang="en-GB" dirty="0"/>
          </a:p>
        </p:txBody>
      </p:sp>
      <p:sp>
        <p:nvSpPr>
          <p:cNvPr id="3" name="Content Placeholder 2"/>
          <p:cNvSpPr>
            <a:spLocks noGrp="1"/>
          </p:cNvSpPr>
          <p:nvPr>
            <p:ph idx="1"/>
          </p:nvPr>
        </p:nvSpPr>
        <p:spPr/>
        <p:txBody>
          <a:bodyPr/>
          <a:lstStyle/>
          <a:p>
            <a:r>
              <a:rPr lang="en-GB" b="1" dirty="0"/>
              <a:t>Simple Contract</a:t>
            </a:r>
            <a:r>
              <a:rPr lang="en-GB" dirty="0"/>
              <a:t>: Simple contracts are in the majority and they are all contracts not made under seal. A simple contract may be made orally or in writing or inferred from conduct but however it is made, consideration is essential. Action on it in respect of any breach must be brought within six years.</a:t>
            </a:r>
            <a:endParaRPr lang="en-GB"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of Contracts</a:t>
            </a:r>
            <a:endParaRPr lang="en-GB" dirty="0"/>
          </a:p>
        </p:txBody>
      </p:sp>
      <p:sp>
        <p:nvSpPr>
          <p:cNvPr id="3" name="Content Placeholder 2"/>
          <p:cNvSpPr>
            <a:spLocks noGrp="1"/>
          </p:cNvSpPr>
          <p:nvPr>
            <p:ph idx="1"/>
          </p:nvPr>
        </p:nvSpPr>
        <p:spPr/>
        <p:txBody>
          <a:bodyPr/>
          <a:lstStyle/>
          <a:p>
            <a:r>
              <a:rPr lang="en-GB" b="1" dirty="0"/>
              <a:t>Unilateral Contract</a:t>
            </a:r>
            <a:r>
              <a:rPr lang="en-GB" dirty="0"/>
              <a:t>: In unilateral contract, only one party is liable e.g. advertisement to find a lost item for reward</a:t>
            </a:r>
            <a:endParaRPr lang="en-GB" dirty="0"/>
          </a:p>
          <a:p>
            <a:r>
              <a:rPr lang="en-GB" b="1" dirty="0"/>
              <a:t>Bilateral Contract</a:t>
            </a:r>
            <a:r>
              <a:rPr lang="en-GB" dirty="0"/>
              <a:t>: In bilateral contract, there would have been a mutual exchange of promises in which case any of the parties who breaches the agreement will be  liable</a:t>
            </a:r>
            <a:endParaRPr lang="en-GB"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001000" cy="381000"/>
          </a:xfrm>
        </p:spPr>
        <p:txBody>
          <a:bodyPr>
            <a:normAutofit fontScale="90000"/>
          </a:bodyPr>
          <a:lstStyle/>
          <a:p>
            <a:r>
              <a:rPr lang="en-GB" sz="4000" dirty="0"/>
              <a:t>Contract Procedure – Types of Contract</a:t>
            </a:r>
            <a:endParaRPr lang="en-GB" sz="4000" dirty="0"/>
          </a:p>
        </p:txBody>
      </p:sp>
      <p:sp>
        <p:nvSpPr>
          <p:cNvPr id="3" name="Content Placeholder 2"/>
          <p:cNvSpPr>
            <a:spLocks noGrp="1"/>
          </p:cNvSpPr>
          <p:nvPr>
            <p:ph idx="1"/>
          </p:nvPr>
        </p:nvSpPr>
        <p:spPr>
          <a:xfrm>
            <a:off x="228600" y="533400"/>
            <a:ext cx="8763000" cy="5791200"/>
          </a:xfrm>
        </p:spPr>
        <p:txBody>
          <a:bodyPr>
            <a:noAutofit/>
          </a:bodyPr>
          <a:lstStyle/>
          <a:p>
            <a:pPr marL="0" indent="0" algn="just">
              <a:buNone/>
            </a:pPr>
            <a:r>
              <a:rPr lang="en-GB" sz="3200" b="1" dirty="0"/>
              <a:t>Negotiated Contract</a:t>
            </a:r>
            <a:r>
              <a:rPr lang="en-GB" sz="3200" dirty="0"/>
              <a:t>: This involves negotiation of a contract with a single contractor. This should only be done when it will result in positive advantages to the owner. Some of the situations justifying the usage of such are:</a:t>
            </a:r>
            <a:endParaRPr lang="en-GB" sz="3200" dirty="0"/>
          </a:p>
          <a:p>
            <a:pPr marL="604520" indent="-514350" algn="just">
              <a:buFont typeface="+mj-lt"/>
              <a:buAutoNum type="arabicPeriod"/>
            </a:pPr>
            <a:r>
              <a:rPr lang="en-GB" sz="3200" dirty="0"/>
              <a:t>The owner has a business relationship with the contractor</a:t>
            </a:r>
            <a:endParaRPr lang="en-GB" sz="3200" dirty="0"/>
          </a:p>
          <a:p>
            <a:pPr marL="604520" indent="-514350" algn="just">
              <a:buFont typeface="+mj-lt"/>
              <a:buAutoNum type="arabicPeriod"/>
            </a:pPr>
            <a:r>
              <a:rPr lang="en-GB" sz="3200" dirty="0"/>
              <a:t>The finds it difficult or even impossible to finance the project in any other way</a:t>
            </a:r>
            <a:endParaRPr lang="en-GB" sz="3200" dirty="0"/>
          </a:p>
          <a:p>
            <a:pPr marL="604520" indent="-514350" algn="just">
              <a:buFont typeface="+mj-lt"/>
              <a:buAutoNum type="arabicPeriod"/>
            </a:pPr>
            <a:r>
              <a:rPr lang="en-GB" sz="3200" dirty="0"/>
              <a:t>The owner has let a contract through competition and then another contract of similar design comes on programme</a:t>
            </a:r>
            <a:endParaRPr lang="en-GB" sz="3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248400"/>
          </a:xfrm>
        </p:spPr>
        <p:txBody>
          <a:bodyPr/>
          <a:lstStyle/>
          <a:p>
            <a:pPr marL="90170" indent="0" algn="just">
              <a:buNone/>
            </a:pPr>
            <a:r>
              <a:rPr lang="en-GB" sz="3600" dirty="0"/>
              <a:t>4. The geographical location of the area is such that only one contractor is available</a:t>
            </a:r>
            <a:endParaRPr lang="en-GB" sz="3600" dirty="0"/>
          </a:p>
          <a:p>
            <a:pPr marL="90170" indent="0" algn="just">
              <a:buNone/>
            </a:pPr>
            <a:r>
              <a:rPr lang="en-GB" sz="3600" dirty="0"/>
              <a:t>5. A certain contractor is the only one available with either the expertise or the special plant required for carrying out the project</a:t>
            </a:r>
            <a:endParaRPr lang="en-GB" sz="3600" dirty="0"/>
          </a:p>
          <a:p>
            <a:pPr marL="90170" indent="0" algn="just">
              <a:buNone/>
            </a:pPr>
            <a:r>
              <a:rPr lang="en-GB" sz="3600" dirty="0"/>
              <a:t>6. When the construction industry is grossly over stretched and negotiation offers the best approach</a:t>
            </a:r>
            <a:endParaRPr lang="en-GB" sz="3600" dirty="0"/>
          </a:p>
          <a:p>
            <a:pPr marL="90170" indent="0" algn="just">
              <a:buNone/>
            </a:pPr>
            <a:r>
              <a:rPr lang="en-GB" sz="3600" dirty="0"/>
              <a:t>7. When a rapid start is required </a:t>
            </a:r>
            <a:endParaRPr lang="en-GB" sz="3600" dirty="0"/>
          </a:p>
          <a:p>
            <a:endParaRPr lang="en-GB"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Contract Procedure – Contract Documents- Form of Agreement</a:t>
            </a:r>
            <a:endParaRPr lang="en-GB" dirty="0"/>
          </a:p>
        </p:txBody>
      </p:sp>
      <p:sp>
        <p:nvSpPr>
          <p:cNvPr id="3" name="Content Placeholder 2"/>
          <p:cNvSpPr>
            <a:spLocks noGrp="1"/>
          </p:cNvSpPr>
          <p:nvPr>
            <p:ph idx="1"/>
          </p:nvPr>
        </p:nvSpPr>
        <p:spPr/>
        <p:txBody>
          <a:bodyPr>
            <a:normAutofit fontScale="92500" lnSpcReduction="20000"/>
          </a:bodyPr>
          <a:lstStyle/>
          <a:p>
            <a:r>
              <a:rPr lang="en-GB" dirty="0"/>
              <a:t>This form constitutes the formal agreement or legal undertaking between the employer or client and the contractor for the execution of the work in accordance with the other contract documents. It is usually incorporated in the GCC.</a:t>
            </a:r>
            <a:endParaRPr lang="en-GB" dirty="0"/>
          </a:p>
          <a:p>
            <a:r>
              <a:rPr lang="en-GB" dirty="0"/>
              <a:t>In the form, the contractor covenants to construct, complete and maintain the works in accordance with the contract, and the promoter covenants to pay the contractor at the time and in the manner prescribed by the contract.</a:t>
            </a:r>
            <a:endParaRPr lang="en-GB" dirty="0"/>
          </a:p>
          <a:p>
            <a:r>
              <a:rPr lang="en-GB" dirty="0"/>
              <a:t>The two parties or their agents would sign the agreement, which is then sealed and delivered in the presence of their respective witnesses </a:t>
            </a:r>
            <a:endParaRPr lang="en-GB"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Vitiation of Contract</a:t>
            </a:r>
            <a:endParaRPr lang="en-GB" dirty="0"/>
          </a:p>
        </p:txBody>
      </p:sp>
      <p:sp>
        <p:nvSpPr>
          <p:cNvPr id="3" name="Content Placeholder 2"/>
          <p:cNvSpPr>
            <a:spLocks noGrp="1"/>
          </p:cNvSpPr>
          <p:nvPr>
            <p:ph idx="1"/>
          </p:nvPr>
        </p:nvSpPr>
        <p:spPr>
          <a:xfrm>
            <a:off x="152400" y="1600200"/>
            <a:ext cx="8839200" cy="5029200"/>
          </a:xfrm>
        </p:spPr>
        <p:txBody>
          <a:bodyPr>
            <a:noAutofit/>
          </a:bodyPr>
          <a:lstStyle/>
          <a:p>
            <a:r>
              <a:rPr lang="en-GB" sz="2400" dirty="0"/>
              <a:t>Despite the existence of the four essentials for the existence of a valid contract, enforcement may still prove difficult if some conditions do not exist during the contract. These are</a:t>
            </a:r>
            <a:endParaRPr lang="en-GB" sz="2400" dirty="0"/>
          </a:p>
          <a:p>
            <a:pPr marL="457200" lvl="1" indent="0">
              <a:buNone/>
            </a:pPr>
            <a:r>
              <a:rPr lang="en-GB" dirty="0"/>
              <a:t>-	There must be capacity- Every party to a contract 	must be legally capable of undertaking the 	obligation. There three types of incapacity</a:t>
            </a:r>
            <a:endParaRPr lang="en-GB" dirty="0"/>
          </a:p>
          <a:p>
            <a:pPr lvl="2"/>
            <a:r>
              <a:rPr lang="en-GB" sz="2400" dirty="0"/>
              <a:t>Infancy- The parties to contract must be of sufficient age (not below 18years)</a:t>
            </a:r>
            <a:endParaRPr lang="en-GB" sz="2400" dirty="0"/>
          </a:p>
          <a:p>
            <a:pPr lvl="2"/>
            <a:r>
              <a:rPr lang="en-GB" sz="2400" dirty="0"/>
              <a:t>Insanity- The law presumes an absence of ability to understand the nature of one’s action or their effect in the case of insanity</a:t>
            </a:r>
            <a:endParaRPr lang="en-GB" sz="2400" dirty="0"/>
          </a:p>
          <a:p>
            <a:pPr lvl="2"/>
            <a:r>
              <a:rPr lang="en-GB" sz="2400" dirty="0"/>
              <a:t>Drunkenness- This is similar to the condition of insanity</a:t>
            </a:r>
            <a:endParaRPr lang="en-GB" sz="2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Vitiation of Contract Contd.</a:t>
            </a:r>
            <a:endParaRPr lang="en-GB" dirty="0"/>
          </a:p>
        </p:txBody>
      </p:sp>
      <p:sp>
        <p:nvSpPr>
          <p:cNvPr id="3" name="Content Placeholder 2"/>
          <p:cNvSpPr>
            <a:spLocks noGrp="1"/>
          </p:cNvSpPr>
          <p:nvPr>
            <p:ph idx="1"/>
          </p:nvPr>
        </p:nvSpPr>
        <p:spPr>
          <a:xfrm>
            <a:off x="457200" y="1268760"/>
            <a:ext cx="8229600" cy="5472608"/>
          </a:xfrm>
        </p:spPr>
        <p:txBody>
          <a:bodyPr>
            <a:normAutofit fontScale="77500" lnSpcReduction="20000"/>
          </a:bodyPr>
          <a:lstStyle/>
          <a:p>
            <a:pPr lvl="1"/>
            <a:r>
              <a:rPr lang="en-GB" dirty="0"/>
              <a:t>The consent of a party to a contract must be genuine and must not be obtained by fraud, misrepresentation, duress, undue influence or mistake</a:t>
            </a:r>
            <a:endParaRPr lang="en-GB" dirty="0"/>
          </a:p>
          <a:p>
            <a:pPr lvl="2"/>
            <a:r>
              <a:rPr lang="en-GB" dirty="0"/>
              <a:t>Misrepresentation- Is a statement made by one party to the other, before or at the time of contracting with regard to some existing fact which is one of the causes inducing the other party to enter into the agreement and which proves to be untrue or inaccurate. This may be fraudulently, negligently or innocently made</a:t>
            </a:r>
            <a:endParaRPr lang="en-GB" dirty="0"/>
          </a:p>
          <a:p>
            <a:pPr lvl="2"/>
            <a:r>
              <a:rPr lang="en-GB" dirty="0"/>
              <a:t>Duress- This is actual or threatened interference with the personal liberty or safety of one of the parties to a contract. The presence of duress enables the party affected to repudiate the contract</a:t>
            </a:r>
            <a:endParaRPr lang="en-GB" dirty="0"/>
          </a:p>
          <a:p>
            <a:pPr lvl="2"/>
            <a:r>
              <a:rPr lang="en-GB" dirty="0"/>
              <a:t>Undue Influence- Represents coercion not by violence or threats of violence as duress, but coercion by mental moral or psychological persuasion</a:t>
            </a:r>
            <a:endParaRPr lang="en-GB" dirty="0"/>
          </a:p>
          <a:p>
            <a:pPr lvl="2"/>
            <a:r>
              <a:rPr lang="en-GB" dirty="0"/>
              <a:t>Mistake- A party cannot repudiate a contract by merely claiming that he entered into it by mistake. Mistake referred to here is such that is so basic as to strike at the very root of a contract </a:t>
            </a:r>
            <a:r>
              <a:rPr lang="en-GB" dirty="0" err="1"/>
              <a:t>eg</a:t>
            </a:r>
            <a:r>
              <a:rPr lang="en-GB" dirty="0"/>
              <a:t> mistake concerning the existence or identity of the subject matter of the contract. In this case, the contract is not voidable.</a:t>
            </a:r>
            <a:endParaRPr lang="en-GB" dirty="0"/>
          </a:p>
          <a:p>
            <a:pPr lvl="1"/>
            <a:r>
              <a:rPr lang="en-GB" dirty="0"/>
              <a:t>The subject matter of the contract must be legal – It must be possible to perform the contract without transgressing the law</a:t>
            </a:r>
            <a:endParaRPr lang="en-GB"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Termination or Discharge of Contract</a:t>
            </a:r>
            <a:endParaRPr lang="en-GB" dirty="0"/>
          </a:p>
        </p:txBody>
      </p:sp>
      <p:sp>
        <p:nvSpPr>
          <p:cNvPr id="3" name="Content Placeholder 2"/>
          <p:cNvSpPr>
            <a:spLocks noGrp="1"/>
          </p:cNvSpPr>
          <p:nvPr>
            <p:ph idx="1"/>
          </p:nvPr>
        </p:nvSpPr>
        <p:spPr>
          <a:xfrm>
            <a:off x="457200" y="1600200"/>
            <a:ext cx="8229600" cy="4997152"/>
          </a:xfrm>
        </p:spPr>
        <p:txBody>
          <a:bodyPr>
            <a:normAutofit fontScale="85000" lnSpcReduction="20000"/>
          </a:bodyPr>
          <a:lstStyle/>
          <a:p>
            <a:r>
              <a:rPr lang="en-GB" dirty="0"/>
              <a:t>When a contract is terminated or discharged, the parties are discharged from their obligations. Various ways by which contracts are discharged area:</a:t>
            </a:r>
            <a:endParaRPr lang="en-GB" dirty="0"/>
          </a:p>
          <a:p>
            <a:pPr lvl="1"/>
            <a:r>
              <a:rPr lang="en-GB" dirty="0"/>
              <a:t>By performance – Mutual due performance of the agreed obligations by both parties to a contract discharges the contract</a:t>
            </a:r>
            <a:endParaRPr lang="en-GB" dirty="0"/>
          </a:p>
          <a:p>
            <a:pPr lvl="1"/>
            <a:r>
              <a:rPr lang="en-GB" dirty="0"/>
              <a:t>By agreement – The two parties may agree to release each other from the obligations of a contract, while the contract itself may contain an agreed clause that after a certain time upon the happening of a particular event, the contract shall be discharged</a:t>
            </a:r>
            <a:endParaRPr lang="en-GB" dirty="0"/>
          </a:p>
          <a:p>
            <a:pPr lvl="1"/>
            <a:r>
              <a:rPr lang="en-GB" dirty="0"/>
              <a:t>By frustration – A contract which was capable of being performed when entered into may become frustrated before performance and in such event, it will be discharged</a:t>
            </a:r>
            <a:endParaRPr lang="en-GB" dirty="0"/>
          </a:p>
          <a:p>
            <a:pPr lvl="1"/>
            <a:r>
              <a:rPr lang="en-GB" dirty="0"/>
              <a:t>By breach – When a party does not perform his promise in the manner and at the time agreed, and this breach concerns a fundamental part of the contract, the injured party has the option to treat it as discharged contract</a:t>
            </a:r>
            <a:endParaRPr lang="en-GB"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Remedies for the Breach of Contract</a:t>
            </a:r>
            <a:endParaRPr lang="en-GB" dirty="0"/>
          </a:p>
        </p:txBody>
      </p:sp>
      <p:sp>
        <p:nvSpPr>
          <p:cNvPr id="3" name="Content Placeholder 2"/>
          <p:cNvSpPr>
            <a:spLocks noGrp="1"/>
          </p:cNvSpPr>
          <p:nvPr>
            <p:ph idx="1"/>
          </p:nvPr>
        </p:nvSpPr>
        <p:spPr/>
        <p:txBody>
          <a:bodyPr>
            <a:normAutofit fontScale="85000" lnSpcReduction="20000"/>
          </a:bodyPr>
          <a:lstStyle/>
          <a:p>
            <a:r>
              <a:rPr lang="en-GB" dirty="0"/>
              <a:t>Where a breach of contract occurs, then a right of action (or remedy) exists in the courts to remedy the matter. Sometimes the injured party is not content with mere financial compensation for loss, in which case the circumstances will be examined to see whether he is entitled to any other remedy. In this regard, the terms of contract can be divided into two categories- conditions and warranties.</a:t>
            </a:r>
            <a:endParaRPr lang="en-GB" dirty="0"/>
          </a:p>
          <a:p>
            <a:pPr lvl="1"/>
            <a:r>
              <a:rPr lang="en-GB" dirty="0"/>
              <a:t>A condition is a term of major importance which goes directly to the substance of the contract. The breach of a condition may lead to the cancellation or repudiation of the contract</a:t>
            </a:r>
            <a:endParaRPr lang="en-GB" dirty="0"/>
          </a:p>
          <a:p>
            <a:pPr lvl="1"/>
            <a:r>
              <a:rPr lang="en-GB" dirty="0"/>
              <a:t>A warranty is a minor, subsidiary term which is the subject of a contract but collateral to the main purpose of such contract, the breach of which gives rise to a claim for damages</a:t>
            </a:r>
            <a:endParaRPr lang="en-GB"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534400" cy="533400"/>
          </a:xfrm>
        </p:spPr>
        <p:txBody>
          <a:bodyPr>
            <a:normAutofit fontScale="90000"/>
          </a:bodyPr>
          <a:lstStyle/>
          <a:p>
            <a:r>
              <a:rPr lang="en-GB" sz="4000" dirty="0"/>
              <a:t>Remedies for the Breach of Contract</a:t>
            </a:r>
            <a:endParaRPr lang="en-GB" sz="4000" dirty="0"/>
          </a:p>
        </p:txBody>
      </p:sp>
      <p:sp>
        <p:nvSpPr>
          <p:cNvPr id="3" name="Content Placeholder 2"/>
          <p:cNvSpPr>
            <a:spLocks noGrp="1"/>
          </p:cNvSpPr>
          <p:nvPr>
            <p:ph idx="1"/>
          </p:nvPr>
        </p:nvSpPr>
        <p:spPr>
          <a:xfrm>
            <a:off x="228600" y="762000"/>
            <a:ext cx="8686800" cy="6096000"/>
          </a:xfrm>
        </p:spPr>
        <p:txBody>
          <a:bodyPr>
            <a:noAutofit/>
          </a:bodyPr>
          <a:lstStyle/>
          <a:p>
            <a:pPr algn="just"/>
            <a:r>
              <a:rPr lang="en-GB" sz="1800" dirty="0"/>
              <a:t>Types of remedy</a:t>
            </a:r>
            <a:endParaRPr lang="en-GB" sz="1800" dirty="0"/>
          </a:p>
          <a:p>
            <a:pPr lvl="1" algn="just"/>
            <a:r>
              <a:rPr lang="en-GB" sz="1800" b="1" dirty="0"/>
              <a:t>Termination/Cancellation:</a:t>
            </a:r>
            <a:r>
              <a:rPr lang="en-GB" sz="1800" dirty="0"/>
              <a:t> where the guilty party breaks a condition of the contract, the injured party may treat such a breach as repudiation of the entire contract</a:t>
            </a:r>
            <a:endParaRPr lang="en-GB" sz="1800" dirty="0"/>
          </a:p>
          <a:p>
            <a:pPr lvl="1" algn="just"/>
            <a:r>
              <a:rPr lang="en-GB" sz="1800" b="1" dirty="0"/>
              <a:t>Damages – </a:t>
            </a:r>
            <a:r>
              <a:rPr lang="en-GB" sz="1800" dirty="0"/>
              <a:t>If the injured party is content with compensation for his loss, it is immaterial whether he is complaining of breach of condition or warranty</a:t>
            </a:r>
            <a:endParaRPr lang="en-GB" sz="1800" dirty="0"/>
          </a:p>
          <a:p>
            <a:pPr lvl="1" algn="just"/>
            <a:r>
              <a:rPr lang="en-GB" sz="1800" b="1" dirty="0"/>
              <a:t>Specific performance (equitable remedy) </a:t>
            </a:r>
            <a:r>
              <a:rPr lang="en-GB" sz="1800" dirty="0"/>
              <a:t>– This is an order of court compelling the defendant to perform his part of the contract. Usually applied where monetary compensation or damages will not be adequate for the customer</a:t>
            </a:r>
            <a:endParaRPr lang="en-GB" sz="1800" dirty="0"/>
          </a:p>
          <a:p>
            <a:pPr lvl="1" algn="just"/>
            <a:r>
              <a:rPr lang="en-GB" sz="1800" b="1" dirty="0"/>
              <a:t>Injunction (equitable remedy)  </a:t>
            </a:r>
            <a:r>
              <a:rPr lang="en-GB" sz="1800" dirty="0"/>
              <a:t>– An injunction is also an order of the court of purely discretionary nature which is only issued on comparatively rare occasions</a:t>
            </a:r>
            <a:endParaRPr lang="en-GB" sz="1800" dirty="0"/>
          </a:p>
          <a:p>
            <a:pPr marL="457200" lvl="1" indent="0" algn="just">
              <a:buNone/>
            </a:pPr>
            <a:r>
              <a:rPr lang="en-GB" sz="1800" b="1" dirty="0"/>
              <a:t>Exchange</a:t>
            </a:r>
            <a:r>
              <a:rPr lang="en-GB" sz="1800" dirty="0"/>
              <a:t> however cannot be a remedy. Sometimes in attempt to avoid arguments that may arise over the extent of damages to be claimed, </a:t>
            </a:r>
            <a:r>
              <a:rPr lang="en-GB" sz="1800" b="1" dirty="0"/>
              <a:t>liquidated damages</a:t>
            </a:r>
            <a:r>
              <a:rPr lang="en-GB" sz="1800" dirty="0"/>
              <a:t> clause is included in major contracts. Here the parties make a genuine pre estimate of the loss to follow from a particular breach of contract and the figure is included in the contract to fix the liability of the breaker of the clause.</a:t>
            </a:r>
            <a:endParaRPr lang="en-GB" sz="1800" dirty="0"/>
          </a:p>
          <a:p>
            <a:pPr marL="457200" lvl="1" indent="0" algn="just">
              <a:buNone/>
            </a:pPr>
            <a:r>
              <a:rPr lang="en-GB" sz="1800" dirty="0"/>
              <a:t>Whether or not a contract is involved, if something subsequently goes wrong, arbitration is available as a mechanism for resolving all kinds of dispute. It is generally more satisfactory than taking the dispute to the law court.</a:t>
            </a:r>
            <a:endParaRPr lang="en-GB" sz="1800" dirty="0"/>
          </a:p>
          <a:p>
            <a:pPr lvl="1" algn="just"/>
            <a:endParaRPr lang="en-GB" sz="1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Extinction of Remedies</a:t>
            </a:r>
            <a:endParaRPr lang="en-GB" dirty="0"/>
          </a:p>
        </p:txBody>
      </p:sp>
      <p:sp>
        <p:nvSpPr>
          <p:cNvPr id="3" name="Content Placeholder 2"/>
          <p:cNvSpPr>
            <a:spLocks noGrp="1"/>
          </p:cNvSpPr>
          <p:nvPr>
            <p:ph idx="1"/>
          </p:nvPr>
        </p:nvSpPr>
        <p:spPr/>
        <p:txBody>
          <a:bodyPr>
            <a:normAutofit/>
          </a:bodyPr>
          <a:lstStyle/>
          <a:p>
            <a:r>
              <a:rPr lang="en-GB" dirty="0"/>
              <a:t>Lapse of time. An action arising out of a simple contract has to be brought within 6 years while for speciality contracts it is 12 years.</a:t>
            </a:r>
            <a:endParaRPr lang="en-GB" dirty="0"/>
          </a:p>
          <a:p>
            <a:r>
              <a:rPr lang="en-GB" dirty="0"/>
              <a:t>Acceptance. The right to reject goods for breach of condition is taken  away in a sale of goods contract where the buyer has accepted the goods or some of them. </a:t>
            </a:r>
            <a:endParaRPr lang="en-GB" dirty="0"/>
          </a:p>
          <a:p>
            <a:r>
              <a:rPr lang="en-GB" dirty="0"/>
              <a:t>Temporarily Discountenanced/Misrepresentation</a:t>
            </a:r>
            <a:endParaRPr lang="en-GB"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Common Contracts Encountered in Engineering Practice</a:t>
            </a:r>
            <a:endParaRPr lang="en-GB" dirty="0"/>
          </a:p>
        </p:txBody>
      </p:sp>
      <p:sp>
        <p:nvSpPr>
          <p:cNvPr id="3" name="Content Placeholder 2"/>
          <p:cNvSpPr>
            <a:spLocks noGrp="1"/>
          </p:cNvSpPr>
          <p:nvPr>
            <p:ph idx="1"/>
          </p:nvPr>
        </p:nvSpPr>
        <p:spPr>
          <a:xfrm>
            <a:off x="457200" y="1600200"/>
            <a:ext cx="8229600" cy="5141168"/>
          </a:xfrm>
        </p:spPr>
        <p:txBody>
          <a:bodyPr>
            <a:normAutofit fontScale="77500" lnSpcReduction="20000"/>
          </a:bodyPr>
          <a:lstStyle/>
          <a:p>
            <a:r>
              <a:rPr lang="en-GB" b="1" dirty="0"/>
              <a:t>Contract for sale of goods.</a:t>
            </a:r>
            <a:r>
              <a:rPr lang="en-GB" dirty="0"/>
              <a:t> This is defined as a contract whereby the seller transfers or agrees to transfer the property in goods to the buyer for a money consideration called the price. The word property here means ownership. This contract could be an outright sale or agreement to sell (futuristic). The difference between the two are:</a:t>
            </a:r>
            <a:endParaRPr lang="en-GB" dirty="0"/>
          </a:p>
          <a:p>
            <a:pPr lvl="1"/>
            <a:r>
              <a:rPr lang="en-GB" dirty="0"/>
              <a:t>A sale involves an actual transfer of the property in the goods while an agreement to sale will transfer ownership at a later date</a:t>
            </a:r>
            <a:endParaRPr lang="en-GB" dirty="0"/>
          </a:p>
          <a:p>
            <a:pPr lvl="1"/>
            <a:r>
              <a:rPr lang="en-GB" dirty="0"/>
              <a:t>For sale, if the buyer defaults, the buyer can be sued, for agreement to sell, the buyer can only be sued for </a:t>
            </a:r>
            <a:r>
              <a:rPr lang="en-GB" dirty="0" err="1"/>
              <a:t>unliquidated</a:t>
            </a:r>
            <a:r>
              <a:rPr lang="en-GB" dirty="0"/>
              <a:t> damages for breach of the contract</a:t>
            </a:r>
            <a:endParaRPr lang="en-GB" dirty="0"/>
          </a:p>
          <a:p>
            <a:pPr lvl="1"/>
            <a:r>
              <a:rPr lang="en-GB" dirty="0"/>
              <a:t>When seller defaults in the case of sale, the buyer can sue the seller for damages and delivery of the goods while in the case of agreement sell, the buyer can only sue for damages</a:t>
            </a:r>
            <a:endParaRPr lang="en-GB" dirty="0"/>
          </a:p>
          <a:p>
            <a:pPr lvl="1"/>
            <a:r>
              <a:rPr lang="en-GB" dirty="0"/>
              <a:t>Since goods pass to buyer in the case of sale, the buyer bears the risk or loss or deterioration whereas for agreement to sell,  the seller bears risk or loss or deterioration until goods pass to buyer</a:t>
            </a:r>
            <a:endParaRPr lang="en-GB" dirty="0"/>
          </a:p>
          <a:p>
            <a:pPr marL="457200" lvl="1" indent="0">
              <a:buNone/>
            </a:pPr>
            <a:endParaRPr lang="en-GB"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Common Contracts Encountered in Engineering Practice</a:t>
            </a:r>
            <a:endParaRPr lang="en-GB" dirty="0"/>
          </a:p>
        </p:txBody>
      </p:sp>
      <p:sp>
        <p:nvSpPr>
          <p:cNvPr id="3" name="Content Placeholder 2"/>
          <p:cNvSpPr>
            <a:spLocks noGrp="1"/>
          </p:cNvSpPr>
          <p:nvPr>
            <p:ph idx="1"/>
          </p:nvPr>
        </p:nvSpPr>
        <p:spPr/>
        <p:txBody>
          <a:bodyPr>
            <a:normAutofit/>
          </a:bodyPr>
          <a:lstStyle/>
          <a:p>
            <a:r>
              <a:rPr lang="en-GB" dirty="0"/>
              <a:t>Implied Warranties</a:t>
            </a:r>
            <a:endParaRPr lang="en-GB" dirty="0"/>
          </a:p>
          <a:p>
            <a:pPr lvl="1"/>
            <a:r>
              <a:rPr lang="en-GB" dirty="0"/>
              <a:t>The buyer shall have and enjoy quiet possession of goods except so far as it may be disturbed by the owner or other person entitled to the benefit of any charge or encumbrance so disclosed or known. This warranty will be broken if the buyer’s possession is disturbed by the seller or by the lawful acts of a third party whose title is superior to the seller’s</a:t>
            </a:r>
            <a:endParaRPr lang="en-GB" dirty="0"/>
          </a:p>
          <a:p>
            <a:pPr lvl="1"/>
            <a:r>
              <a:rPr lang="en-GB" dirty="0"/>
              <a:t>The goods shall be free from any undisclosed charge or encumbrance which was unknown to the buyer before or at the time when contract is made. </a:t>
            </a:r>
            <a:endParaRPr lang="en-GB"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04800" y="49213"/>
            <a:ext cx="8839200" cy="865187"/>
          </a:xfrm>
        </p:spPr>
        <p:txBody>
          <a:bodyPr/>
          <a:lstStyle/>
          <a:p>
            <a:pPr eaLnBrk="1" hangingPunct="1"/>
            <a:r>
              <a:rPr lang="en-US" sz="3200" b="1" u="sng" dirty="0">
                <a:effectLst/>
                <a:latin typeface="Calisto MT" pitchFamily="18" charset="0"/>
              </a:rPr>
              <a:t>Contract Documentation for Engineers</a:t>
            </a:r>
            <a:endParaRPr lang="en-US" sz="3200" b="1" u="sng" dirty="0">
              <a:effectLst/>
              <a:latin typeface="Calisto MT" pitchFamily="18" charset="0"/>
            </a:endParaRPr>
          </a:p>
        </p:txBody>
      </p:sp>
      <p:sp>
        <p:nvSpPr>
          <p:cNvPr id="24579" name="Rectangle 3"/>
          <p:cNvSpPr>
            <a:spLocks noGrp="1" noChangeArrowheads="1"/>
          </p:cNvSpPr>
          <p:nvPr>
            <p:ph type="body" idx="1"/>
          </p:nvPr>
        </p:nvSpPr>
        <p:spPr>
          <a:xfrm>
            <a:off x="152400" y="762000"/>
            <a:ext cx="8839200" cy="5867400"/>
          </a:xfrm>
        </p:spPr>
        <p:txBody>
          <a:bodyPr/>
          <a:lstStyle/>
          <a:p>
            <a:pPr marL="609600" indent="-609600" eaLnBrk="1" hangingPunct="1">
              <a:lnSpc>
                <a:spcPct val="80000"/>
              </a:lnSpc>
              <a:buFont typeface="Wingdings" panose="05000000000000000000" pitchFamily="2" charset="2"/>
              <a:buAutoNum type="arabicPeriod"/>
              <a:defRPr/>
            </a:pPr>
            <a:r>
              <a:rPr lang="en-US" sz="2400" b="1" i="1" dirty="0">
                <a:solidFill>
                  <a:schemeClr val="hlink"/>
                </a:solidFill>
                <a:latin typeface="Comic Sans MS" panose="030F0702030302020204" pitchFamily="66" charset="0"/>
              </a:rPr>
              <a:t>Conditions of contract</a:t>
            </a:r>
            <a:r>
              <a:rPr lang="en-US" sz="2400" b="1" i="1" dirty="0">
                <a:latin typeface="Comic Sans MS" panose="030F0702030302020204" pitchFamily="66" charset="0"/>
              </a:rPr>
              <a:t> –</a:t>
            </a:r>
            <a:r>
              <a:rPr lang="en-US" sz="2400" i="1" dirty="0">
                <a:latin typeface="Comic Sans MS" panose="030F0702030302020204" pitchFamily="66" charset="0"/>
              </a:rPr>
              <a:t>a written agreement intended to be enforceable by law to bind the appointed contractor with the employer based on an agreed conditions.</a:t>
            </a:r>
            <a:r>
              <a:rPr lang="en-US" sz="2400" b="1" i="1" dirty="0">
                <a:latin typeface="Comic Sans MS" panose="030F0702030302020204" pitchFamily="66" charset="0"/>
              </a:rPr>
              <a:t> </a:t>
            </a:r>
            <a:endParaRPr lang="en-US" sz="2400" b="1" i="1" dirty="0">
              <a:latin typeface="Comic Sans MS" panose="030F0702030302020204" pitchFamily="66" charset="0"/>
            </a:endParaRPr>
          </a:p>
          <a:p>
            <a:pPr marL="609600" indent="-609600" eaLnBrk="1" hangingPunct="1">
              <a:lnSpc>
                <a:spcPct val="80000"/>
              </a:lnSpc>
              <a:buFont typeface="Wingdings" panose="05000000000000000000" pitchFamily="2" charset="2"/>
              <a:buAutoNum type="arabicPeriod"/>
              <a:defRPr/>
            </a:pPr>
            <a:r>
              <a:rPr lang="en-US" sz="2400" b="1" i="1" dirty="0">
                <a:solidFill>
                  <a:schemeClr val="hlink"/>
                </a:solidFill>
                <a:latin typeface="Comic Sans MS" panose="030F0702030302020204" pitchFamily="66" charset="0"/>
              </a:rPr>
              <a:t>Contract Drawings</a:t>
            </a:r>
            <a:r>
              <a:rPr lang="en-US" sz="2400" b="1" i="1" dirty="0">
                <a:latin typeface="Comic Sans MS" panose="030F0702030302020204" pitchFamily="66" charset="0"/>
              </a:rPr>
              <a:t> – </a:t>
            </a:r>
            <a:r>
              <a:rPr lang="en-US" sz="2400" i="1" dirty="0">
                <a:latin typeface="Comic Sans MS" panose="030F0702030302020204" pitchFamily="66" charset="0"/>
              </a:rPr>
              <a:t>technical / detailed  construction drawings for measurement / costing by QS / engineers – prepared by architect / engineers.   </a:t>
            </a:r>
            <a:endParaRPr lang="en-US" sz="2400" i="1" dirty="0">
              <a:latin typeface="Comic Sans MS" panose="030F0702030302020204" pitchFamily="66" charset="0"/>
            </a:endParaRPr>
          </a:p>
          <a:p>
            <a:pPr marL="609600" indent="-609600" eaLnBrk="1" hangingPunct="1">
              <a:lnSpc>
                <a:spcPct val="80000"/>
              </a:lnSpc>
              <a:buFont typeface="Wingdings" panose="05000000000000000000" pitchFamily="2" charset="2"/>
              <a:buAutoNum type="arabicPeriod"/>
              <a:defRPr/>
            </a:pPr>
            <a:r>
              <a:rPr lang="en-US" sz="2400" b="1" i="1" dirty="0">
                <a:solidFill>
                  <a:schemeClr val="hlink"/>
                </a:solidFill>
                <a:latin typeface="Comic Sans MS" panose="030F0702030302020204" pitchFamily="66" charset="0"/>
              </a:rPr>
              <a:t>Specification / Preambles</a:t>
            </a:r>
            <a:r>
              <a:rPr lang="en-US" sz="2400" b="1" i="1" dirty="0">
                <a:latin typeface="Comic Sans MS" panose="030F0702030302020204" pitchFamily="66" charset="0"/>
              </a:rPr>
              <a:t> - </a:t>
            </a:r>
            <a:r>
              <a:rPr lang="en-US" sz="2400" i="1" dirty="0">
                <a:latin typeface="Comic Sans MS" panose="030F0702030302020204" pitchFamily="66" charset="0"/>
              </a:rPr>
              <a:t>A concise description of materials and workmanship, standard or quality of workmanship. It must convey the architect and engineer’s requirements.</a:t>
            </a:r>
            <a:endParaRPr lang="en-US" sz="2400" b="1" i="1" dirty="0">
              <a:latin typeface="Comic Sans MS" panose="030F0702030302020204" pitchFamily="66" charset="0"/>
            </a:endParaRPr>
          </a:p>
          <a:p>
            <a:pPr marL="609600" indent="-609600" eaLnBrk="1" hangingPunct="1">
              <a:lnSpc>
                <a:spcPct val="80000"/>
              </a:lnSpc>
              <a:buFont typeface="Wingdings" panose="05000000000000000000" pitchFamily="2" charset="2"/>
              <a:buAutoNum type="arabicPeriod"/>
              <a:defRPr/>
            </a:pPr>
            <a:r>
              <a:rPr lang="en-US" sz="2400" b="1" i="1" dirty="0">
                <a:solidFill>
                  <a:schemeClr val="hlink"/>
                </a:solidFill>
                <a:latin typeface="Comic Sans MS" panose="030F0702030302020204" pitchFamily="66" charset="0"/>
              </a:rPr>
              <a:t>Bill of Quantities</a:t>
            </a:r>
            <a:r>
              <a:rPr lang="en-US" sz="2400" b="1" i="1" dirty="0">
                <a:latin typeface="Comic Sans MS" panose="030F0702030302020204" pitchFamily="66" charset="0"/>
              </a:rPr>
              <a:t> – </a:t>
            </a:r>
            <a:r>
              <a:rPr lang="en-US" sz="2400" i="1" dirty="0">
                <a:latin typeface="Comic Sans MS" panose="030F0702030302020204" pitchFamily="66" charset="0"/>
              </a:rPr>
              <a:t>prepared by Quantity Surveyor based on measurement from the construction drawings / building plans This document were itemized all the quantities for each categories of works applied in constructing the buildings. E.g. building works, mechanical, electrical works, civil, structural works, infrastructure works, etc.  The contractor will priced /estimate all the works associated in completing the Projects. Example of BEME is shown in the next slide</a:t>
            </a:r>
            <a:endParaRPr lang="en-US" sz="2400" i="1" dirty="0">
              <a:latin typeface="Comic Sans MS" panose="030F0702030302020204" pitchFamily="66"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305800" cy="666750"/>
          </a:xfrm>
        </p:spPr>
        <p:txBody>
          <a:bodyPr>
            <a:normAutofit fontScale="90000"/>
          </a:bodyPr>
          <a:lstStyle/>
          <a:p>
            <a:pPr eaLnBrk="1" fontAlgn="auto" hangingPunct="1">
              <a:spcAft>
                <a:spcPts val="0"/>
              </a:spcAft>
              <a:defRPr/>
            </a:pPr>
            <a:br>
              <a:rPr lang="en-AU" sz="5400" b="1" dirty="0">
                <a:solidFill>
                  <a:schemeClr val="tx1"/>
                </a:solidFill>
              </a:rPr>
            </a:br>
            <a:r>
              <a:rPr lang="en-AU" sz="5400" b="1" dirty="0">
                <a:solidFill>
                  <a:schemeClr val="tx1"/>
                </a:solidFill>
              </a:rPr>
              <a:t>Validity</a:t>
            </a:r>
            <a:endParaRPr lang="en-US" dirty="0"/>
          </a:p>
        </p:txBody>
      </p:sp>
      <p:grpSp>
        <p:nvGrpSpPr>
          <p:cNvPr id="88067" name="Organization Chart 2"/>
          <p:cNvGrpSpPr/>
          <p:nvPr/>
        </p:nvGrpSpPr>
        <p:grpSpPr bwMode="auto">
          <a:xfrm>
            <a:off x="533400" y="2133600"/>
            <a:ext cx="8001000" cy="3270250"/>
            <a:chOff x="760" y="1103"/>
            <a:chExt cx="38366" cy="853"/>
          </a:xfrm>
        </p:grpSpPr>
        <p:cxnSp>
          <p:nvCxnSpPr>
            <p:cNvPr id="88068" name="_s1028"/>
            <p:cNvCxnSpPr>
              <a:cxnSpLocks noChangeShapeType="1"/>
              <a:stCxn id="88088" idx="0"/>
              <a:endCxn id="88083" idx="2"/>
            </p:cNvCxnSpPr>
            <p:nvPr/>
          </p:nvCxnSpPr>
          <p:spPr bwMode="auto">
            <a:xfrm rot="-5400000">
              <a:off x="35315" y="1549"/>
              <a:ext cx="69" cy="1"/>
            </a:xfrm>
            <a:prstGeom prst="straightConnector1">
              <a:avLst/>
            </a:prstGeom>
            <a:noFill/>
            <a:ln w="9525">
              <a:solidFill>
                <a:schemeClr val="bg2"/>
              </a:solidFill>
              <a:round/>
            </a:ln>
            <a:extLst>
              <a:ext uri="{909E8E84-426E-40DD-AFC4-6F175D3DCCD1}">
                <a14:hiddenFill xmlns:a14="http://schemas.microsoft.com/office/drawing/2010/main">
                  <a:noFill/>
                </a14:hiddenFill>
              </a:ext>
            </a:extLst>
          </p:spPr>
        </p:cxnSp>
        <p:cxnSp>
          <p:nvCxnSpPr>
            <p:cNvPr id="88069" name="_s1029"/>
            <p:cNvCxnSpPr>
              <a:cxnSpLocks noChangeShapeType="1"/>
              <a:stCxn id="88087" idx="0"/>
              <a:endCxn id="88082" idx="2"/>
            </p:cNvCxnSpPr>
            <p:nvPr/>
          </p:nvCxnSpPr>
          <p:spPr bwMode="auto">
            <a:xfrm rot="-5400000">
              <a:off x="27612" y="1549"/>
              <a:ext cx="69" cy="1"/>
            </a:xfrm>
            <a:prstGeom prst="straightConnector1">
              <a:avLst/>
            </a:prstGeom>
            <a:noFill/>
            <a:ln w="9525">
              <a:solidFill>
                <a:schemeClr val="bg2"/>
              </a:solidFill>
              <a:round/>
            </a:ln>
            <a:extLst>
              <a:ext uri="{909E8E84-426E-40DD-AFC4-6F175D3DCCD1}">
                <a14:hiddenFill xmlns:a14="http://schemas.microsoft.com/office/drawing/2010/main">
                  <a:noFill/>
                </a14:hiddenFill>
              </a:ext>
            </a:extLst>
          </p:spPr>
        </p:cxnSp>
        <p:cxnSp>
          <p:nvCxnSpPr>
            <p:cNvPr id="88070" name="_s1030"/>
            <p:cNvCxnSpPr>
              <a:cxnSpLocks noChangeShapeType="1"/>
              <a:stCxn id="88086" idx="0"/>
              <a:endCxn id="88081" idx="2"/>
            </p:cNvCxnSpPr>
            <p:nvPr/>
          </p:nvCxnSpPr>
          <p:spPr bwMode="auto">
            <a:xfrm rot="-5400000">
              <a:off x="19909" y="1549"/>
              <a:ext cx="69" cy="1"/>
            </a:xfrm>
            <a:prstGeom prst="straightConnector1">
              <a:avLst/>
            </a:prstGeom>
            <a:noFill/>
            <a:ln w="9525">
              <a:solidFill>
                <a:schemeClr val="bg2"/>
              </a:solidFill>
              <a:round/>
            </a:ln>
            <a:extLst>
              <a:ext uri="{909E8E84-426E-40DD-AFC4-6F175D3DCCD1}">
                <a14:hiddenFill xmlns:a14="http://schemas.microsoft.com/office/drawing/2010/main">
                  <a:noFill/>
                </a14:hiddenFill>
              </a:ext>
            </a:extLst>
          </p:spPr>
        </p:cxnSp>
        <p:cxnSp>
          <p:nvCxnSpPr>
            <p:cNvPr id="88071" name="_s1031"/>
            <p:cNvCxnSpPr>
              <a:cxnSpLocks noChangeShapeType="1"/>
              <a:stCxn id="88085" idx="0"/>
              <a:endCxn id="88080" idx="2"/>
            </p:cNvCxnSpPr>
            <p:nvPr/>
          </p:nvCxnSpPr>
          <p:spPr bwMode="auto">
            <a:xfrm rot="-5400000">
              <a:off x="12206" y="1549"/>
              <a:ext cx="69" cy="1"/>
            </a:xfrm>
            <a:prstGeom prst="straightConnector1">
              <a:avLst/>
            </a:prstGeom>
            <a:noFill/>
            <a:ln w="9525">
              <a:solidFill>
                <a:schemeClr val="bg2"/>
              </a:solidFill>
              <a:round/>
            </a:ln>
            <a:extLst>
              <a:ext uri="{909E8E84-426E-40DD-AFC4-6F175D3DCCD1}">
                <a14:hiddenFill xmlns:a14="http://schemas.microsoft.com/office/drawing/2010/main">
                  <a:noFill/>
                </a14:hiddenFill>
              </a:ext>
            </a:extLst>
          </p:spPr>
        </p:cxnSp>
        <p:cxnSp>
          <p:nvCxnSpPr>
            <p:cNvPr id="88072" name="_s1032"/>
            <p:cNvCxnSpPr>
              <a:cxnSpLocks noChangeShapeType="1"/>
              <a:stCxn id="88084" idx="0"/>
              <a:endCxn id="88079" idx="2"/>
            </p:cNvCxnSpPr>
            <p:nvPr/>
          </p:nvCxnSpPr>
          <p:spPr bwMode="auto">
            <a:xfrm rot="-5400000">
              <a:off x="4503" y="1549"/>
              <a:ext cx="69" cy="1"/>
            </a:xfrm>
            <a:prstGeom prst="straightConnector1">
              <a:avLst/>
            </a:prstGeom>
            <a:noFill/>
            <a:ln w="9525">
              <a:solidFill>
                <a:schemeClr val="bg2"/>
              </a:solidFill>
              <a:round/>
            </a:ln>
            <a:extLst>
              <a:ext uri="{909E8E84-426E-40DD-AFC4-6F175D3DCCD1}">
                <a14:hiddenFill xmlns:a14="http://schemas.microsoft.com/office/drawing/2010/main">
                  <a:noFill/>
                </a14:hiddenFill>
              </a:ext>
            </a:extLst>
          </p:spPr>
        </p:cxnSp>
        <p:cxnSp>
          <p:nvCxnSpPr>
            <p:cNvPr id="88073" name="_s1033"/>
            <p:cNvCxnSpPr>
              <a:cxnSpLocks noChangeShapeType="1"/>
              <a:stCxn id="88083" idx="0"/>
              <a:endCxn id="88078" idx="2"/>
            </p:cNvCxnSpPr>
            <p:nvPr/>
          </p:nvCxnSpPr>
          <p:spPr bwMode="auto">
            <a:xfrm rot="16200000" flipV="1">
              <a:off x="27732" y="-6269"/>
              <a:ext cx="79" cy="15151"/>
            </a:xfrm>
            <a:prstGeom prst="bentConnector3">
              <a:avLst>
                <a:gd name="adj1" fmla="val 50000"/>
              </a:avLst>
            </a:prstGeom>
            <a:noFill/>
            <a:ln w="9525">
              <a:solidFill>
                <a:schemeClr val="bg2"/>
              </a:solidFill>
              <a:miter lim="800000"/>
            </a:ln>
            <a:extLst>
              <a:ext uri="{909E8E84-426E-40DD-AFC4-6F175D3DCCD1}">
                <a14:hiddenFill xmlns:a14="http://schemas.microsoft.com/office/drawing/2010/main">
                  <a:noFill/>
                </a14:hiddenFill>
              </a:ext>
            </a:extLst>
          </p:spPr>
        </p:cxnSp>
        <p:cxnSp>
          <p:nvCxnSpPr>
            <p:cNvPr id="88074" name="_s1034"/>
            <p:cNvCxnSpPr>
              <a:cxnSpLocks noChangeShapeType="1"/>
              <a:stCxn id="88082" idx="0"/>
              <a:endCxn id="88078" idx="2"/>
            </p:cNvCxnSpPr>
            <p:nvPr/>
          </p:nvCxnSpPr>
          <p:spPr bwMode="auto">
            <a:xfrm rot="16200000" flipV="1">
              <a:off x="23881" y="-2418"/>
              <a:ext cx="79" cy="7449"/>
            </a:xfrm>
            <a:prstGeom prst="bentConnector3">
              <a:avLst>
                <a:gd name="adj1" fmla="val 50000"/>
              </a:avLst>
            </a:prstGeom>
            <a:noFill/>
            <a:ln w="9525">
              <a:solidFill>
                <a:schemeClr val="bg2"/>
              </a:solidFill>
              <a:miter lim="800000"/>
            </a:ln>
            <a:extLst>
              <a:ext uri="{909E8E84-426E-40DD-AFC4-6F175D3DCCD1}">
                <a14:hiddenFill xmlns:a14="http://schemas.microsoft.com/office/drawing/2010/main">
                  <a:noFill/>
                </a14:hiddenFill>
              </a:ext>
            </a:extLst>
          </p:spPr>
        </p:cxnSp>
        <p:cxnSp>
          <p:nvCxnSpPr>
            <p:cNvPr id="88075" name="_s1035"/>
            <p:cNvCxnSpPr>
              <a:cxnSpLocks noChangeShapeType="1"/>
              <a:stCxn id="88081" idx="0"/>
              <a:endCxn id="88078" idx="2"/>
            </p:cNvCxnSpPr>
            <p:nvPr/>
          </p:nvCxnSpPr>
          <p:spPr bwMode="auto">
            <a:xfrm flipV="1">
              <a:off x="19943" y="1267"/>
              <a:ext cx="253" cy="79"/>
            </a:xfrm>
            <a:prstGeom prst="straightConnector1">
              <a:avLst/>
            </a:prstGeom>
            <a:noFill/>
            <a:ln w="9525">
              <a:solidFill>
                <a:schemeClr val="bg2"/>
              </a:solidFill>
              <a:round/>
            </a:ln>
            <a:extLst>
              <a:ext uri="{909E8E84-426E-40DD-AFC4-6F175D3DCCD1}">
                <a14:hiddenFill xmlns:a14="http://schemas.microsoft.com/office/drawing/2010/main">
                  <a:noFill/>
                </a14:hiddenFill>
              </a:ext>
            </a:extLst>
          </p:spPr>
        </p:cxnSp>
        <p:cxnSp>
          <p:nvCxnSpPr>
            <p:cNvPr id="88076" name="_s1036"/>
            <p:cNvCxnSpPr>
              <a:cxnSpLocks noChangeShapeType="1"/>
              <a:stCxn id="88080" idx="0"/>
              <a:endCxn id="88078" idx="2"/>
            </p:cNvCxnSpPr>
            <p:nvPr/>
          </p:nvCxnSpPr>
          <p:spPr bwMode="auto">
            <a:xfrm rot="5400000" flipH="1" flipV="1">
              <a:off x="16179" y="-2671"/>
              <a:ext cx="79" cy="7955"/>
            </a:xfrm>
            <a:prstGeom prst="bentConnector3">
              <a:avLst>
                <a:gd name="adj1" fmla="val 50000"/>
              </a:avLst>
            </a:prstGeom>
            <a:noFill/>
            <a:ln w="9525">
              <a:solidFill>
                <a:schemeClr val="bg2"/>
              </a:solidFill>
              <a:miter lim="800000"/>
            </a:ln>
            <a:extLst>
              <a:ext uri="{909E8E84-426E-40DD-AFC4-6F175D3DCCD1}">
                <a14:hiddenFill xmlns:a14="http://schemas.microsoft.com/office/drawing/2010/main">
                  <a:noFill/>
                </a14:hiddenFill>
              </a:ext>
            </a:extLst>
          </p:spPr>
        </p:cxnSp>
        <p:cxnSp>
          <p:nvCxnSpPr>
            <p:cNvPr id="88077" name="_s1037"/>
            <p:cNvCxnSpPr>
              <a:cxnSpLocks noChangeShapeType="1"/>
              <a:stCxn id="88079" idx="0"/>
              <a:endCxn id="88078" idx="2"/>
            </p:cNvCxnSpPr>
            <p:nvPr/>
          </p:nvCxnSpPr>
          <p:spPr bwMode="auto">
            <a:xfrm rot="5400000" flipH="1" flipV="1">
              <a:off x="12328" y="-6522"/>
              <a:ext cx="79" cy="15657"/>
            </a:xfrm>
            <a:prstGeom prst="bentConnector3">
              <a:avLst>
                <a:gd name="adj1" fmla="val 50000"/>
              </a:avLst>
            </a:prstGeom>
            <a:noFill/>
            <a:ln w="9525">
              <a:solidFill>
                <a:schemeClr val="bg2"/>
              </a:solidFill>
              <a:miter lim="800000"/>
            </a:ln>
            <a:extLst>
              <a:ext uri="{909E8E84-426E-40DD-AFC4-6F175D3DCCD1}">
                <a14:hiddenFill xmlns:a14="http://schemas.microsoft.com/office/drawing/2010/main">
                  <a:noFill/>
                </a14:hiddenFill>
              </a:ext>
            </a:extLst>
          </p:spPr>
        </p:cxnSp>
        <p:sp>
          <p:nvSpPr>
            <p:cNvPr id="88078" name="_s1038"/>
            <p:cNvSpPr>
              <a:spLocks noChangeArrowheads="1"/>
            </p:cNvSpPr>
            <p:nvPr/>
          </p:nvSpPr>
          <p:spPr bwMode="auto">
            <a:xfrm>
              <a:off x="18074" y="1103"/>
              <a:ext cx="4244" cy="164"/>
            </a:xfrm>
            <a:prstGeom prst="roundRect">
              <a:avLst>
                <a:gd name="adj" fmla="val 43773"/>
              </a:avLst>
            </a:prstGeom>
            <a:noFill/>
            <a:ln w="28575">
              <a:solidFill>
                <a:srgbClr val="800080"/>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b="1"/>
                <a:t>Validity</a:t>
              </a:r>
              <a:endParaRPr lang="en-US" b="1"/>
            </a:p>
          </p:txBody>
        </p:sp>
        <p:sp>
          <p:nvSpPr>
            <p:cNvPr id="88079" name="_s1039"/>
            <p:cNvSpPr>
              <a:spLocks noChangeArrowheads="1"/>
            </p:cNvSpPr>
            <p:nvPr/>
          </p:nvSpPr>
          <p:spPr bwMode="auto">
            <a:xfrm>
              <a:off x="1374" y="1346"/>
              <a:ext cx="6331" cy="164"/>
            </a:xfrm>
            <a:prstGeom prst="roundRect">
              <a:avLst>
                <a:gd name="adj" fmla="val 50000"/>
              </a:avLst>
            </a:prstGeom>
            <a:noFill/>
            <a:ln w="28575">
              <a:solidFill>
                <a:srgbClr val="33CCCC"/>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a:t>Valid</a:t>
              </a:r>
              <a:endParaRPr lang="en-US"/>
            </a:p>
          </p:txBody>
        </p:sp>
        <p:sp>
          <p:nvSpPr>
            <p:cNvPr id="88080" name="_s1040"/>
            <p:cNvSpPr>
              <a:spLocks noChangeArrowheads="1"/>
            </p:cNvSpPr>
            <p:nvPr/>
          </p:nvSpPr>
          <p:spPr bwMode="auto">
            <a:xfrm>
              <a:off x="9076" y="1346"/>
              <a:ext cx="6331" cy="164"/>
            </a:xfrm>
            <a:prstGeom prst="roundRect">
              <a:avLst>
                <a:gd name="adj" fmla="val 50000"/>
              </a:avLst>
            </a:prstGeom>
            <a:noFill/>
            <a:ln w="28575">
              <a:solidFill>
                <a:srgbClr val="33CCCC"/>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a:t>Void</a:t>
              </a:r>
              <a:endParaRPr lang="en-US"/>
            </a:p>
          </p:txBody>
        </p:sp>
        <p:sp>
          <p:nvSpPr>
            <p:cNvPr id="88081" name="_s1041"/>
            <p:cNvSpPr>
              <a:spLocks noChangeArrowheads="1"/>
            </p:cNvSpPr>
            <p:nvPr/>
          </p:nvSpPr>
          <p:spPr bwMode="auto">
            <a:xfrm>
              <a:off x="16778" y="1346"/>
              <a:ext cx="6331" cy="164"/>
            </a:xfrm>
            <a:prstGeom prst="roundRect">
              <a:avLst>
                <a:gd name="adj" fmla="val 50000"/>
              </a:avLst>
            </a:prstGeom>
            <a:noFill/>
            <a:ln w="28575">
              <a:solidFill>
                <a:srgbClr val="33CCCC"/>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a:t>Voidable</a:t>
              </a:r>
              <a:endParaRPr lang="en-US"/>
            </a:p>
          </p:txBody>
        </p:sp>
        <p:sp>
          <p:nvSpPr>
            <p:cNvPr id="88082" name="_s1042"/>
            <p:cNvSpPr>
              <a:spLocks noChangeArrowheads="1"/>
            </p:cNvSpPr>
            <p:nvPr/>
          </p:nvSpPr>
          <p:spPr bwMode="auto">
            <a:xfrm>
              <a:off x="24480" y="1346"/>
              <a:ext cx="6331" cy="164"/>
            </a:xfrm>
            <a:prstGeom prst="roundRect">
              <a:avLst>
                <a:gd name="adj" fmla="val 50000"/>
              </a:avLst>
            </a:prstGeom>
            <a:noFill/>
            <a:ln w="28575">
              <a:solidFill>
                <a:srgbClr val="33CCCC"/>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a:t>Unenforceable</a:t>
              </a:r>
              <a:endParaRPr lang="en-US"/>
            </a:p>
          </p:txBody>
        </p:sp>
        <p:sp>
          <p:nvSpPr>
            <p:cNvPr id="88083" name="_s1043"/>
            <p:cNvSpPr>
              <a:spLocks noChangeArrowheads="1"/>
            </p:cNvSpPr>
            <p:nvPr/>
          </p:nvSpPr>
          <p:spPr bwMode="auto">
            <a:xfrm>
              <a:off x="32182" y="1346"/>
              <a:ext cx="6331" cy="164"/>
            </a:xfrm>
            <a:prstGeom prst="roundRect">
              <a:avLst>
                <a:gd name="adj" fmla="val 50000"/>
              </a:avLst>
            </a:prstGeom>
            <a:noFill/>
            <a:ln w="28575">
              <a:solidFill>
                <a:srgbClr val="33CCCC"/>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a:t>Illegal</a:t>
              </a:r>
              <a:endParaRPr lang="en-US"/>
            </a:p>
          </p:txBody>
        </p:sp>
        <p:sp>
          <p:nvSpPr>
            <p:cNvPr id="88084" name="_s1044"/>
            <p:cNvSpPr>
              <a:spLocks noChangeArrowheads="1"/>
            </p:cNvSpPr>
            <p:nvPr/>
          </p:nvSpPr>
          <p:spPr bwMode="auto">
            <a:xfrm>
              <a:off x="760" y="1589"/>
              <a:ext cx="7554" cy="367"/>
            </a:xfrm>
            <a:prstGeom prst="roundRect">
              <a:avLst>
                <a:gd name="adj" fmla="val 44278"/>
              </a:avLst>
            </a:prstGeom>
            <a:noFill/>
            <a:ln w="28575">
              <a:solidFill>
                <a:srgbClr val="C1BBDD"/>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sz="1200"/>
                <a:t>All essential </a:t>
              </a:r>
              <a:endParaRPr lang="en-US" sz="1200"/>
            </a:p>
            <a:p>
              <a:r>
                <a:rPr lang="en-US" sz="1200"/>
                <a:t>elements present, </a:t>
              </a:r>
              <a:endParaRPr lang="en-US" sz="1200"/>
            </a:p>
            <a:p>
              <a:r>
                <a:rPr lang="en-US" sz="1200"/>
                <a:t>therefore law will </a:t>
              </a:r>
              <a:endParaRPr lang="en-US" sz="1200"/>
            </a:p>
            <a:p>
              <a:r>
                <a:rPr lang="en-US" sz="1200"/>
                <a:t>enforce on behalf </a:t>
              </a:r>
              <a:endParaRPr lang="en-US" sz="1200"/>
            </a:p>
            <a:p>
              <a:r>
                <a:rPr lang="en-US" sz="1200"/>
                <a:t>of either party</a:t>
              </a:r>
              <a:endParaRPr lang="en-US" sz="1200"/>
            </a:p>
          </p:txBody>
        </p:sp>
        <p:sp>
          <p:nvSpPr>
            <p:cNvPr id="88085" name="_s1045"/>
            <p:cNvSpPr>
              <a:spLocks noChangeArrowheads="1"/>
            </p:cNvSpPr>
            <p:nvPr/>
          </p:nvSpPr>
          <p:spPr bwMode="auto">
            <a:xfrm>
              <a:off x="8463" y="1589"/>
              <a:ext cx="7554" cy="367"/>
            </a:xfrm>
            <a:prstGeom prst="roundRect">
              <a:avLst>
                <a:gd name="adj" fmla="val 44278"/>
              </a:avLst>
            </a:prstGeom>
            <a:noFill/>
            <a:ln w="28575">
              <a:solidFill>
                <a:srgbClr val="C1BBDD"/>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sz="1200"/>
                <a:t>No legal effect</a:t>
              </a:r>
              <a:endParaRPr lang="en-US" sz="1200"/>
            </a:p>
          </p:txBody>
        </p:sp>
        <p:sp>
          <p:nvSpPr>
            <p:cNvPr id="88086" name="_s1046"/>
            <p:cNvSpPr>
              <a:spLocks noChangeArrowheads="1"/>
            </p:cNvSpPr>
            <p:nvPr/>
          </p:nvSpPr>
          <p:spPr bwMode="auto">
            <a:xfrm>
              <a:off x="16166" y="1589"/>
              <a:ext cx="7554" cy="367"/>
            </a:xfrm>
            <a:prstGeom prst="roundRect">
              <a:avLst>
                <a:gd name="adj" fmla="val 44278"/>
              </a:avLst>
            </a:prstGeom>
            <a:noFill/>
            <a:ln w="28575">
              <a:solidFill>
                <a:srgbClr val="C1BBDD"/>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sz="1200" dirty="0"/>
                <a:t>Entitled to be</a:t>
              </a:r>
              <a:endParaRPr lang="en-US" sz="1200" dirty="0"/>
            </a:p>
            <a:p>
              <a:r>
                <a:rPr lang="en-US" sz="1200" dirty="0"/>
                <a:t>rescinded</a:t>
              </a:r>
              <a:endParaRPr lang="en-US" sz="1200" dirty="0"/>
            </a:p>
            <a:p>
              <a:r>
                <a:rPr lang="en-US" sz="1200" dirty="0"/>
                <a:t>by innocent party</a:t>
              </a:r>
              <a:endParaRPr lang="en-US" sz="1200" dirty="0"/>
            </a:p>
          </p:txBody>
        </p:sp>
        <p:sp>
          <p:nvSpPr>
            <p:cNvPr id="88087" name="_s1047"/>
            <p:cNvSpPr>
              <a:spLocks noChangeArrowheads="1"/>
            </p:cNvSpPr>
            <p:nvPr/>
          </p:nvSpPr>
          <p:spPr bwMode="auto">
            <a:xfrm>
              <a:off x="23869" y="1589"/>
              <a:ext cx="7554" cy="367"/>
            </a:xfrm>
            <a:prstGeom prst="roundRect">
              <a:avLst>
                <a:gd name="adj" fmla="val 44278"/>
              </a:avLst>
            </a:prstGeom>
            <a:noFill/>
            <a:ln w="28575">
              <a:solidFill>
                <a:srgbClr val="C1BBDD"/>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sz="1200"/>
                <a:t>Essential elements</a:t>
              </a:r>
              <a:endParaRPr lang="en-US" sz="1200"/>
            </a:p>
            <a:p>
              <a:r>
                <a:rPr lang="en-US" sz="1200"/>
                <a:t>present but </a:t>
              </a:r>
              <a:endParaRPr lang="en-US" sz="1200"/>
            </a:p>
            <a:p>
              <a:r>
                <a:rPr lang="en-US" sz="1200"/>
                <a:t>technicality</a:t>
              </a:r>
              <a:endParaRPr lang="en-US" sz="1200"/>
            </a:p>
            <a:p>
              <a:r>
                <a:rPr lang="en-US" sz="1200"/>
                <a:t>prevented from being</a:t>
              </a:r>
              <a:endParaRPr lang="en-US" sz="1200"/>
            </a:p>
            <a:p>
              <a:r>
                <a:rPr lang="en-US" sz="1200"/>
                <a:t>enforced</a:t>
              </a:r>
              <a:endParaRPr lang="en-US" sz="1200"/>
            </a:p>
          </p:txBody>
        </p:sp>
        <p:sp>
          <p:nvSpPr>
            <p:cNvPr id="88088" name="_s1048"/>
            <p:cNvSpPr>
              <a:spLocks noChangeArrowheads="1"/>
            </p:cNvSpPr>
            <p:nvPr/>
          </p:nvSpPr>
          <p:spPr bwMode="auto">
            <a:xfrm>
              <a:off x="31572" y="1589"/>
              <a:ext cx="7554" cy="367"/>
            </a:xfrm>
            <a:prstGeom prst="roundRect">
              <a:avLst>
                <a:gd name="adj" fmla="val 44278"/>
              </a:avLst>
            </a:prstGeom>
            <a:noFill/>
            <a:ln w="28575">
              <a:solidFill>
                <a:srgbClr val="C1BBDD"/>
              </a:solidFill>
              <a:round/>
            </a:ln>
            <a:extLst>
              <a:ext uri="{909E8E84-426E-40DD-AFC4-6F175D3DCCD1}">
                <a14:hiddenFill xmlns:a14="http://schemas.microsoft.com/office/drawing/2010/main">
                  <a:solidFill>
                    <a:srgbClr val="FFFFFF"/>
                  </a:solidFill>
                </a14:hiddenFill>
              </a:ext>
            </a:extLst>
          </p:spPr>
          <p:txBody>
            <a:bodyPr wrap="none" lIns="1084" tIns="542" rIns="1084" bIns="542" anchor="ctr"/>
            <a:lstStyle/>
            <a:p>
              <a:r>
                <a:rPr lang="en-US" sz="1200"/>
                <a:t>Purpose or object of</a:t>
              </a:r>
              <a:endParaRPr lang="en-US" sz="1200"/>
            </a:p>
            <a:p>
              <a:r>
                <a:rPr lang="en-US" sz="1200"/>
                <a:t>contract is illegal</a:t>
              </a:r>
              <a:endParaRPr lang="en-US" sz="1200"/>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6781800" cy="1600200"/>
          </a:xfrm>
        </p:spPr>
        <p:txBody>
          <a:bodyPr>
            <a:normAutofit/>
          </a:bodyPr>
          <a:lstStyle/>
          <a:p>
            <a:r>
              <a:rPr lang="en-US" dirty="0">
                <a:latin typeface="Comic Sans MS" panose="030F0702030302020204" pitchFamily="66" charset="0"/>
              </a:rPr>
              <a:t>B.E.M.E</a:t>
            </a:r>
            <a:endParaRPr lang="en-US" dirty="0">
              <a:latin typeface="Comic Sans MS" panose="030F0702030302020204" pitchFamily="66" charset="0"/>
            </a:endParaRPr>
          </a:p>
        </p:txBody>
      </p:sp>
      <p:sp>
        <p:nvSpPr>
          <p:cNvPr id="3" name="Content Placeholder 2"/>
          <p:cNvSpPr>
            <a:spLocks noGrp="1"/>
          </p:cNvSpPr>
          <p:nvPr>
            <p:ph idx="1"/>
          </p:nvPr>
        </p:nvSpPr>
        <p:spPr>
          <a:xfrm>
            <a:off x="228600" y="1676400"/>
            <a:ext cx="8305800" cy="4419600"/>
          </a:xfrm>
        </p:spPr>
        <p:txBody>
          <a:bodyPr>
            <a:normAutofit/>
          </a:bodyPr>
          <a:lstStyle/>
          <a:p>
            <a:pPr marL="68580" indent="0" algn="just">
              <a:buNone/>
            </a:pPr>
            <a:r>
              <a:rPr lang="en-US" sz="3200" dirty="0">
                <a:latin typeface="Times New Roman" panose="02020603050405020304" pitchFamily="18" charset="0"/>
                <a:cs typeface="Times New Roman" panose="02020603050405020304" pitchFamily="18" charset="0"/>
              </a:rPr>
              <a:t>B.E.M.E is an abbreviation for the Bill of Engineering Measurement and Evaluation which is one of the essential documents in bidding for a contract. It presents the extent or </a:t>
            </a:r>
            <a:r>
              <a:rPr lang="en-US" sz="3200" u="sng" dirty="0">
                <a:latin typeface="Times New Roman" panose="02020603050405020304" pitchFamily="18" charset="0"/>
                <a:cs typeface="Times New Roman" panose="02020603050405020304" pitchFamily="18" charset="0"/>
              </a:rPr>
              <a:t>quantity of work </a:t>
            </a:r>
            <a:r>
              <a:rPr lang="en-US" sz="3200" dirty="0">
                <a:latin typeface="Times New Roman" panose="02020603050405020304" pitchFamily="18" charset="0"/>
                <a:cs typeface="Times New Roman" panose="02020603050405020304" pitchFamily="18" charset="0"/>
              </a:rPr>
              <a:t>to be done with </a:t>
            </a:r>
            <a:r>
              <a:rPr lang="en-US" sz="3200" u="sng" dirty="0">
                <a:latin typeface="Times New Roman" panose="02020603050405020304" pitchFamily="18" charset="0"/>
                <a:cs typeface="Times New Roman" panose="02020603050405020304" pitchFamily="18" charset="0"/>
              </a:rPr>
              <a:t>specifications</a:t>
            </a:r>
            <a:r>
              <a:rPr lang="en-US" sz="3200" dirty="0">
                <a:latin typeface="Times New Roman" panose="02020603050405020304" pitchFamily="18" charset="0"/>
                <a:cs typeface="Times New Roman" panose="02020603050405020304" pitchFamily="18" charset="0"/>
              </a:rPr>
              <a:t> as prepared by the client to be </a:t>
            </a:r>
            <a:r>
              <a:rPr lang="en-US" sz="3200" u="sng" dirty="0">
                <a:latin typeface="Times New Roman" panose="02020603050405020304" pitchFamily="18" charset="0"/>
                <a:cs typeface="Times New Roman" panose="02020603050405020304" pitchFamily="18" charset="0"/>
              </a:rPr>
              <a:t>evaluated</a:t>
            </a:r>
            <a:r>
              <a:rPr lang="en-US" sz="3200" dirty="0">
                <a:latin typeface="Times New Roman" panose="02020603050405020304" pitchFamily="18" charset="0"/>
                <a:cs typeface="Times New Roman" panose="02020603050405020304" pitchFamily="18" charset="0"/>
              </a:rPr>
              <a:t> by the contractor bidding for the contract in order to arrive at a contract sum for the project. </a:t>
            </a:r>
            <a:endParaRPr lang="en-US" sz="3200" dirty="0">
              <a:latin typeface="Times New Roman" panose="02020603050405020304" pitchFamily="18" charset="0"/>
              <a:cs typeface="Times New Roman" panose="02020603050405020304" pitchFamily="18" charset="0"/>
            </a:endParaRPr>
          </a:p>
          <a:p>
            <a:pPr marL="68580"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5867400" y="6208776"/>
            <a:ext cx="2514600" cy="365125"/>
          </a:xfrm>
        </p:spPr>
        <p:txBody>
          <a:bodyPr/>
          <a:lstStyle/>
          <a:p>
            <a:fld id="{CFDE3D0D-3A40-4C65-9841-9A2AB9752D6D}" type="datetime2">
              <a:rPr lang="en-US" smtClean="0"/>
            </a:fld>
            <a:endParaRPr lang="en-US" dirty="0"/>
          </a:p>
        </p:txBody>
      </p:sp>
      <p:sp>
        <p:nvSpPr>
          <p:cNvPr id="5" name="Slide Number Placeholder 4"/>
          <p:cNvSpPr>
            <a:spLocks noGrp="1"/>
          </p:cNvSpPr>
          <p:nvPr>
            <p:ph type="sldNum" sz="quarter" idx="12"/>
          </p:nvPr>
        </p:nvSpPr>
        <p:spPr/>
        <p:txBody>
          <a:bodyPr/>
          <a:lstStyle/>
          <a:p>
            <a:fld id="{5642B8DD-2B12-4B9D-A614-F48D485E5CE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88640"/>
            <a:ext cx="7024744" cy="990600"/>
          </a:xfrm>
        </p:spPr>
        <p:txBody>
          <a:bodyPr>
            <a:normAutofit/>
          </a:bodyPr>
          <a:lstStyle/>
          <a:p>
            <a:r>
              <a:rPr lang="en-US" dirty="0">
                <a:latin typeface="Comic Sans MS" panose="030F0702030302020204" pitchFamily="66" charset="0"/>
              </a:rPr>
              <a:t>ELEMENTS OF B.E.M.E</a:t>
            </a:r>
            <a:endParaRPr lang="en-US" dirty="0">
              <a:latin typeface="Comic Sans MS" panose="030F0702030302020204" pitchFamily="66" charset="0"/>
            </a:endParaRPr>
          </a:p>
        </p:txBody>
      </p:sp>
      <p:sp>
        <p:nvSpPr>
          <p:cNvPr id="6" name="Date Placeholder 5"/>
          <p:cNvSpPr>
            <a:spLocks noGrp="1"/>
          </p:cNvSpPr>
          <p:nvPr>
            <p:ph type="dt" sz="half" idx="10"/>
          </p:nvPr>
        </p:nvSpPr>
        <p:spPr>
          <a:xfrm>
            <a:off x="5943600" y="6208776"/>
            <a:ext cx="2438400" cy="365125"/>
          </a:xfrm>
        </p:spPr>
        <p:txBody>
          <a:bodyPr/>
          <a:lstStyle/>
          <a:p>
            <a:fld id="{8A51B2A6-266E-4243-A7CB-D18B711BCCE0}" type="datetime2">
              <a:rPr lang="en-US" smtClean="0"/>
            </a:fld>
            <a:endParaRPr lang="en-US" dirty="0"/>
          </a:p>
        </p:txBody>
      </p:sp>
      <p:sp>
        <p:nvSpPr>
          <p:cNvPr id="7" name="Slide Number Placeholder 6"/>
          <p:cNvSpPr>
            <a:spLocks noGrp="1"/>
          </p:cNvSpPr>
          <p:nvPr>
            <p:ph type="sldNum" sz="quarter" idx="12"/>
          </p:nvPr>
        </p:nvSpPr>
        <p:spPr/>
        <p:txBody>
          <a:bodyPr/>
          <a:lstStyle/>
          <a:p>
            <a:fld id="{5642B8DD-2B12-4B9D-A614-F48D485E5CEB}" type="slidenum">
              <a:rPr lang="en-US" smtClean="0"/>
            </a:fld>
            <a:endParaRPr lang="en-US"/>
          </a:p>
        </p:txBody>
      </p:sp>
      <p:graphicFrame>
        <p:nvGraphicFramePr>
          <p:cNvPr id="5" name="Diagram 4"/>
          <p:cNvGraphicFramePr/>
          <p:nvPr/>
        </p:nvGraphicFramePr>
        <p:xfrm>
          <a:off x="251520" y="1124744"/>
          <a:ext cx="8640960" cy="561662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914400"/>
            <a:ext cx="7696200" cy="1295400"/>
          </a:xfrm>
        </p:spPr>
        <p:txBody>
          <a:bodyPr>
            <a:normAutofit fontScale="85000" lnSpcReduction="20000"/>
          </a:bodyPr>
          <a:lstStyle/>
          <a:p>
            <a:pPr>
              <a:buFont typeface="Wingdings" panose="05000000000000000000" pitchFamily="2" charset="2"/>
              <a:buChar char="Ø"/>
            </a:pPr>
            <a:r>
              <a:rPr lang="en-US" dirty="0"/>
              <a:t> </a:t>
            </a:r>
            <a:r>
              <a:rPr lang="en-US" b="1" dirty="0">
                <a:latin typeface="Comic Sans MS" panose="030F0702030302020204" pitchFamily="66" charset="0"/>
              </a:rPr>
              <a:t>HEADING</a:t>
            </a:r>
            <a:endParaRPr lang="en-US" b="1" dirty="0">
              <a:latin typeface="Comic Sans MS" panose="030F0702030302020204" pitchFamily="66" charset="0"/>
            </a:endParaRPr>
          </a:p>
          <a:p>
            <a:pPr marL="68580" indent="0">
              <a:buNone/>
            </a:pPr>
            <a:r>
              <a:rPr lang="en-US" dirty="0">
                <a:latin typeface="Times New Roman" panose="02020603050405020304" pitchFamily="18" charset="0"/>
                <a:cs typeface="Times New Roman" panose="02020603050405020304" pitchFamily="18" charset="0"/>
              </a:rPr>
              <a:t>The heading shows the name of the </a:t>
            </a:r>
            <a:r>
              <a:rPr lang="en-US" dirty="0" err="1">
                <a:latin typeface="Times New Roman" panose="02020603050405020304" pitchFamily="18" charset="0"/>
                <a:cs typeface="Times New Roman" panose="02020603050405020304" pitchFamily="18" charset="0"/>
              </a:rPr>
              <a:t>client,the</a:t>
            </a:r>
            <a:r>
              <a:rPr lang="en-US" dirty="0">
                <a:latin typeface="Times New Roman" panose="02020603050405020304" pitchFamily="18" charset="0"/>
                <a:cs typeface="Times New Roman" panose="02020603050405020304" pitchFamily="18" charset="0"/>
              </a:rPr>
              <a:t> project Name and other basic information on the project e.g. the length, width, </a:t>
            </a:r>
            <a:r>
              <a:rPr lang="en-US" dirty="0" err="1">
                <a:latin typeface="Times New Roman" panose="02020603050405020304" pitchFamily="18" charset="0"/>
                <a:cs typeface="Times New Roman" panose="02020603050405020304" pitchFamily="18" charset="0"/>
              </a:rPr>
              <a:t>dualised</a:t>
            </a:r>
            <a:r>
              <a:rPr lang="en-US" dirty="0">
                <a:latin typeface="Times New Roman" panose="02020603050405020304" pitchFamily="18" charset="0"/>
                <a:cs typeface="Times New Roman" panose="02020603050405020304" pitchFamily="18" charset="0"/>
              </a:rPr>
              <a:t> or single lane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68580" indent="0">
              <a:buNone/>
            </a:pPr>
            <a:endParaRPr lang="en-US" dirty="0">
              <a:latin typeface="Times New Roman" panose="02020603050405020304" pitchFamily="18" charset="0"/>
              <a:cs typeface="Times New Roman" panose="02020603050405020304" pitchFamily="18" charset="0"/>
            </a:endParaRPr>
          </a:p>
          <a:p>
            <a:pPr marL="68580" indent="0">
              <a:buNone/>
            </a:pPr>
            <a:endParaRPr lang="en-US" dirty="0"/>
          </a:p>
        </p:txBody>
      </p:sp>
      <p:sp>
        <p:nvSpPr>
          <p:cNvPr id="6" name="Date Placeholder 5"/>
          <p:cNvSpPr>
            <a:spLocks noGrp="1"/>
          </p:cNvSpPr>
          <p:nvPr>
            <p:ph type="dt" sz="half" idx="10"/>
          </p:nvPr>
        </p:nvSpPr>
        <p:spPr>
          <a:xfrm>
            <a:off x="6019800" y="6208776"/>
            <a:ext cx="2362200" cy="365125"/>
          </a:xfrm>
        </p:spPr>
        <p:txBody>
          <a:bodyPr/>
          <a:lstStyle/>
          <a:p>
            <a:fld id="{10A31DCC-2F71-438B-9193-177F584FDFD4}" type="datetime2">
              <a:rPr lang="en-US" smtClean="0"/>
            </a:fld>
            <a:endParaRPr lang="en-US" dirty="0"/>
          </a:p>
        </p:txBody>
      </p:sp>
      <p:sp>
        <p:nvSpPr>
          <p:cNvPr id="7" name="Slide Number Placeholder 6"/>
          <p:cNvSpPr>
            <a:spLocks noGrp="1"/>
          </p:cNvSpPr>
          <p:nvPr>
            <p:ph type="sldNum" sz="quarter" idx="12"/>
          </p:nvPr>
        </p:nvSpPr>
        <p:spPr/>
        <p:txBody>
          <a:bodyPr/>
          <a:lstStyle/>
          <a:p>
            <a:fld id="{5642B8DD-2B12-4B9D-A614-F48D485E5CEB}" type="slidenum">
              <a:rPr lang="en-US" smtClean="0"/>
            </a:fld>
            <a:endParaRPr lang="en-US"/>
          </a:p>
        </p:txBody>
      </p:sp>
      <p:graphicFrame>
        <p:nvGraphicFramePr>
          <p:cNvPr id="5" name="Table 4"/>
          <p:cNvGraphicFramePr>
            <a:graphicFrameLocks noGrp="1"/>
          </p:cNvGraphicFramePr>
          <p:nvPr/>
        </p:nvGraphicFramePr>
        <p:xfrm>
          <a:off x="179511" y="2204866"/>
          <a:ext cx="8640962" cy="4604595"/>
        </p:xfrm>
        <a:graphic>
          <a:graphicData uri="http://schemas.openxmlformats.org/drawingml/2006/table">
            <a:tbl>
              <a:tblPr>
                <a:tableStyleId>{8799B23B-EC83-4686-B30A-512413B5E67A}</a:tableStyleId>
              </a:tblPr>
              <a:tblGrid>
                <a:gridCol w="751388"/>
                <a:gridCol w="3356200"/>
                <a:gridCol w="1102036"/>
                <a:gridCol w="1152128"/>
                <a:gridCol w="889143"/>
                <a:gridCol w="1390067"/>
              </a:tblGrid>
              <a:tr h="256313">
                <a:tc gridSpan="2">
                  <a:txBody>
                    <a:bodyPr/>
                    <a:lstStyle/>
                    <a:p>
                      <a:pPr algn="l" fontAlgn="b"/>
                      <a:r>
                        <a:rPr lang="en-US" sz="1400" u="none" strike="noStrike" dirty="0">
                          <a:effectLst/>
                        </a:rPr>
                        <a:t>EKITI STATE GOVERNMENT</a:t>
                      </a:r>
                      <a:endParaRPr lang="en-US" sz="1400" b="1" i="0" u="none" strike="noStrike" dirty="0">
                        <a:solidFill>
                          <a:srgbClr val="000000"/>
                        </a:solidFill>
                        <a:effectLst/>
                        <a:latin typeface="Times New Roman" panose="02020603050405020304"/>
                      </a:endParaRPr>
                    </a:p>
                  </a:txBody>
                  <a:tcPr marL="9525" marR="9525" marT="9525" marB="0" anchor="b">
                    <a:cell3D prstMaterial="dkEdge">
                      <a:bevel prst="convex"/>
                      <a:lightRig rig="flood" dir="t"/>
                    </a:cell3D>
                    <a:solidFill>
                      <a:srgbClr val="FFFF00"/>
                    </a:solidFill>
                  </a:tcPr>
                </a:tc>
                <a:tc hMerge="1">
                  <a:tcPr/>
                </a:tc>
                <a:tc>
                  <a:txBody>
                    <a:bodyPr/>
                    <a:lstStyle/>
                    <a:p>
                      <a:pPr algn="l" fontAlgn="b"/>
                      <a:endParaRPr lang="en-US" sz="1400" b="1" i="0" u="none" strike="noStrike" dirty="0">
                        <a:solidFill>
                          <a:srgbClr val="000000"/>
                        </a:solidFill>
                        <a:effectLst/>
                        <a:latin typeface="Arial" panose="020B0604020202020204"/>
                      </a:endParaRPr>
                    </a:p>
                  </a:txBody>
                  <a:tcPr marL="9525" marR="9525" marT="9525" marB="0" anchor="b">
                    <a:cell3D prstMaterial="dkEdge">
                      <a:bevel prst="convex"/>
                      <a:lightRig rig="flood" dir="t"/>
                    </a:cell3D>
                    <a:solidFill>
                      <a:srgbClr val="FFFF00"/>
                    </a:solidFill>
                  </a:tcPr>
                </a:tc>
                <a:tc>
                  <a:txBody>
                    <a:bodyPr/>
                    <a:lstStyle/>
                    <a:p>
                      <a:pPr algn="ctr" fontAlgn="b"/>
                      <a:endParaRPr lang="en-US" sz="1400" b="1" i="0" u="none" strike="noStrike">
                        <a:solidFill>
                          <a:srgbClr val="000000"/>
                        </a:solidFill>
                        <a:effectLst/>
                        <a:latin typeface="Arial" panose="020B0604020202020204"/>
                      </a:endParaRPr>
                    </a:p>
                  </a:txBody>
                  <a:tcPr marL="9525" marR="9525" marT="9525" marB="0" anchor="b">
                    <a:cell3D prstMaterial="dkEdge">
                      <a:bevel prst="convex"/>
                      <a:lightRig rig="flood" dir="t"/>
                    </a:cell3D>
                    <a:solidFill>
                      <a:srgbClr val="FFFF00"/>
                    </a:solidFill>
                  </a:tcPr>
                </a:tc>
                <a:tc>
                  <a:txBody>
                    <a:bodyPr/>
                    <a:lstStyle/>
                    <a:p>
                      <a:pPr algn="ctr" fontAlgn="b"/>
                      <a:endParaRPr lang="en-US" sz="1400" b="1" i="0" u="none" strike="noStrike">
                        <a:solidFill>
                          <a:srgbClr val="000000"/>
                        </a:solidFill>
                        <a:effectLst/>
                        <a:latin typeface="Arial" panose="020B0604020202020204"/>
                      </a:endParaRPr>
                    </a:p>
                  </a:txBody>
                  <a:tcPr marL="9525" marR="9525" marT="9525" marB="0" anchor="b">
                    <a:cell3D prstMaterial="dkEdge">
                      <a:bevel prst="convex"/>
                      <a:lightRig rig="flood" dir="t"/>
                    </a:cell3D>
                    <a:solidFill>
                      <a:srgbClr val="FFFF00"/>
                    </a:solidFill>
                  </a:tcPr>
                </a:tc>
                <a:tc>
                  <a:txBody>
                    <a:bodyPr/>
                    <a:lstStyle/>
                    <a:p>
                      <a:pPr algn="ctr" fontAlgn="b"/>
                      <a:endParaRPr lang="en-US" sz="1400" b="1" i="0" u="none" strike="noStrike">
                        <a:solidFill>
                          <a:srgbClr val="000000"/>
                        </a:solidFill>
                        <a:effectLst/>
                        <a:latin typeface="Arial" panose="020B0604020202020204"/>
                      </a:endParaRPr>
                    </a:p>
                  </a:txBody>
                  <a:tcPr marL="9525" marR="9525" marT="9525" marB="0" anchor="b">
                    <a:cell3D prstMaterial="dkEdge">
                      <a:bevel prst="convex"/>
                      <a:lightRig rig="flood" dir="t"/>
                    </a:cell3D>
                    <a:solidFill>
                      <a:srgbClr val="FFFF00"/>
                    </a:solidFill>
                  </a:tcPr>
                </a:tc>
              </a:tr>
              <a:tr h="329575">
                <a:tc gridSpan="4">
                  <a:txBody>
                    <a:bodyPr/>
                    <a:lstStyle/>
                    <a:p>
                      <a:pPr algn="l" fontAlgn="b"/>
                      <a:r>
                        <a:rPr lang="en-US" sz="1400" u="none" strike="noStrike" dirty="0">
                          <a:effectLst/>
                        </a:rPr>
                        <a:t>MINISTRY OF WORKS AND INFRASTRUCTURES, ADO-EKITI.</a:t>
                      </a:r>
                      <a:endParaRPr lang="en-US" sz="1400" b="1" i="0" u="none" strike="noStrike" dirty="0">
                        <a:solidFill>
                          <a:srgbClr val="000000"/>
                        </a:solidFill>
                        <a:effectLst/>
                        <a:latin typeface="Times New Roman" panose="02020603050405020304"/>
                      </a:endParaRPr>
                    </a:p>
                  </a:txBody>
                  <a:tcPr marL="9525" marR="9525" marT="9525" marB="0" anchor="b">
                    <a:cell3D prstMaterial="dkEdge">
                      <a:bevel prst="convex"/>
                      <a:lightRig rig="flood" dir="t"/>
                    </a:cell3D>
                    <a:solidFill>
                      <a:srgbClr val="FFFF00"/>
                    </a:solidFill>
                  </a:tcPr>
                </a:tc>
                <a:tc hMerge="1">
                  <a:tcPr/>
                </a:tc>
                <a:tc hMerge="1">
                  <a:tcPr/>
                </a:tc>
                <a:tc hMerge="1">
                  <a:tcPr/>
                </a:tc>
                <a:tc gridSpan="2">
                  <a:txBody>
                    <a:bodyPr/>
                    <a:lstStyle/>
                    <a:p>
                      <a:pPr algn="l" fontAlgn="b"/>
                      <a:r>
                        <a:rPr lang="en-US" sz="1400" u="none" strike="noStrike">
                          <a:effectLst/>
                        </a:rPr>
                        <a:t>LENGTH = 30.2Km</a:t>
                      </a:r>
                      <a:endParaRPr lang="en-US" sz="1400" b="1" i="0" u="none" strike="noStrike">
                        <a:solidFill>
                          <a:srgbClr val="000000"/>
                        </a:solidFill>
                        <a:effectLst/>
                        <a:latin typeface="Arial" panose="020B0604020202020204"/>
                      </a:endParaRPr>
                    </a:p>
                  </a:txBody>
                  <a:tcPr marL="9525" marR="9525" marT="9525" marB="0" anchor="b">
                    <a:cell3D prstMaterial="dkEdge">
                      <a:bevel prst="convex"/>
                      <a:lightRig rig="flood" dir="t"/>
                    </a:cell3D>
                    <a:solidFill>
                      <a:srgbClr val="FFFF00"/>
                    </a:solidFill>
                  </a:tcPr>
                </a:tc>
                <a:tc hMerge="1">
                  <a:tcPr/>
                </a:tc>
              </a:tr>
              <a:tr h="346054">
                <a:tc gridSpan="3">
                  <a:txBody>
                    <a:bodyPr/>
                    <a:lstStyle/>
                    <a:p>
                      <a:pPr algn="l" fontAlgn="b"/>
                      <a:r>
                        <a:rPr lang="en-US" sz="1400" u="none" strike="noStrike">
                          <a:effectLst/>
                        </a:rPr>
                        <a:t>REHABILITATION OF AGBADO  - ODE - OMUO ROAD</a:t>
                      </a:r>
                      <a:endParaRPr lang="en-US" sz="1400" b="1" i="0" u="none" strike="noStrike">
                        <a:solidFill>
                          <a:srgbClr val="000000"/>
                        </a:solidFill>
                        <a:effectLst/>
                        <a:latin typeface="Times New Roman" panose="02020603050405020304"/>
                      </a:endParaRPr>
                    </a:p>
                  </a:txBody>
                  <a:tcPr marL="9525" marR="9525" marT="9525" marB="0" anchor="b">
                    <a:cell3D prstMaterial="dkEdge">
                      <a:bevel prst="convex"/>
                      <a:lightRig rig="flood" dir="t"/>
                    </a:cell3D>
                    <a:solidFill>
                      <a:srgbClr val="FFFF00"/>
                    </a:solidFill>
                  </a:tcPr>
                </a:tc>
                <a:tc hMerge="1">
                  <a:tcPr/>
                </a:tc>
                <a:tc hMerge="1">
                  <a:tcPr/>
                </a:tc>
                <a:tc>
                  <a:txBody>
                    <a:bodyPr/>
                    <a:lstStyle/>
                    <a:p>
                      <a:pPr algn="ctr" fontAlgn="b"/>
                      <a:endParaRPr lang="en-US" sz="1400" b="1" i="0" u="none" strike="noStrike" dirty="0">
                        <a:solidFill>
                          <a:srgbClr val="000000"/>
                        </a:solidFill>
                        <a:effectLst/>
                        <a:latin typeface="Arial" panose="020B0604020202020204"/>
                      </a:endParaRPr>
                    </a:p>
                  </a:txBody>
                  <a:tcPr marL="9525" marR="9525" marT="9525" marB="0" anchor="b">
                    <a:cell3D prstMaterial="dkEdge">
                      <a:bevel prst="convex"/>
                      <a:lightRig rig="flood" dir="t"/>
                    </a:cell3D>
                    <a:solidFill>
                      <a:srgbClr val="FFFF00"/>
                    </a:solidFill>
                  </a:tcPr>
                </a:tc>
                <a:tc gridSpan="2">
                  <a:txBody>
                    <a:bodyPr/>
                    <a:lstStyle/>
                    <a:p>
                      <a:pPr algn="l" fontAlgn="b"/>
                      <a:r>
                        <a:rPr lang="en-US" sz="1400" u="none" strike="noStrike" dirty="0">
                          <a:effectLst/>
                        </a:rPr>
                        <a:t>AVEGARE WIDTH = 7.8M</a:t>
                      </a:r>
                      <a:endParaRPr lang="en-US" sz="1400" b="1" i="0" u="none" strike="noStrike" dirty="0">
                        <a:solidFill>
                          <a:srgbClr val="000000"/>
                        </a:solidFill>
                        <a:effectLst/>
                        <a:latin typeface="Arial" panose="020B0604020202020204"/>
                      </a:endParaRPr>
                    </a:p>
                  </a:txBody>
                  <a:tcPr marL="9525" marR="9525" marT="9525" marB="0" anchor="b">
                    <a:cell3D prstMaterial="dkEdge">
                      <a:bevel prst="convex"/>
                      <a:lightRig rig="flood" dir="t"/>
                    </a:cell3D>
                    <a:solidFill>
                      <a:srgbClr val="FFFF00"/>
                    </a:solidFill>
                  </a:tcPr>
                </a:tc>
                <a:tc hMerge="1">
                  <a:tcPr/>
                </a:tc>
              </a:tr>
              <a:tr h="346054">
                <a:tc>
                  <a:txBody>
                    <a:bodyPr/>
                    <a:lstStyle/>
                    <a:p>
                      <a:pPr algn="l" fontAlgn="b"/>
                      <a:endParaRPr lang="en-US" sz="1200" b="1" i="0" u="none" strike="noStrike">
                        <a:solidFill>
                          <a:srgbClr val="000000"/>
                        </a:solidFill>
                        <a:effectLst/>
                        <a:latin typeface="Times New Roman" panose="02020603050405020304"/>
                      </a:endParaRPr>
                    </a:p>
                  </a:txBody>
                  <a:tcPr marL="9525" marR="9525" marT="9525" marB="0" anchor="b">
                    <a:cell3D prstMaterial="dkEdge">
                      <a:bevel prst="convex"/>
                      <a:lightRig rig="flood" dir="t"/>
                    </a:cell3D>
                  </a:tcPr>
                </a:tc>
                <a:tc>
                  <a:txBody>
                    <a:bodyPr/>
                    <a:lstStyle/>
                    <a:p>
                      <a:pPr algn="l" fontAlgn="b"/>
                      <a:endParaRPr lang="en-US" sz="1200" b="0" i="0" u="none" strike="noStrike" dirty="0">
                        <a:solidFill>
                          <a:srgbClr val="000000"/>
                        </a:solidFill>
                        <a:effectLst/>
                        <a:latin typeface="Arial" panose="020B0604020202020204"/>
                      </a:endParaRPr>
                    </a:p>
                  </a:txBody>
                  <a:tcPr marL="9525" marR="9525" marT="9525" marB="0" anchor="b">
                    <a:cell3D prstMaterial="dkEdge">
                      <a:bevel prst="convex"/>
                      <a:lightRig rig="flood" dir="t"/>
                    </a:cell3D>
                  </a:tcPr>
                </a:tc>
                <a:tc>
                  <a:txBody>
                    <a:bodyPr/>
                    <a:lstStyle/>
                    <a:p>
                      <a:pPr algn="ctr" fontAlgn="b"/>
                      <a:endParaRPr lang="en-US" sz="800" b="1" i="0" u="none" strike="noStrike">
                        <a:solidFill>
                          <a:srgbClr val="000000"/>
                        </a:solidFill>
                        <a:effectLst/>
                        <a:latin typeface="Tahoma" panose="020B0604030504040204"/>
                      </a:endParaRPr>
                    </a:p>
                  </a:txBody>
                  <a:tcPr marL="9525" marR="9525" marT="9525" marB="0" anchor="b">
                    <a:cell3D prstMaterial="dkEdge">
                      <a:bevel prst="convex"/>
                      <a:lightRig rig="flood" dir="t"/>
                    </a:cell3D>
                  </a:tcPr>
                </a:tc>
                <a:tc>
                  <a:txBody>
                    <a:bodyPr/>
                    <a:lstStyle/>
                    <a:p>
                      <a:pPr algn="ctr" fontAlgn="b"/>
                      <a:endParaRPr lang="en-US" sz="1200" b="0" i="0" u="none" strike="noStrike">
                        <a:solidFill>
                          <a:srgbClr val="000000"/>
                        </a:solidFill>
                        <a:effectLst/>
                        <a:latin typeface="Arial" panose="020B0604020202020204"/>
                      </a:endParaRPr>
                    </a:p>
                  </a:txBody>
                  <a:tcPr marL="9525" marR="9525" marT="9525" marB="0" anchor="b">
                    <a:cell3D prstMaterial="dkEdge">
                      <a:bevel prst="convex"/>
                      <a:lightRig rig="flood" dir="t"/>
                    </a:cell3D>
                  </a:tcPr>
                </a:tc>
                <a:tc>
                  <a:txBody>
                    <a:bodyPr/>
                    <a:lstStyle/>
                    <a:p>
                      <a:pPr algn="l" fontAlgn="b"/>
                      <a:endParaRPr lang="en-US" sz="1000" b="1" i="0" u="none" strike="noStrike">
                        <a:solidFill>
                          <a:srgbClr val="000000"/>
                        </a:solidFill>
                        <a:effectLst/>
                        <a:latin typeface="Arial" panose="020B0604020202020204"/>
                      </a:endParaRPr>
                    </a:p>
                  </a:txBody>
                  <a:tcPr marL="9525" marR="9525" marT="9525" marB="0" anchor="b">
                    <a:cell3D prstMaterial="dkEdge">
                      <a:bevel prst="convex"/>
                      <a:lightRig rig="flood" dir="t"/>
                    </a:cell3D>
                  </a:tcPr>
                </a:tc>
                <a:tc>
                  <a:txBody>
                    <a:bodyPr/>
                    <a:lstStyle/>
                    <a:p>
                      <a:pPr algn="l" fontAlgn="b"/>
                      <a:endParaRPr lang="en-US" sz="1000" b="1" i="0" u="none" strike="noStrike" dirty="0">
                        <a:solidFill>
                          <a:srgbClr val="000000"/>
                        </a:solidFill>
                        <a:effectLst/>
                        <a:latin typeface="Arial" panose="020B0604020202020204"/>
                      </a:endParaRPr>
                    </a:p>
                  </a:txBody>
                  <a:tcPr marL="9525" marR="9525" marT="9525" marB="0" anchor="b">
                    <a:cell3D prstMaterial="dkEdge">
                      <a:bevel prst="convex"/>
                      <a:lightRig rig="flood" dir="t"/>
                    </a:cell3D>
                  </a:tcPr>
                </a:tc>
              </a:tr>
              <a:tr h="346054">
                <a:tc gridSpan="3">
                  <a:txBody>
                    <a:bodyPr/>
                    <a:lstStyle/>
                    <a:p>
                      <a:pPr algn="l" fontAlgn="b"/>
                      <a:r>
                        <a:rPr lang="en-US" sz="1800" u="none" strike="noStrike">
                          <a:effectLst/>
                        </a:rPr>
                        <a:t>Bill NO1: GENERAL AND PROVISIONAL SUMS</a:t>
                      </a:r>
                      <a:endParaRPr lang="en-US" sz="1800" b="1" i="0" u="none" strike="noStrike">
                        <a:solidFill>
                          <a:srgbClr val="000000"/>
                        </a:solidFill>
                        <a:effectLst/>
                        <a:latin typeface="Times New Roman" panose="02020603050405020304"/>
                      </a:endParaRPr>
                    </a:p>
                  </a:txBody>
                  <a:tcPr marL="9525" marR="9525" marT="9525" marB="0" anchor="b">
                    <a:cell3D prstMaterial="dkEdge">
                      <a:bevel prst="convex"/>
                      <a:lightRig rig="flood" dir="t"/>
                    </a:cell3D>
                  </a:tcPr>
                </a:tc>
                <a:tc hMerge="1">
                  <a:tcPr/>
                </a:tc>
                <a:tc hMerge="1">
                  <a:tcPr/>
                </a:tc>
                <a:tc>
                  <a:txBody>
                    <a:bodyPr/>
                    <a:lstStyle/>
                    <a:p>
                      <a:pPr algn="ctr" fontAlgn="b"/>
                      <a:endParaRPr lang="en-US" sz="1800" b="0" i="0" u="none" strike="noStrike">
                        <a:solidFill>
                          <a:srgbClr val="000000"/>
                        </a:solidFill>
                        <a:effectLst/>
                        <a:latin typeface="Arial" panose="020B0604020202020204"/>
                      </a:endParaRPr>
                    </a:p>
                  </a:txBody>
                  <a:tcPr marL="9525" marR="9525" marT="9525" marB="0" anchor="b">
                    <a:cell3D prstMaterial="dkEdge">
                      <a:bevel prst="convex"/>
                      <a:lightRig rig="flood" dir="t"/>
                    </a:cell3D>
                  </a:tcPr>
                </a:tc>
                <a:tc>
                  <a:txBody>
                    <a:bodyPr/>
                    <a:lstStyle/>
                    <a:p>
                      <a:pPr algn="ctr" fontAlgn="b"/>
                      <a:endParaRPr lang="en-US" sz="1800" b="0" i="0" u="none" strike="noStrike">
                        <a:solidFill>
                          <a:srgbClr val="000000"/>
                        </a:solidFill>
                        <a:effectLst/>
                        <a:latin typeface="Arial" panose="020B0604020202020204"/>
                      </a:endParaRPr>
                    </a:p>
                  </a:txBody>
                  <a:tcPr marL="9525" marR="9525" marT="9525" marB="0" anchor="b">
                    <a:cell3D prstMaterial="dkEdge">
                      <a:bevel prst="convex"/>
                      <a:lightRig rig="flood" dir="t"/>
                    </a:cell3D>
                  </a:tcPr>
                </a:tc>
                <a:tc>
                  <a:txBody>
                    <a:bodyPr/>
                    <a:lstStyle/>
                    <a:p>
                      <a:pPr algn="ctr" fontAlgn="b"/>
                      <a:endParaRPr lang="en-US" sz="1800" b="0" i="0" u="none" strike="noStrike">
                        <a:solidFill>
                          <a:srgbClr val="000000"/>
                        </a:solidFill>
                        <a:effectLst/>
                        <a:latin typeface="Arial" panose="020B0604020202020204"/>
                      </a:endParaRPr>
                    </a:p>
                  </a:txBody>
                  <a:tcPr marL="9525" marR="9525" marT="9525" marB="0" anchor="b">
                    <a:cell3D prstMaterial="dkEdge">
                      <a:bevel prst="convex"/>
                      <a:lightRig rig="flood" dir="t"/>
                    </a:cell3D>
                  </a:tcPr>
                </a:tc>
              </a:tr>
              <a:tr h="346054">
                <a:tc>
                  <a:txBody>
                    <a:bodyPr/>
                    <a:lstStyle/>
                    <a:p>
                      <a:pPr algn="l" fontAlgn="ctr"/>
                      <a:r>
                        <a:rPr lang="en-US" sz="1800" u="none" strike="noStrike">
                          <a:effectLst/>
                        </a:rPr>
                        <a:t>ITEM</a:t>
                      </a:r>
                      <a:endParaRPr lang="en-US" sz="1800" b="1"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l" fontAlgn="ctr"/>
                      <a:r>
                        <a:rPr lang="en-US" sz="1800" u="none" strike="noStrike">
                          <a:effectLst/>
                        </a:rPr>
                        <a:t>DESCRIPTION</a:t>
                      </a:r>
                      <a:endParaRPr lang="en-US" sz="1800" b="1"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l" fontAlgn="ctr"/>
                      <a:r>
                        <a:rPr lang="en-US" sz="1800" u="none" strike="noStrike">
                          <a:effectLst/>
                        </a:rPr>
                        <a:t>UNIT</a:t>
                      </a:r>
                      <a:endParaRPr lang="en-US" sz="1800" b="1"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l" fontAlgn="ctr"/>
                      <a:r>
                        <a:rPr lang="en-US" sz="1800" u="none" strike="noStrike" dirty="0">
                          <a:effectLst/>
                        </a:rPr>
                        <a:t>QUANTITY</a:t>
                      </a:r>
                      <a:endParaRPr lang="en-US" sz="1800" b="1" i="0" u="none" strike="noStrike" dirty="0">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l" fontAlgn="ctr"/>
                      <a:r>
                        <a:rPr lang="en-US" sz="1800" u="none" strike="noStrike">
                          <a:effectLst/>
                        </a:rPr>
                        <a:t>RATE</a:t>
                      </a:r>
                      <a:endParaRPr lang="en-US" sz="1800" b="1"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l" fontAlgn="ctr"/>
                      <a:r>
                        <a:rPr lang="en-US" sz="1800" u="none" strike="noStrike" dirty="0">
                          <a:effectLst/>
                        </a:rPr>
                        <a:t>AMOUNT </a:t>
                      </a:r>
                      <a:endParaRPr lang="en-US" sz="1800" b="1" i="0" u="none" strike="noStrike" dirty="0">
                        <a:solidFill>
                          <a:srgbClr val="000000"/>
                        </a:solidFill>
                        <a:effectLst/>
                        <a:latin typeface="Times New Roman" panose="02020603050405020304"/>
                      </a:endParaRPr>
                    </a:p>
                  </a:txBody>
                  <a:tcPr marL="9525" marR="9525" marT="9525" marB="0" anchor="ctr">
                    <a:cell3D prstMaterial="dkEdge">
                      <a:bevel prst="convex"/>
                      <a:lightRig rig="flood" dir="t"/>
                    </a:cell3D>
                  </a:tcPr>
                </a:tc>
              </a:tr>
              <a:tr h="1038163">
                <a:tc>
                  <a:txBody>
                    <a:bodyPr/>
                    <a:lstStyle/>
                    <a:p>
                      <a:pPr algn="ctr" fontAlgn="ctr"/>
                      <a:r>
                        <a:rPr lang="en-US" sz="1800" u="none" strike="noStrike">
                          <a:effectLst/>
                        </a:rPr>
                        <a:t>1.01</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l" fontAlgn="ctr"/>
                      <a:r>
                        <a:rPr lang="en-US" sz="1800" u="none" strike="noStrike">
                          <a:effectLst/>
                        </a:rPr>
                        <a:t>Allow for Ministry of Works and Infrastructures General Contract Administration.</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800" u="none" strike="noStrike">
                          <a:effectLst/>
                        </a:rPr>
                        <a:t>PS</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800" u="none" strike="noStrike">
                          <a:effectLst/>
                        </a:rPr>
                        <a:t>1</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800" u="none" strike="noStrike">
                          <a:effectLst/>
                        </a:rPr>
                        <a:t> </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800" u="none" strike="noStrike">
                          <a:effectLst/>
                        </a:rPr>
                        <a:t>300,000.00</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r>
              <a:tr h="1384217">
                <a:tc>
                  <a:txBody>
                    <a:bodyPr/>
                    <a:lstStyle/>
                    <a:p>
                      <a:pPr algn="ctr" fontAlgn="ctr"/>
                      <a:r>
                        <a:rPr lang="en-US" sz="1800" u="none" strike="noStrike">
                          <a:effectLst/>
                        </a:rPr>
                        <a:t>1.02</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l" fontAlgn="ctr"/>
                      <a:r>
                        <a:rPr lang="en-US" sz="1800" u="none" strike="noStrike" dirty="0">
                          <a:effectLst/>
                        </a:rPr>
                        <a:t>Provide new project vehicles for the exclusive use of the Engineer’s Representatives, as specified in Section 5 of Schedule VI of the Contract.</a:t>
                      </a:r>
                      <a:endParaRPr lang="en-US" sz="1800" b="0" i="0" u="none" strike="noStrike" dirty="0">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800" u="none" strike="noStrike">
                          <a:effectLst/>
                        </a:rPr>
                        <a:t>PS</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800" u="none" strike="noStrike">
                          <a:effectLst/>
                        </a:rPr>
                        <a:t>1</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800" u="none" strike="noStrike">
                          <a:effectLst/>
                        </a:rPr>
                        <a:t> </a:t>
                      </a:r>
                      <a:endParaRPr lang="en-US" sz="18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800" u="none" strike="noStrike" dirty="0">
                          <a:effectLst/>
                        </a:rPr>
                        <a:t>    5,500,000.00 </a:t>
                      </a:r>
                      <a:endParaRPr lang="en-US" sz="1800" b="0" i="0" u="none" strike="noStrike" dirty="0">
                        <a:solidFill>
                          <a:srgbClr val="000000"/>
                        </a:solidFill>
                        <a:effectLst/>
                        <a:latin typeface="Times New Roman" panose="02020603050405020304"/>
                      </a:endParaRPr>
                    </a:p>
                  </a:txBody>
                  <a:tcPr marL="9525" marR="9525" marT="9525" marB="0" anchor="ctr">
                    <a:cell3D prstMaterial="dkEdge">
                      <a:bevel prst="convex"/>
                      <a:lightRig rig="flood" dir="t"/>
                    </a:cell3D>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1"/>
            <a:ext cx="8077200" cy="2514600"/>
          </a:xfrm>
        </p:spPr>
        <p:txBody>
          <a:bodyPr>
            <a:normAutofit fontScale="92500" lnSpcReduction="20000"/>
          </a:bodyPr>
          <a:lstStyle/>
          <a:p>
            <a:pPr>
              <a:buFont typeface="Wingdings" panose="05000000000000000000" pitchFamily="2" charset="2"/>
              <a:buChar char="Ø"/>
            </a:pPr>
            <a:r>
              <a:rPr lang="en-US" b="1" dirty="0">
                <a:latin typeface="Comic Sans MS" panose="030F0702030302020204" pitchFamily="66" charset="0"/>
              </a:rPr>
              <a:t>BEME</a:t>
            </a:r>
            <a:endParaRPr lang="en-US" b="1" dirty="0">
              <a:latin typeface="Comic Sans MS" panose="030F0702030302020204" pitchFamily="66" charset="0"/>
            </a:endParaRPr>
          </a:p>
          <a:p>
            <a:pPr marL="68580" indent="0">
              <a:buNone/>
            </a:pPr>
            <a:r>
              <a:rPr lang="en-US" dirty="0">
                <a:latin typeface="Times New Roman" panose="02020603050405020304" pitchFamily="18" charset="0"/>
                <a:cs typeface="Times New Roman" panose="02020603050405020304" pitchFamily="18" charset="0"/>
              </a:rPr>
              <a:t>The item is the coding system adopted in the work classification of the job description as prescribed by the client or the client’s representative. Item, description, quantity, rate and amount must be orderly and well articulated to avoid confusion during the execution of the contracts. It is advised that each bill be itemized separately</a:t>
            </a:r>
            <a:r>
              <a:rPr lang="en-US" dirty="0"/>
              <a:t>.</a:t>
            </a:r>
            <a:endParaRPr lang="en-US" dirty="0"/>
          </a:p>
        </p:txBody>
      </p:sp>
      <p:sp>
        <p:nvSpPr>
          <p:cNvPr id="5" name="Date Placeholder 4"/>
          <p:cNvSpPr>
            <a:spLocks noGrp="1"/>
          </p:cNvSpPr>
          <p:nvPr>
            <p:ph type="dt" sz="half" idx="10"/>
          </p:nvPr>
        </p:nvSpPr>
        <p:spPr>
          <a:xfrm>
            <a:off x="5791200" y="6208776"/>
            <a:ext cx="2590800" cy="365125"/>
          </a:xfrm>
        </p:spPr>
        <p:txBody>
          <a:bodyPr/>
          <a:lstStyle/>
          <a:p>
            <a:fld id="{1099BD1B-5014-4237-98A0-95391EDC601D}" type="datetime2">
              <a:rPr lang="en-US" smtClean="0"/>
            </a:fld>
            <a:endParaRPr lang="en-US" dirty="0"/>
          </a:p>
        </p:txBody>
      </p:sp>
      <p:sp>
        <p:nvSpPr>
          <p:cNvPr id="6" name="Slide Number Placeholder 5"/>
          <p:cNvSpPr>
            <a:spLocks noGrp="1"/>
          </p:cNvSpPr>
          <p:nvPr>
            <p:ph type="sldNum" sz="quarter" idx="12"/>
          </p:nvPr>
        </p:nvSpPr>
        <p:spPr/>
        <p:txBody>
          <a:bodyPr/>
          <a:lstStyle/>
          <a:p>
            <a:fld id="{5642B8DD-2B12-4B9D-A614-F48D485E5CEB}" type="slidenum">
              <a:rPr lang="en-US" smtClean="0"/>
            </a:fld>
            <a:endParaRPr lang="en-US"/>
          </a:p>
        </p:txBody>
      </p:sp>
      <p:graphicFrame>
        <p:nvGraphicFramePr>
          <p:cNvPr id="4" name="Table 3"/>
          <p:cNvGraphicFramePr>
            <a:graphicFrameLocks noGrp="1"/>
          </p:cNvGraphicFramePr>
          <p:nvPr/>
        </p:nvGraphicFramePr>
        <p:xfrm>
          <a:off x="107503" y="2667000"/>
          <a:ext cx="8856986" cy="4131786"/>
        </p:xfrm>
        <a:graphic>
          <a:graphicData uri="http://schemas.openxmlformats.org/drawingml/2006/table">
            <a:tbl>
              <a:tblPr>
                <a:tableStyleId>{8799B23B-EC83-4686-B30A-512413B5E67A}</a:tableStyleId>
              </a:tblPr>
              <a:tblGrid>
                <a:gridCol w="807628"/>
                <a:gridCol w="3607403"/>
                <a:gridCol w="753787"/>
                <a:gridCol w="1238363"/>
                <a:gridCol w="955694"/>
                <a:gridCol w="1494111"/>
              </a:tblGrid>
              <a:tr h="164121">
                <a:tc>
                  <a:txBody>
                    <a:bodyPr/>
                    <a:lstStyle/>
                    <a:p>
                      <a:pPr algn="ctr" fontAlgn="b"/>
                      <a:r>
                        <a:rPr lang="en-US" sz="1600" u="none" strike="noStrike" dirty="0">
                          <a:effectLst/>
                        </a:rPr>
                        <a:t>ITEM</a:t>
                      </a:r>
                      <a:endParaRPr lang="en-US" sz="1600" b="1" i="0" u="none" strike="noStrike" dirty="0">
                        <a:solidFill>
                          <a:srgbClr val="000000"/>
                        </a:solidFill>
                        <a:effectLst/>
                        <a:latin typeface="Times New Roman" panose="02020603050405020304"/>
                      </a:endParaRPr>
                    </a:p>
                  </a:txBody>
                  <a:tcPr marL="9525" marR="9525" marT="9525" marB="0" anchor="b">
                    <a:cell3D prstMaterial="dkEdge">
                      <a:bevel prst="convex"/>
                      <a:lightRig rig="flood" dir="t"/>
                    </a:cell3D>
                  </a:tcPr>
                </a:tc>
                <a:tc>
                  <a:txBody>
                    <a:bodyPr/>
                    <a:lstStyle/>
                    <a:p>
                      <a:pPr algn="ctr" fontAlgn="b"/>
                      <a:r>
                        <a:rPr lang="en-US" sz="1600" u="none" strike="noStrike">
                          <a:effectLst/>
                        </a:rPr>
                        <a:t>DESCRIPTION</a:t>
                      </a:r>
                      <a:endParaRPr lang="en-US" sz="1600" b="1" i="0" u="none" strike="noStrike">
                        <a:solidFill>
                          <a:srgbClr val="000000"/>
                        </a:solidFill>
                        <a:effectLst/>
                        <a:latin typeface="Times New Roman" panose="02020603050405020304"/>
                      </a:endParaRPr>
                    </a:p>
                  </a:txBody>
                  <a:tcPr marL="9525" marR="9525" marT="9525" marB="0" anchor="b">
                    <a:cell3D prstMaterial="dkEdge">
                      <a:bevel prst="convex"/>
                      <a:lightRig rig="flood" dir="t"/>
                    </a:cell3D>
                  </a:tcPr>
                </a:tc>
                <a:tc>
                  <a:txBody>
                    <a:bodyPr/>
                    <a:lstStyle/>
                    <a:p>
                      <a:pPr algn="ctr" fontAlgn="b"/>
                      <a:r>
                        <a:rPr lang="en-US" sz="1600" u="none" strike="noStrike">
                          <a:effectLst/>
                        </a:rPr>
                        <a:t>UNIT</a:t>
                      </a:r>
                      <a:endParaRPr lang="en-US" sz="1600" b="1" i="0" u="none" strike="noStrike">
                        <a:solidFill>
                          <a:srgbClr val="000000"/>
                        </a:solidFill>
                        <a:effectLst/>
                        <a:latin typeface="Times New Roman" panose="02020603050405020304"/>
                      </a:endParaRPr>
                    </a:p>
                  </a:txBody>
                  <a:tcPr marL="9525" marR="9525" marT="9525" marB="0" anchor="b">
                    <a:cell3D prstMaterial="dkEdge">
                      <a:bevel prst="convex"/>
                      <a:lightRig rig="flood" dir="t"/>
                    </a:cell3D>
                  </a:tcPr>
                </a:tc>
                <a:tc>
                  <a:txBody>
                    <a:bodyPr/>
                    <a:lstStyle/>
                    <a:p>
                      <a:pPr algn="ctr" fontAlgn="b"/>
                      <a:r>
                        <a:rPr lang="en-US" sz="1600" u="none" strike="noStrike">
                          <a:effectLst/>
                        </a:rPr>
                        <a:t>QUANTITY </a:t>
                      </a:r>
                      <a:endParaRPr lang="en-US" sz="1600" b="1" i="0" u="none" strike="noStrike">
                        <a:solidFill>
                          <a:srgbClr val="000000"/>
                        </a:solidFill>
                        <a:effectLst/>
                        <a:latin typeface="Times New Roman" panose="02020603050405020304"/>
                      </a:endParaRPr>
                    </a:p>
                  </a:txBody>
                  <a:tcPr marL="9525" marR="9525" marT="9525" marB="0" anchor="b">
                    <a:cell3D prstMaterial="dkEdge">
                      <a:bevel prst="convex"/>
                      <a:lightRig rig="flood" dir="t"/>
                    </a:cell3D>
                  </a:tcPr>
                </a:tc>
                <a:tc>
                  <a:txBody>
                    <a:bodyPr/>
                    <a:lstStyle/>
                    <a:p>
                      <a:pPr algn="ctr" fontAlgn="b"/>
                      <a:r>
                        <a:rPr lang="en-US" sz="1600" u="none" strike="noStrike">
                          <a:effectLst/>
                        </a:rPr>
                        <a:t>RATE</a:t>
                      </a:r>
                      <a:endParaRPr lang="en-US" sz="1600" b="1" i="0" u="none" strike="noStrike">
                        <a:solidFill>
                          <a:srgbClr val="000000"/>
                        </a:solidFill>
                        <a:effectLst/>
                        <a:latin typeface="Times New Roman" panose="02020603050405020304"/>
                      </a:endParaRPr>
                    </a:p>
                  </a:txBody>
                  <a:tcPr marL="9525" marR="9525" marT="9525" marB="0" anchor="b">
                    <a:cell3D prstMaterial="dkEdge">
                      <a:bevel prst="convex"/>
                      <a:lightRig rig="flood" dir="t"/>
                    </a:cell3D>
                  </a:tcPr>
                </a:tc>
                <a:tc>
                  <a:txBody>
                    <a:bodyPr/>
                    <a:lstStyle/>
                    <a:p>
                      <a:pPr algn="ctr" fontAlgn="b"/>
                      <a:r>
                        <a:rPr lang="en-US" sz="1600" u="none" strike="noStrike">
                          <a:effectLst/>
                        </a:rPr>
                        <a:t>AMOUNT</a:t>
                      </a:r>
                      <a:endParaRPr lang="en-US" sz="1600" b="1" i="0" u="none" strike="noStrike">
                        <a:solidFill>
                          <a:srgbClr val="000000"/>
                        </a:solidFill>
                        <a:effectLst/>
                        <a:latin typeface="Times New Roman" panose="02020603050405020304"/>
                      </a:endParaRPr>
                    </a:p>
                  </a:txBody>
                  <a:tcPr marL="9525" marR="9525" marT="9525" marB="0" anchor="b">
                    <a:cell3D prstMaterial="dkEdge">
                      <a:bevel prst="convex"/>
                      <a:lightRig rig="flood" dir="t"/>
                    </a:cell3D>
                  </a:tcPr>
                </a:tc>
              </a:tr>
              <a:tr h="758082">
                <a:tc>
                  <a:txBody>
                    <a:bodyPr/>
                    <a:lstStyle/>
                    <a:p>
                      <a:pPr algn="ctr" fontAlgn="t"/>
                      <a:r>
                        <a:rPr lang="en-US" sz="1600" u="none" strike="noStrike" dirty="0">
                          <a:effectLst/>
                        </a:rPr>
                        <a:t>3.01</a:t>
                      </a:r>
                      <a:endParaRPr lang="en-US" sz="1600" b="0" i="0" u="none" strike="noStrike" dirty="0">
                        <a:solidFill>
                          <a:srgbClr val="000000"/>
                        </a:solidFill>
                        <a:effectLst/>
                        <a:latin typeface="Times New Roman" panose="02020603050405020304"/>
                      </a:endParaRPr>
                    </a:p>
                  </a:txBody>
                  <a:tcPr marL="9525" marR="9525" marT="9525" marB="0">
                    <a:cell3D prstMaterial="dkEdge">
                      <a:bevel prst="convex"/>
                      <a:lightRig rig="flood" dir="t"/>
                    </a:cell3D>
                    <a:solidFill>
                      <a:srgbClr val="FFFF00"/>
                    </a:solidFill>
                  </a:tcPr>
                </a:tc>
                <a:tc>
                  <a:txBody>
                    <a:bodyPr/>
                    <a:lstStyle/>
                    <a:p>
                      <a:pPr algn="l" fontAlgn="t"/>
                      <a:r>
                        <a:rPr lang="en-US" sz="1600" u="none" strike="noStrike" dirty="0">
                          <a:effectLst/>
                        </a:rPr>
                        <a:t>Provide and install precast R.C. Pipe culverts as specified by Engineer's Representative. (Blinding, concrete surrounds and reinforcement inclusive)</a:t>
                      </a:r>
                      <a:endParaRPr lang="en-US" sz="1600" b="0" i="0" u="none" strike="noStrike" dirty="0">
                        <a:solidFill>
                          <a:srgbClr val="000000"/>
                        </a:solidFill>
                        <a:effectLst/>
                        <a:latin typeface="Times New Roman" panose="02020603050405020304"/>
                      </a:endParaRPr>
                    </a:p>
                  </a:txBody>
                  <a:tcPr marL="9525" marR="9525" marT="9525" marB="0">
                    <a:cell3D prstMaterial="dkEdge">
                      <a:bevel prst="convex"/>
                      <a:lightRig rig="flood" dir="t"/>
                    </a:cell3D>
                  </a:tcPr>
                </a:tc>
                <a:tc>
                  <a:txBody>
                    <a:bodyPr/>
                    <a:lstStyle/>
                    <a:p>
                      <a:pPr algn="ctr" fontAlgn="ctr"/>
                      <a:r>
                        <a:rPr lang="en-US" sz="1600" u="none" strike="noStrike" dirty="0">
                          <a:effectLst/>
                        </a:rPr>
                        <a:t> </a:t>
                      </a:r>
                      <a:endParaRPr lang="en-US" sz="1600" b="0" i="0" u="none" strike="noStrike" dirty="0">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 </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 </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 </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r>
              <a:tr h="307922">
                <a:tc>
                  <a:txBody>
                    <a:bodyPr/>
                    <a:lstStyle/>
                    <a:p>
                      <a:pPr algn="l" fontAlgn="t"/>
                      <a:r>
                        <a:rPr lang="en-US" sz="1600" u="none" strike="noStrike" dirty="0">
                          <a:effectLst/>
                        </a:rPr>
                        <a:t>3.01.1             </a:t>
                      </a:r>
                      <a:endParaRPr lang="en-US" sz="1600" b="0" i="0" u="none" strike="noStrike" dirty="0">
                        <a:solidFill>
                          <a:srgbClr val="000000"/>
                        </a:solidFill>
                        <a:effectLst/>
                        <a:latin typeface="Times New Roman" panose="02020603050405020304"/>
                      </a:endParaRPr>
                    </a:p>
                  </a:txBody>
                  <a:tcPr marL="9525" marR="9525" marT="9525" marB="0">
                    <a:cell3D prstMaterial="dkEdge">
                      <a:bevel prst="convex"/>
                      <a:lightRig rig="flood" dir="t"/>
                    </a:cell3D>
                    <a:solidFill>
                      <a:srgbClr val="FFFF00"/>
                    </a:solidFill>
                  </a:tcPr>
                </a:tc>
                <a:tc>
                  <a:txBody>
                    <a:bodyPr/>
                    <a:lstStyle/>
                    <a:p>
                      <a:pPr algn="l" fontAlgn="t"/>
                      <a:r>
                        <a:rPr lang="en-US" sz="1600" u="none" strike="noStrike">
                          <a:effectLst/>
                        </a:rPr>
                        <a:t>900mm diameter single pipe culverts </a:t>
                      </a:r>
                      <a:endParaRPr lang="en-US" sz="1600" b="0" i="0" u="none" strike="noStrike">
                        <a:solidFill>
                          <a:srgbClr val="000000"/>
                        </a:solidFill>
                        <a:effectLst/>
                        <a:latin typeface="Times New Roman" panose="02020603050405020304"/>
                      </a:endParaRPr>
                    </a:p>
                  </a:txBody>
                  <a:tcPr marL="9525" marR="9525" marT="9525" marB="0">
                    <a:cell3D prstMaterial="dkEdge">
                      <a:bevel prst="convex"/>
                      <a:lightRig rig="flood" dir="t"/>
                    </a:cell3D>
                  </a:tcPr>
                </a:tc>
                <a:tc>
                  <a:txBody>
                    <a:bodyPr/>
                    <a:lstStyle/>
                    <a:p>
                      <a:pPr algn="ctr" fontAlgn="ctr"/>
                      <a:r>
                        <a:rPr lang="en-US" sz="1600" u="none" strike="noStrike">
                          <a:effectLst/>
                        </a:rPr>
                        <a:t>Lm</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30</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    70,000 </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    2,100,000.00 </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r>
              <a:tr h="307922">
                <a:tc>
                  <a:txBody>
                    <a:bodyPr/>
                    <a:lstStyle/>
                    <a:p>
                      <a:pPr algn="l" fontAlgn="t"/>
                      <a:r>
                        <a:rPr lang="en-US" sz="1600" u="none" strike="noStrike" dirty="0">
                          <a:effectLst/>
                        </a:rPr>
                        <a:t>3.01.2</a:t>
                      </a:r>
                      <a:endParaRPr lang="en-US" sz="1600" b="0" i="0" u="none" strike="noStrike" dirty="0">
                        <a:solidFill>
                          <a:srgbClr val="000000"/>
                        </a:solidFill>
                        <a:effectLst/>
                        <a:latin typeface="Times New Roman" panose="02020603050405020304"/>
                      </a:endParaRPr>
                    </a:p>
                  </a:txBody>
                  <a:tcPr marL="9525" marR="9525" marT="9525" marB="0">
                    <a:cell3D prstMaterial="dkEdge">
                      <a:bevel prst="convex"/>
                      <a:lightRig rig="flood" dir="t"/>
                    </a:cell3D>
                    <a:solidFill>
                      <a:srgbClr val="FFFF00"/>
                    </a:solidFill>
                  </a:tcPr>
                </a:tc>
                <a:tc>
                  <a:txBody>
                    <a:bodyPr/>
                    <a:lstStyle/>
                    <a:p>
                      <a:pPr algn="l" fontAlgn="t"/>
                      <a:r>
                        <a:rPr lang="en-US" sz="1600" u="none" strike="noStrike">
                          <a:effectLst/>
                        </a:rPr>
                        <a:t>750mm diameter  Single Pipe culvert</a:t>
                      </a:r>
                      <a:endParaRPr lang="en-US" sz="1600" b="0" i="0" u="none" strike="noStrike">
                        <a:solidFill>
                          <a:srgbClr val="000000"/>
                        </a:solidFill>
                        <a:effectLst/>
                        <a:latin typeface="Times New Roman" panose="02020603050405020304"/>
                      </a:endParaRPr>
                    </a:p>
                  </a:txBody>
                  <a:tcPr marL="9525" marR="9525" marT="9525" marB="0">
                    <a:cell3D prstMaterial="dkEdge">
                      <a:bevel prst="convex"/>
                      <a:lightRig rig="flood" dir="t"/>
                    </a:cell3D>
                  </a:tcPr>
                </a:tc>
                <a:tc>
                  <a:txBody>
                    <a:bodyPr/>
                    <a:lstStyle/>
                    <a:p>
                      <a:pPr algn="ctr" fontAlgn="ctr"/>
                      <a:r>
                        <a:rPr lang="en-US" sz="1600" u="none" strike="noStrike">
                          <a:effectLst/>
                        </a:rPr>
                        <a:t>Lm</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40</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    60,000 </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    2,400,000.00 </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r>
              <a:tr h="307922">
                <a:tc>
                  <a:txBody>
                    <a:bodyPr/>
                    <a:lstStyle/>
                    <a:p>
                      <a:pPr algn="l" fontAlgn="t"/>
                      <a:r>
                        <a:rPr lang="en-US" sz="1600" u="none" strike="noStrike" dirty="0">
                          <a:effectLst/>
                        </a:rPr>
                        <a:t>3.01.3</a:t>
                      </a:r>
                      <a:endParaRPr lang="en-US" sz="1600" b="0" i="0" u="none" strike="noStrike" dirty="0">
                        <a:solidFill>
                          <a:srgbClr val="000000"/>
                        </a:solidFill>
                        <a:effectLst/>
                        <a:latin typeface="Times New Roman" panose="02020603050405020304"/>
                      </a:endParaRPr>
                    </a:p>
                  </a:txBody>
                  <a:tcPr marL="9525" marR="9525" marT="9525" marB="0">
                    <a:cell3D prstMaterial="dkEdge">
                      <a:bevel prst="convex"/>
                      <a:lightRig rig="flood" dir="t"/>
                    </a:cell3D>
                    <a:solidFill>
                      <a:srgbClr val="FFFF00"/>
                    </a:solidFill>
                  </a:tcPr>
                </a:tc>
                <a:tc>
                  <a:txBody>
                    <a:bodyPr/>
                    <a:lstStyle/>
                    <a:p>
                      <a:pPr algn="l" fontAlgn="t"/>
                      <a:r>
                        <a:rPr lang="fr-FR" sz="1600" u="none" strike="noStrike" dirty="0">
                          <a:effectLst/>
                        </a:rPr>
                        <a:t>900mm </a:t>
                      </a:r>
                      <a:r>
                        <a:rPr lang="fr-FR" sz="1600" u="none" strike="noStrike" dirty="0" err="1">
                          <a:effectLst/>
                        </a:rPr>
                        <a:t>diameter</a:t>
                      </a:r>
                      <a:r>
                        <a:rPr lang="fr-FR" sz="1600" u="none" strike="noStrike" dirty="0">
                          <a:effectLst/>
                        </a:rPr>
                        <a:t> double pipe </a:t>
                      </a:r>
                      <a:r>
                        <a:rPr lang="fr-FR" sz="1600" u="none" strike="noStrike" dirty="0" err="1">
                          <a:effectLst/>
                        </a:rPr>
                        <a:t>culverts</a:t>
                      </a:r>
                      <a:r>
                        <a:rPr lang="fr-FR" sz="1600" u="none" strike="noStrike" dirty="0">
                          <a:effectLst/>
                        </a:rPr>
                        <a:t> </a:t>
                      </a:r>
                      <a:endParaRPr lang="fr-FR" sz="1600" b="0" i="0" u="none" strike="noStrike" dirty="0">
                        <a:solidFill>
                          <a:srgbClr val="000000"/>
                        </a:solidFill>
                        <a:effectLst/>
                        <a:latin typeface="Times New Roman" panose="02020603050405020304"/>
                      </a:endParaRPr>
                    </a:p>
                  </a:txBody>
                  <a:tcPr marL="9525" marR="9525" marT="9525" marB="0">
                    <a:cell3D prstMaterial="dkEdge">
                      <a:bevel prst="convex"/>
                      <a:lightRig rig="flood" dir="t"/>
                    </a:cell3D>
                  </a:tcPr>
                </a:tc>
                <a:tc>
                  <a:txBody>
                    <a:bodyPr/>
                    <a:lstStyle/>
                    <a:p>
                      <a:pPr algn="ctr" fontAlgn="ctr"/>
                      <a:r>
                        <a:rPr lang="en-US" sz="1600" u="none" strike="noStrike">
                          <a:effectLst/>
                        </a:rPr>
                        <a:t>Lm</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30</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140,000</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    4,200,000.00 </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r>
              <a:tr h="1058188">
                <a:tc>
                  <a:txBody>
                    <a:bodyPr/>
                    <a:lstStyle/>
                    <a:p>
                      <a:pPr algn="r" fontAlgn="ctr"/>
                      <a:r>
                        <a:rPr lang="en-US" sz="1600" u="none" strike="noStrike" dirty="0">
                          <a:effectLst/>
                        </a:rPr>
                        <a:t>3.02</a:t>
                      </a:r>
                      <a:endParaRPr lang="en-US" sz="1600" b="0" i="0" u="none" strike="noStrike" dirty="0">
                        <a:solidFill>
                          <a:srgbClr val="000000"/>
                        </a:solidFill>
                        <a:effectLst/>
                        <a:latin typeface="Times New Roman" panose="02020603050405020304"/>
                      </a:endParaRPr>
                    </a:p>
                  </a:txBody>
                  <a:tcPr marL="9525" marR="9525" marT="9525" marB="0" anchor="ctr">
                    <a:cell3D prstMaterial="dkEdge">
                      <a:bevel prst="convex"/>
                      <a:lightRig rig="flood" dir="t"/>
                    </a:cell3D>
                    <a:solidFill>
                      <a:srgbClr val="FFFF00"/>
                    </a:solidFill>
                  </a:tcPr>
                </a:tc>
                <a:tc>
                  <a:txBody>
                    <a:bodyPr/>
                    <a:lstStyle/>
                    <a:p>
                      <a:pPr algn="l" fontAlgn="t"/>
                      <a:r>
                        <a:rPr lang="en-US" sz="1600" u="none" strike="noStrike">
                          <a:effectLst/>
                        </a:rPr>
                        <a:t>Provide and install precast R.C. 600mm diameter single pipe culvert as access culverts as specified by Engineer's Representative. (Blinding, concrete surrounds and reinforcement inclusive)</a:t>
                      </a:r>
                      <a:endParaRPr lang="en-US" sz="1600" b="0" i="0" u="none" strike="noStrike">
                        <a:solidFill>
                          <a:srgbClr val="000000"/>
                        </a:solidFill>
                        <a:effectLst/>
                        <a:latin typeface="Times New Roman" panose="02020603050405020304"/>
                      </a:endParaRPr>
                    </a:p>
                  </a:txBody>
                  <a:tcPr marL="9525" marR="9525" marT="9525" marB="0">
                    <a:cell3D prstMaterial="dkEdge">
                      <a:bevel prst="convex"/>
                      <a:lightRig rig="flood" dir="t"/>
                    </a:cell3D>
                  </a:tcPr>
                </a:tc>
                <a:tc>
                  <a:txBody>
                    <a:bodyPr/>
                    <a:lstStyle/>
                    <a:p>
                      <a:pPr algn="ctr" fontAlgn="ctr"/>
                      <a:r>
                        <a:rPr lang="en-US" sz="1600" u="none" strike="noStrike">
                          <a:effectLst/>
                        </a:rPr>
                        <a:t>Lm</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80</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45,000</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3,600,000.00</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r>
              <a:tr h="608028">
                <a:tc>
                  <a:txBody>
                    <a:bodyPr/>
                    <a:lstStyle/>
                    <a:p>
                      <a:pPr algn="ctr" fontAlgn="t"/>
                      <a:r>
                        <a:rPr lang="en-US" sz="1600" u="none" strike="noStrike" dirty="0">
                          <a:effectLst/>
                        </a:rPr>
                        <a:t>3.03</a:t>
                      </a:r>
                      <a:endParaRPr lang="en-US" sz="1600" b="0" i="0" u="none" strike="noStrike" dirty="0">
                        <a:solidFill>
                          <a:srgbClr val="000000"/>
                        </a:solidFill>
                        <a:effectLst/>
                        <a:latin typeface="Times New Roman" panose="02020603050405020304"/>
                      </a:endParaRPr>
                    </a:p>
                  </a:txBody>
                  <a:tcPr marL="9525" marR="9525" marT="9525" marB="0">
                    <a:cell3D prstMaterial="dkEdge">
                      <a:bevel prst="convex"/>
                      <a:lightRig rig="flood" dir="t"/>
                    </a:cell3D>
                    <a:solidFill>
                      <a:srgbClr val="FFFF00"/>
                    </a:solidFill>
                  </a:tcPr>
                </a:tc>
                <a:tc>
                  <a:txBody>
                    <a:bodyPr/>
                    <a:lstStyle/>
                    <a:p>
                      <a:pPr algn="l" fontAlgn="t"/>
                      <a:r>
                        <a:rPr lang="en-US" sz="1600" u="none" strike="noStrike">
                          <a:effectLst/>
                        </a:rPr>
                        <a:t>Providing and place 150mm thick stone, pitching set in 1.4 cement mortar as directed by Engineer’s Representative </a:t>
                      </a:r>
                      <a:endParaRPr lang="en-US" sz="1600" b="0" i="0" u="none" strike="noStrike">
                        <a:solidFill>
                          <a:srgbClr val="000000"/>
                        </a:solidFill>
                        <a:effectLst/>
                        <a:latin typeface="Times New Roman" panose="02020603050405020304"/>
                      </a:endParaRPr>
                    </a:p>
                  </a:txBody>
                  <a:tcPr marL="9525" marR="9525" marT="9525" marB="0">
                    <a:cell3D prstMaterial="dkEdge">
                      <a:bevel prst="convex"/>
                      <a:lightRig rig="flood" dir="t"/>
                    </a:cell3D>
                  </a:tcPr>
                </a:tc>
                <a:tc>
                  <a:txBody>
                    <a:bodyPr/>
                    <a:lstStyle/>
                    <a:p>
                      <a:pPr algn="ctr" fontAlgn="ctr"/>
                      <a:r>
                        <a:rPr lang="en-US" sz="1600" b="0" i="0" u="none" strike="noStrike" dirty="0">
                          <a:solidFill>
                            <a:schemeClr val="tx1"/>
                          </a:solidFill>
                          <a:effectLst/>
                          <a:latin typeface="+mn-lt"/>
                        </a:rPr>
                        <a:t>M²</a:t>
                      </a:r>
                      <a:endParaRPr lang="en-US" sz="1600" b="0" i="0" u="none" strike="noStrike" dirty="0">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dirty="0">
                          <a:effectLst/>
                        </a:rPr>
                        <a:t>700</a:t>
                      </a:r>
                      <a:endParaRPr lang="en-US" sz="1600" b="0" i="0" u="none" strike="noStrike" dirty="0">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a:effectLst/>
                        </a:rPr>
                        <a:t>4,000</a:t>
                      </a:r>
                      <a:endParaRPr lang="en-US" sz="1600" b="0" i="0" u="none" strike="noStrike">
                        <a:solidFill>
                          <a:srgbClr val="000000"/>
                        </a:solidFill>
                        <a:effectLst/>
                        <a:latin typeface="Times New Roman" panose="02020603050405020304"/>
                      </a:endParaRPr>
                    </a:p>
                  </a:txBody>
                  <a:tcPr marL="9525" marR="9525" marT="9525" marB="0" anchor="ctr">
                    <a:cell3D prstMaterial="dkEdge">
                      <a:bevel prst="convex"/>
                      <a:lightRig rig="flood" dir="t"/>
                    </a:cell3D>
                  </a:tcPr>
                </a:tc>
                <a:tc>
                  <a:txBody>
                    <a:bodyPr/>
                    <a:lstStyle/>
                    <a:p>
                      <a:pPr algn="ctr" fontAlgn="ctr"/>
                      <a:r>
                        <a:rPr lang="en-US" sz="1600" u="none" strike="noStrike" dirty="0">
                          <a:effectLst/>
                        </a:rPr>
                        <a:t>    2,800,000.00 </a:t>
                      </a:r>
                      <a:endParaRPr lang="en-US" sz="1600" b="0" i="0" u="none" strike="noStrike" dirty="0">
                        <a:solidFill>
                          <a:srgbClr val="000000"/>
                        </a:solidFill>
                        <a:effectLst/>
                        <a:latin typeface="Times New Roman" panose="02020603050405020304"/>
                      </a:endParaRPr>
                    </a:p>
                  </a:txBody>
                  <a:tcPr marL="9525" marR="9525" marT="9525" marB="0" anchor="ctr">
                    <a:cell3D prstMaterial="dkEdge">
                      <a:bevel prst="convex"/>
                      <a:lightRig rig="flood" dir="t"/>
                    </a:cell3D>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defRPr/>
            </a:pPr>
            <a:endParaRPr lang="en-GB" dirty="0"/>
          </a:p>
        </p:txBody>
      </p:sp>
      <p:sp>
        <p:nvSpPr>
          <p:cNvPr id="4" name="Title 3"/>
          <p:cNvSpPr>
            <a:spLocks noGrp="1"/>
          </p:cNvSpPr>
          <p:nvPr>
            <p:ph type="title"/>
          </p:nvPr>
        </p:nvSpPr>
        <p:spPr/>
        <p:txBody>
          <a:bodyPr/>
          <a:lstStyle/>
          <a:p>
            <a:pPr>
              <a:defRPr/>
            </a:pPr>
            <a:endParaRPr lang="en-US"/>
          </a:p>
        </p:txBody>
      </p:sp>
      <p:graphicFrame>
        <p:nvGraphicFramePr>
          <p:cNvPr id="5" name="Content Placeholder 4"/>
          <p:cNvGraphicFramePr/>
          <p:nvPr/>
        </p:nvGraphicFramePr>
        <p:xfrm>
          <a:off x="179388" y="260350"/>
          <a:ext cx="8713787" cy="6616231"/>
        </p:xfrm>
        <a:graphic>
          <a:graphicData uri="http://schemas.openxmlformats.org/drawingml/2006/table">
            <a:tbl>
              <a:tblPr firstRow="1" firstCol="1" bandRow="1">
                <a:tableStyleId>{5C22544A-7EE6-4342-B048-85BDC9FD1C3A}</a:tableStyleId>
              </a:tblPr>
              <a:tblGrid>
                <a:gridCol w="658812"/>
                <a:gridCol w="4753079"/>
                <a:gridCol w="805341"/>
                <a:gridCol w="708699"/>
                <a:gridCol w="740914"/>
                <a:gridCol w="1046942"/>
              </a:tblGrid>
              <a:tr h="425450">
                <a:tc>
                  <a:txBody>
                    <a:bodyPr/>
                    <a:lstStyle/>
                    <a:p>
                      <a:pPr marL="0" marR="0">
                        <a:lnSpc>
                          <a:spcPct val="115000"/>
                        </a:lnSpc>
                        <a:spcBef>
                          <a:spcPts val="0"/>
                        </a:spcBef>
                        <a:spcAft>
                          <a:spcPts val="0"/>
                        </a:spcAft>
                      </a:pPr>
                      <a:r>
                        <a:rPr lang="en-US" sz="1800" dirty="0">
                          <a:effectLst/>
                        </a:rPr>
                        <a:t>S/N</a:t>
                      </a:r>
                      <a:endParaRPr lang="en-US" sz="1800" dirty="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tabLst>
                          <a:tab pos="1673860" algn="ctr"/>
                        </a:tabLst>
                      </a:pPr>
                      <a:r>
                        <a:rPr lang="en-US" sz="1800">
                          <a:effectLst/>
                        </a:rPr>
                        <a:t>DESCRIPTION	</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a:effectLst/>
                        </a:rPr>
                        <a:t>QTY</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a:effectLst/>
                        </a:rPr>
                        <a:t>UNIT</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a:effectLst/>
                        </a:rPr>
                        <a:t>RATE</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a:effectLst/>
                        </a:rPr>
                        <a:t>AMT</a:t>
                      </a:r>
                      <a:endParaRPr lang="en-US" sz="1800">
                        <a:effectLst/>
                        <a:latin typeface="Calibri" panose="020F0502020204030204"/>
                        <a:ea typeface="Calibri" panose="020F0502020204030204"/>
                        <a:cs typeface="Times New Roman" panose="02020603050405020304"/>
                      </a:endParaRPr>
                    </a:p>
                  </a:txBody>
                  <a:tcPr marL="68586" marR="68586" marT="0" marB="0"/>
                </a:tc>
              </a:tr>
              <a:tr h="1009287">
                <a:tc>
                  <a:txBody>
                    <a:bodyPr/>
                    <a:lstStyle/>
                    <a:p>
                      <a:pPr marL="0" marR="0">
                        <a:lnSpc>
                          <a:spcPct val="115000"/>
                        </a:lnSpc>
                        <a:spcBef>
                          <a:spcPts val="0"/>
                        </a:spcBef>
                        <a:spcAft>
                          <a:spcPts val="0"/>
                        </a:spcAft>
                      </a:pPr>
                      <a:r>
                        <a:rPr lang="en-US" sz="1800">
                          <a:effectLst/>
                        </a:rPr>
                        <a:t>A.</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dirty="0">
                          <a:effectLst/>
                        </a:rPr>
                        <a:t>PAVEMENT</a:t>
                      </a:r>
                      <a:endParaRPr lang="en-US" sz="1800" dirty="0">
                        <a:effectLst/>
                      </a:endParaRPr>
                    </a:p>
                    <a:p>
                      <a:pPr marL="0" marR="0">
                        <a:lnSpc>
                          <a:spcPct val="115000"/>
                        </a:lnSpc>
                        <a:spcBef>
                          <a:spcPts val="0"/>
                        </a:spcBef>
                        <a:spcAft>
                          <a:spcPts val="0"/>
                        </a:spcAft>
                      </a:pPr>
                      <a:r>
                        <a:rPr lang="en-US" sz="1800" dirty="0">
                          <a:effectLst/>
                        </a:rPr>
                        <a:t>Scarify sub grade level, wet roll and compact to 100% W.A. standard compaction.</a:t>
                      </a:r>
                      <a:endParaRPr lang="en-US" sz="1800" dirty="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125</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m</a:t>
                      </a:r>
                      <a:r>
                        <a:rPr lang="en-US" sz="1800" baseline="30000">
                          <a:effectLst/>
                        </a:rPr>
                        <a:t>2</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150</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18,750</a:t>
                      </a:r>
                      <a:endParaRPr lang="en-US" sz="1800">
                        <a:effectLst/>
                        <a:latin typeface="Calibri" panose="020F0502020204030204"/>
                        <a:ea typeface="Calibri" panose="020F0502020204030204"/>
                        <a:cs typeface="Times New Roman" panose="02020603050405020304"/>
                      </a:endParaRPr>
                    </a:p>
                  </a:txBody>
                  <a:tcPr marL="68586" marR="68586" marT="0" marB="0"/>
                </a:tc>
              </a:tr>
              <a:tr h="1009287">
                <a:tc>
                  <a:txBody>
                    <a:bodyPr/>
                    <a:lstStyle/>
                    <a:p>
                      <a:pPr marL="0" marR="0">
                        <a:lnSpc>
                          <a:spcPct val="115000"/>
                        </a:lnSpc>
                        <a:spcBef>
                          <a:spcPts val="0"/>
                        </a:spcBef>
                        <a:spcAft>
                          <a:spcPts val="0"/>
                        </a:spcAft>
                      </a:pPr>
                      <a:r>
                        <a:rPr lang="en-US" sz="1800">
                          <a:effectLst/>
                        </a:rPr>
                        <a:t>B.</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dirty="0">
                          <a:effectLst/>
                        </a:rPr>
                        <a:t>Supply, spread, shape and compact approved </a:t>
                      </a:r>
                      <a:r>
                        <a:rPr lang="en-US" sz="1800" dirty="0" err="1">
                          <a:effectLst/>
                        </a:rPr>
                        <a:t>lateric</a:t>
                      </a:r>
                      <a:r>
                        <a:rPr lang="en-US" sz="1800" dirty="0">
                          <a:effectLst/>
                        </a:rPr>
                        <a:t> materials, filled and consolidated in layer of 150mm thickness to make up level.</a:t>
                      </a:r>
                      <a:endParaRPr lang="en-US" sz="1800" dirty="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125</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m</a:t>
                      </a:r>
                      <a:r>
                        <a:rPr lang="en-US" sz="1800" baseline="30000">
                          <a:effectLst/>
                        </a:rPr>
                        <a:t>2</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200</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25,000</a:t>
                      </a:r>
                      <a:endParaRPr lang="en-US" sz="1800">
                        <a:effectLst/>
                        <a:latin typeface="Calibri" panose="020F0502020204030204"/>
                        <a:ea typeface="Calibri" panose="020F0502020204030204"/>
                        <a:cs typeface="Times New Roman" panose="02020603050405020304"/>
                      </a:endParaRPr>
                    </a:p>
                  </a:txBody>
                  <a:tcPr marL="68586" marR="68586" marT="0" marB="0"/>
                </a:tc>
              </a:tr>
              <a:tr h="1009287">
                <a:tc>
                  <a:txBody>
                    <a:bodyPr/>
                    <a:lstStyle/>
                    <a:p>
                      <a:pPr marL="0" marR="0">
                        <a:lnSpc>
                          <a:spcPct val="115000"/>
                        </a:lnSpc>
                        <a:spcBef>
                          <a:spcPts val="0"/>
                        </a:spcBef>
                        <a:spcAft>
                          <a:spcPts val="0"/>
                        </a:spcAft>
                      </a:pPr>
                      <a:r>
                        <a:rPr lang="en-US" sz="1800">
                          <a:effectLst/>
                        </a:rPr>
                        <a:t>C.</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dirty="0">
                          <a:effectLst/>
                        </a:rPr>
                        <a:t>Provide, Spread, Shape And Compact To 100% W.A. Standard Compaction crushed stone base as base, not exceeding 150mm thickness</a:t>
                      </a:r>
                      <a:endParaRPr lang="en-US" sz="1800" dirty="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dirty="0">
                          <a:effectLst/>
                        </a:rPr>
                        <a:t>125</a:t>
                      </a:r>
                      <a:endParaRPr lang="en-US" sz="1800" dirty="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m</a:t>
                      </a:r>
                      <a:r>
                        <a:rPr lang="en-US" sz="1800" baseline="30000">
                          <a:effectLst/>
                        </a:rPr>
                        <a:t>2</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250</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31,250</a:t>
                      </a:r>
                      <a:endParaRPr lang="en-US" sz="1800">
                        <a:effectLst/>
                        <a:latin typeface="Calibri" panose="020F0502020204030204"/>
                        <a:ea typeface="Calibri" panose="020F0502020204030204"/>
                        <a:cs typeface="Times New Roman" panose="02020603050405020304"/>
                      </a:endParaRPr>
                    </a:p>
                  </a:txBody>
                  <a:tcPr marL="68586" marR="68586" marT="0" marB="0"/>
                </a:tc>
              </a:tr>
              <a:tr h="665111">
                <a:tc>
                  <a:txBody>
                    <a:bodyPr/>
                    <a:lstStyle/>
                    <a:p>
                      <a:pPr marL="0" marR="0">
                        <a:lnSpc>
                          <a:spcPct val="115000"/>
                        </a:lnSpc>
                        <a:spcBef>
                          <a:spcPts val="0"/>
                        </a:spcBef>
                        <a:spcAft>
                          <a:spcPts val="0"/>
                        </a:spcAft>
                      </a:pPr>
                      <a:r>
                        <a:rPr lang="en-US" sz="1800">
                          <a:effectLst/>
                        </a:rPr>
                        <a:t>D.</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dirty="0">
                          <a:effectLst/>
                        </a:rPr>
                        <a:t>Provide and spray prime coat using 60/70 Bitumen at the rate of 1 </a:t>
                      </a:r>
                      <a:r>
                        <a:rPr lang="en-US" sz="1800" dirty="0" err="1">
                          <a:effectLst/>
                        </a:rPr>
                        <a:t>litre</a:t>
                      </a:r>
                      <a:r>
                        <a:rPr lang="en-US" sz="1800" dirty="0">
                          <a:effectLst/>
                        </a:rPr>
                        <a:t>/m</a:t>
                      </a:r>
                      <a:r>
                        <a:rPr lang="en-US" sz="1800" baseline="30000" dirty="0">
                          <a:effectLst/>
                        </a:rPr>
                        <a:t>2 </a:t>
                      </a:r>
                      <a:r>
                        <a:rPr lang="en-US" sz="1800" dirty="0">
                          <a:effectLst/>
                        </a:rPr>
                        <a:t>, blinds with quarry dust</a:t>
                      </a:r>
                      <a:endParaRPr lang="en-US" sz="1800" dirty="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125</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m</a:t>
                      </a:r>
                      <a:r>
                        <a:rPr lang="en-US" sz="1800" baseline="30000">
                          <a:effectLst/>
                        </a:rPr>
                        <a:t>2</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120</a:t>
                      </a:r>
                      <a:endParaRPr lang="en-US" sz="1800">
                        <a:effectLst/>
                      </a:endParaRPr>
                    </a:p>
                    <a:p>
                      <a:pPr marL="0" marR="0" algn="ctr">
                        <a:lnSpc>
                          <a:spcPct val="115000"/>
                        </a:lnSpc>
                        <a:spcBef>
                          <a:spcPts val="0"/>
                        </a:spcBef>
                        <a:spcAft>
                          <a:spcPts val="0"/>
                        </a:spcAft>
                      </a:pPr>
                      <a:r>
                        <a:rPr lang="en-US" sz="1800">
                          <a:effectLst/>
                        </a:rPr>
                        <a:t> </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15,000</a:t>
                      </a:r>
                      <a:endParaRPr lang="en-US" sz="1800">
                        <a:effectLst/>
                        <a:latin typeface="Calibri" panose="020F0502020204030204"/>
                        <a:ea typeface="Calibri" panose="020F0502020204030204"/>
                        <a:cs typeface="Times New Roman" panose="02020603050405020304"/>
                      </a:endParaRPr>
                    </a:p>
                  </a:txBody>
                  <a:tcPr marL="68586" marR="68586" marT="0" marB="0"/>
                </a:tc>
              </a:tr>
              <a:tr h="665111">
                <a:tc>
                  <a:txBody>
                    <a:bodyPr/>
                    <a:lstStyle/>
                    <a:p>
                      <a:pPr marL="0" marR="0">
                        <a:lnSpc>
                          <a:spcPct val="115000"/>
                        </a:lnSpc>
                        <a:spcBef>
                          <a:spcPts val="0"/>
                        </a:spcBef>
                        <a:spcAft>
                          <a:spcPts val="0"/>
                        </a:spcAft>
                      </a:pPr>
                      <a:r>
                        <a:rPr lang="en-US" sz="1800">
                          <a:effectLst/>
                        </a:rPr>
                        <a:t>E.</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dirty="0">
                          <a:effectLst/>
                        </a:rPr>
                        <a:t>Provide, lay and compact </a:t>
                      </a:r>
                      <a:r>
                        <a:rPr lang="en-US" sz="1800" dirty="0" err="1">
                          <a:effectLst/>
                        </a:rPr>
                        <a:t>asphatic</a:t>
                      </a:r>
                      <a:r>
                        <a:rPr lang="en-US" sz="1800" dirty="0">
                          <a:effectLst/>
                        </a:rPr>
                        <a:t> materials 40mm thickness</a:t>
                      </a:r>
                      <a:endParaRPr lang="en-US" sz="1800" dirty="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125</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m</a:t>
                      </a:r>
                      <a:r>
                        <a:rPr lang="en-US" sz="1800" baseline="30000">
                          <a:effectLst/>
                        </a:rPr>
                        <a:t>2</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1,500</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180,000</a:t>
                      </a:r>
                      <a:endParaRPr lang="en-US" sz="1800">
                        <a:effectLst/>
                        <a:latin typeface="Calibri" panose="020F0502020204030204"/>
                        <a:ea typeface="Calibri" panose="020F0502020204030204"/>
                        <a:cs typeface="Times New Roman" panose="02020603050405020304"/>
                      </a:endParaRPr>
                    </a:p>
                  </a:txBody>
                  <a:tcPr marL="68586" marR="68586" marT="0" marB="0"/>
                </a:tc>
              </a:tr>
              <a:tr h="665111">
                <a:tc>
                  <a:txBody>
                    <a:bodyPr/>
                    <a:lstStyle/>
                    <a:p>
                      <a:pPr marL="0" marR="0">
                        <a:lnSpc>
                          <a:spcPct val="115000"/>
                        </a:lnSpc>
                        <a:spcBef>
                          <a:spcPts val="0"/>
                        </a:spcBef>
                        <a:spcAft>
                          <a:spcPts val="0"/>
                        </a:spcAft>
                      </a:pPr>
                      <a:r>
                        <a:rPr lang="en-US" sz="1800">
                          <a:effectLst/>
                        </a:rPr>
                        <a:t> </a:t>
                      </a:r>
                      <a:endParaRPr lang="en-US" sz="1800">
                        <a:effectLst/>
                      </a:endParaRPr>
                    </a:p>
                    <a:p>
                      <a:pPr marL="0" marR="0">
                        <a:lnSpc>
                          <a:spcPct val="115000"/>
                        </a:lnSpc>
                        <a:spcBef>
                          <a:spcPts val="0"/>
                        </a:spcBef>
                        <a:spcAft>
                          <a:spcPts val="0"/>
                        </a:spcAft>
                      </a:pPr>
                      <a:r>
                        <a:rPr lang="en-US" sz="1800">
                          <a:effectLst/>
                        </a:rPr>
                        <a:t>F</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a:effectLst/>
                        </a:rPr>
                        <a:t>Sub Total</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endParaRPr lang="en-US" sz="1800">
                        <a:effectLst/>
                        <a:latin typeface="Calibri" panose="020F0502020204030204"/>
                      </a:endParaRPr>
                    </a:p>
                  </a:txBody>
                  <a:tcPr marL="68586" marR="68586" marT="0" marB="0"/>
                </a:tc>
                <a:tc>
                  <a:txBody>
                    <a:bodyPr/>
                    <a:lstStyle/>
                    <a:p>
                      <a:endParaRPr lang="en-US" sz="1800">
                        <a:effectLst/>
                        <a:latin typeface="Calibri" panose="020F0502020204030204"/>
                      </a:endParaRPr>
                    </a:p>
                  </a:txBody>
                  <a:tcPr marL="68586" marR="68586" marT="0" marB="0"/>
                </a:tc>
                <a:tc>
                  <a:txBody>
                    <a:bodyPr/>
                    <a:lstStyle/>
                    <a:p>
                      <a:endParaRPr lang="en-US" sz="1800">
                        <a:effectLst/>
                        <a:latin typeface="Calibri" panose="020F0502020204030204"/>
                      </a:endParaRPr>
                    </a:p>
                  </a:txBody>
                  <a:tcPr marL="68586" marR="68586" marT="0" marB="0"/>
                </a:tc>
                <a:tc>
                  <a:txBody>
                    <a:bodyPr/>
                    <a:lstStyle/>
                    <a:p>
                      <a:pPr marL="0" marR="0" algn="ctr">
                        <a:lnSpc>
                          <a:spcPct val="115000"/>
                        </a:lnSpc>
                        <a:spcBef>
                          <a:spcPts val="0"/>
                        </a:spcBef>
                        <a:spcAft>
                          <a:spcPts val="0"/>
                        </a:spcAft>
                      </a:pPr>
                      <a:r>
                        <a:rPr lang="en-US" sz="1800">
                          <a:effectLst/>
                        </a:rPr>
                        <a:t>270,000</a:t>
                      </a:r>
                      <a:endParaRPr lang="en-US" sz="1800">
                        <a:effectLst/>
                        <a:latin typeface="Calibri" panose="020F0502020204030204"/>
                        <a:ea typeface="Calibri" panose="020F0502020204030204"/>
                        <a:cs typeface="Times New Roman" panose="02020603050405020304"/>
                      </a:endParaRPr>
                    </a:p>
                  </a:txBody>
                  <a:tcPr marL="68586" marR="68586" marT="0" marB="0"/>
                </a:tc>
              </a:tr>
              <a:tr h="399497">
                <a:tc>
                  <a:txBody>
                    <a:bodyPr/>
                    <a:lstStyle/>
                    <a:p>
                      <a:pPr marL="0" marR="0">
                        <a:lnSpc>
                          <a:spcPct val="115000"/>
                        </a:lnSpc>
                        <a:spcBef>
                          <a:spcPts val="0"/>
                        </a:spcBef>
                        <a:spcAft>
                          <a:spcPts val="0"/>
                        </a:spcAft>
                      </a:pPr>
                      <a:r>
                        <a:rPr lang="en-US" sz="1800">
                          <a:effectLst/>
                        </a:rPr>
                        <a:t>G.</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50000"/>
                        </a:lnSpc>
                        <a:spcBef>
                          <a:spcPts val="0"/>
                        </a:spcBef>
                        <a:spcAft>
                          <a:spcPts val="0"/>
                        </a:spcAft>
                      </a:pPr>
                      <a:r>
                        <a:rPr lang="en-US" sz="1800">
                          <a:effectLst/>
                        </a:rPr>
                        <a:t>Add  Contingencies</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 </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 </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10%</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27,000</a:t>
                      </a:r>
                      <a:endParaRPr lang="en-US" sz="1800">
                        <a:effectLst/>
                        <a:latin typeface="Calibri" panose="020F0502020204030204"/>
                        <a:ea typeface="Calibri" panose="020F0502020204030204"/>
                        <a:cs typeface="Times New Roman" panose="02020603050405020304"/>
                      </a:endParaRPr>
                    </a:p>
                  </a:txBody>
                  <a:tcPr marL="68586" marR="68586" marT="0" marB="0"/>
                </a:tc>
              </a:tr>
              <a:tr h="320935">
                <a:tc>
                  <a:txBody>
                    <a:bodyPr/>
                    <a:lstStyle/>
                    <a:p>
                      <a:pPr marL="0" marR="0">
                        <a:lnSpc>
                          <a:spcPct val="115000"/>
                        </a:lnSpc>
                        <a:spcBef>
                          <a:spcPts val="0"/>
                        </a:spcBef>
                        <a:spcAft>
                          <a:spcPts val="0"/>
                        </a:spcAft>
                      </a:pPr>
                      <a:r>
                        <a:rPr lang="en-US" sz="1800">
                          <a:effectLst/>
                        </a:rPr>
                        <a:t> </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nSpc>
                          <a:spcPct val="115000"/>
                        </a:lnSpc>
                        <a:spcBef>
                          <a:spcPts val="0"/>
                        </a:spcBef>
                        <a:spcAft>
                          <a:spcPts val="0"/>
                        </a:spcAft>
                      </a:pPr>
                      <a:r>
                        <a:rPr lang="en-US" sz="1800" dirty="0">
                          <a:effectLst/>
                        </a:rPr>
                        <a:t>Total</a:t>
                      </a:r>
                      <a:endParaRPr lang="en-US" sz="1800" dirty="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 </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 </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a:effectLst/>
                        </a:rPr>
                        <a:t> </a:t>
                      </a:r>
                      <a:endParaRPr lang="en-US" sz="1800">
                        <a:effectLst/>
                        <a:latin typeface="Calibri" panose="020F0502020204030204"/>
                        <a:ea typeface="Calibri" panose="020F0502020204030204"/>
                        <a:cs typeface="Times New Roman" panose="02020603050405020304"/>
                      </a:endParaRPr>
                    </a:p>
                  </a:txBody>
                  <a:tcPr marL="68586" marR="68586" marT="0" marB="0"/>
                </a:tc>
                <a:tc>
                  <a:txBody>
                    <a:bodyPr/>
                    <a:lstStyle/>
                    <a:p>
                      <a:pPr marL="0" marR="0" algn="ctr">
                        <a:lnSpc>
                          <a:spcPct val="115000"/>
                        </a:lnSpc>
                        <a:spcBef>
                          <a:spcPts val="0"/>
                        </a:spcBef>
                        <a:spcAft>
                          <a:spcPts val="0"/>
                        </a:spcAft>
                      </a:pPr>
                      <a:r>
                        <a:rPr lang="en-US" sz="1800" dirty="0">
                          <a:effectLst/>
                        </a:rPr>
                        <a:t>297,000</a:t>
                      </a:r>
                      <a:endParaRPr lang="en-US" sz="1800" dirty="0">
                        <a:effectLst/>
                        <a:latin typeface="Calibri" panose="020F0502020204030204"/>
                        <a:ea typeface="Calibri" panose="020F0502020204030204"/>
                        <a:cs typeface="Times New Roman" panose="02020603050405020304"/>
                      </a:endParaRPr>
                    </a:p>
                  </a:txBody>
                  <a:tcPr marL="68586" marR="68586" marT="0" marB="0"/>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1"/>
            <a:ext cx="8229600" cy="1600199"/>
          </a:xfrm>
        </p:spPr>
        <p:txBody>
          <a:bodyPr>
            <a:normAutofit fontScale="77500" lnSpcReduction="20000"/>
          </a:bodyPr>
          <a:lstStyle/>
          <a:p>
            <a:pPr>
              <a:buFont typeface="Wingdings" panose="05000000000000000000" pitchFamily="2" charset="2"/>
              <a:buChar char="Ø"/>
            </a:pPr>
            <a:r>
              <a:rPr lang="en-US" dirty="0"/>
              <a:t> </a:t>
            </a:r>
            <a:r>
              <a:rPr lang="en-US" b="1" dirty="0">
                <a:latin typeface="Comic Sans MS" panose="030F0702030302020204" pitchFamily="66" charset="0"/>
              </a:rPr>
              <a:t>DESCRIPTION</a:t>
            </a:r>
            <a:endParaRPr lang="en-US" b="1" dirty="0">
              <a:latin typeface="Comic Sans MS" panose="030F0702030302020204" pitchFamily="66" charset="0"/>
            </a:endParaRPr>
          </a:p>
          <a:p>
            <a:pPr marL="68580" indent="0">
              <a:buNone/>
            </a:pPr>
            <a:r>
              <a:rPr lang="en-US" dirty="0">
                <a:latin typeface="Times New Roman" panose="02020603050405020304" pitchFamily="18" charset="0"/>
                <a:cs typeface="Times New Roman" panose="02020603050405020304" pitchFamily="18" charset="0"/>
              </a:rPr>
              <a:t>The job description gives the brief but detailed explanation of the task to be executed by the contractor in accordance with the specification. </a:t>
            </a:r>
            <a:endParaRPr lang="en-US" dirty="0">
              <a:latin typeface="Times New Roman" panose="02020603050405020304" pitchFamily="18" charset="0"/>
              <a:cs typeface="Times New Roman" panose="02020603050405020304" pitchFamily="18" charset="0"/>
            </a:endParaRPr>
          </a:p>
          <a:p>
            <a:pPr marL="68580" indent="0">
              <a:buNone/>
            </a:pPr>
            <a:r>
              <a:rPr lang="en-US" dirty="0">
                <a:latin typeface="Times New Roman" panose="02020603050405020304" pitchFamily="18" charset="0"/>
                <a:cs typeface="Times New Roman" panose="02020603050405020304" pitchFamily="18" charset="0"/>
              </a:rPr>
              <a:t>It represents the thought of the client on site. It serves as a guide for the contractor in the preparation of rate for each item.</a:t>
            </a: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a:xfrm>
            <a:off x="5867400" y="6208776"/>
            <a:ext cx="2514600" cy="365125"/>
          </a:xfrm>
        </p:spPr>
        <p:txBody>
          <a:bodyPr/>
          <a:lstStyle/>
          <a:p>
            <a:fld id="{EF22CCEC-F0AA-4C05-9E72-55BB32791B6F}" type="datetime2">
              <a:rPr lang="en-US" smtClean="0"/>
            </a:fld>
            <a:endParaRPr lang="en-US" dirty="0"/>
          </a:p>
        </p:txBody>
      </p:sp>
      <p:sp>
        <p:nvSpPr>
          <p:cNvPr id="6" name="Slide Number Placeholder 5"/>
          <p:cNvSpPr>
            <a:spLocks noGrp="1"/>
          </p:cNvSpPr>
          <p:nvPr>
            <p:ph type="sldNum" sz="quarter" idx="12"/>
          </p:nvPr>
        </p:nvSpPr>
        <p:spPr/>
        <p:txBody>
          <a:bodyPr/>
          <a:lstStyle/>
          <a:p>
            <a:fld id="{5642B8DD-2B12-4B9D-A614-F48D485E5CEB}" type="slidenum">
              <a:rPr lang="en-US" smtClean="0"/>
            </a:fld>
            <a:endParaRPr lang="en-US"/>
          </a:p>
        </p:txBody>
      </p:sp>
      <p:graphicFrame>
        <p:nvGraphicFramePr>
          <p:cNvPr id="4" name="Table 3"/>
          <p:cNvGraphicFramePr>
            <a:graphicFrameLocks noGrp="1"/>
          </p:cNvGraphicFramePr>
          <p:nvPr/>
        </p:nvGraphicFramePr>
        <p:xfrm>
          <a:off x="533400" y="2590800"/>
          <a:ext cx="7924799" cy="5158055"/>
        </p:xfrm>
        <a:graphic>
          <a:graphicData uri="http://schemas.openxmlformats.org/drawingml/2006/table">
            <a:tbl>
              <a:tblPr>
                <a:tableStyleId>{8799B23B-EC83-4686-B30A-512413B5E67A}</a:tableStyleId>
              </a:tblPr>
              <a:tblGrid>
                <a:gridCol w="701655"/>
                <a:gridCol w="3134059"/>
                <a:gridCol w="779616"/>
                <a:gridCol w="1044685"/>
                <a:gridCol w="830290"/>
                <a:gridCol w="1434494"/>
              </a:tblGrid>
              <a:tr h="159472">
                <a:tc gridSpan="2">
                  <a:txBody>
                    <a:bodyPr/>
                    <a:lstStyle/>
                    <a:p>
                      <a:pPr algn="l" fontAlgn="ctr"/>
                      <a:r>
                        <a:rPr lang="en-US" sz="1800" u="none" strike="noStrike" dirty="0">
                          <a:effectLst/>
                        </a:rPr>
                        <a:t>BILL NO 4 – PAVEMENT AND SURFACING</a:t>
                      </a:r>
                      <a:endParaRPr lang="en-US" sz="1800" b="1"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hMerge="1">
                  <a:tcPr/>
                </a:tc>
                <a:tc>
                  <a:txBody>
                    <a:bodyPr/>
                    <a:lstStyle/>
                    <a:p>
                      <a:pPr algn="l" fontAlgn="ctr"/>
                      <a:endParaRPr lang="en-US" sz="18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l" fontAlgn="ctr"/>
                      <a:endParaRPr lang="en-US" sz="18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l" fontAlgn="ctr"/>
                      <a:endParaRPr lang="en-US" sz="18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l" fontAlgn="ctr"/>
                      <a:endParaRPr lang="en-US" sz="18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r>
              <a:tr h="159472">
                <a:tc>
                  <a:txBody>
                    <a:bodyPr/>
                    <a:lstStyle/>
                    <a:p>
                      <a:pPr algn="ctr" fontAlgn="ctr"/>
                      <a:r>
                        <a:rPr lang="en-US" sz="1800" u="none" strike="noStrike">
                          <a:effectLst/>
                        </a:rPr>
                        <a:t>ITEM</a:t>
                      </a:r>
                      <a:endParaRPr lang="en-US" sz="1800" b="1"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800" u="none" strike="noStrike">
                          <a:effectLst/>
                        </a:rPr>
                        <a:t>DESCRIPTION</a:t>
                      </a:r>
                      <a:endParaRPr lang="en-US" sz="1800" b="1"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800" u="none" strike="noStrike">
                          <a:effectLst/>
                        </a:rPr>
                        <a:t>UNIT</a:t>
                      </a:r>
                      <a:endParaRPr lang="en-US" sz="1800" b="1"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800" u="none" strike="noStrike">
                          <a:effectLst/>
                        </a:rPr>
                        <a:t>QUANTITY</a:t>
                      </a:r>
                      <a:endParaRPr lang="en-US" sz="1800" b="1"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800" u="none" strike="noStrike">
                          <a:effectLst/>
                        </a:rPr>
                        <a:t>RATE</a:t>
                      </a:r>
                      <a:endParaRPr lang="en-US" sz="1800" b="1"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800" u="none" strike="noStrike">
                          <a:effectLst/>
                        </a:rPr>
                        <a:t>AMOUNT</a:t>
                      </a:r>
                      <a:endParaRPr lang="en-US" sz="1800" b="1"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r>
              <a:tr h="797358">
                <a:tc>
                  <a:txBody>
                    <a:bodyPr/>
                    <a:lstStyle/>
                    <a:p>
                      <a:pPr algn="ctr" fontAlgn="ctr"/>
                      <a:r>
                        <a:rPr lang="en-US" sz="1800" u="none" strike="noStrike">
                          <a:effectLst/>
                        </a:rPr>
                        <a:t>4.01</a:t>
                      </a:r>
                      <a:endParaRPr lang="en-US" sz="18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l" fontAlgn="ctr"/>
                      <a:r>
                        <a:rPr lang="en-US" sz="1800" u="none" strike="noStrike" dirty="0" err="1">
                          <a:effectLst/>
                        </a:rPr>
                        <a:t>Provide,spread</a:t>
                      </a:r>
                      <a:r>
                        <a:rPr lang="en-US" sz="1800" u="none" strike="noStrike" dirty="0">
                          <a:effectLst/>
                        </a:rPr>
                        <a:t>, shape and compact to 100% W.A. standard compaction selected lateritic material as </a:t>
                      </a:r>
                      <a:r>
                        <a:rPr lang="en-US" sz="1800" u="none" strike="noStrike" dirty="0" err="1">
                          <a:effectLst/>
                        </a:rPr>
                        <a:t>subbase</a:t>
                      </a:r>
                      <a:r>
                        <a:rPr lang="en-US" sz="1800" u="none" strike="noStrike" dirty="0">
                          <a:effectLst/>
                        </a:rPr>
                        <a:t> course not exceeding a compacted thickness of 150mm including haulage.</a:t>
                      </a:r>
                      <a:endParaRPr lang="en-US" sz="18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solidFill>
                      <a:srgbClr val="FFFF00"/>
                    </a:solidFill>
                  </a:tcPr>
                </a:tc>
                <a:tc>
                  <a:txBody>
                    <a:bodyPr/>
                    <a:lstStyle/>
                    <a:p>
                      <a:pPr algn="ctr" fontAlgn="ctr"/>
                      <a:r>
                        <a:rPr lang="en-US" sz="1800" b="0" i="0" u="none" strike="noStrike" dirty="0">
                          <a:solidFill>
                            <a:schemeClr val="tx1"/>
                          </a:solidFill>
                          <a:effectLst/>
                          <a:latin typeface="+mn-lt"/>
                        </a:rPr>
                        <a:t>M³</a:t>
                      </a:r>
                      <a:endParaRPr lang="en-US" sz="18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800" u="none" strike="noStrike" dirty="0">
                          <a:effectLst/>
                        </a:rPr>
                        <a:t>7023</a:t>
                      </a:r>
                      <a:endParaRPr lang="en-US" sz="18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800" u="none" strike="noStrike">
                          <a:effectLst/>
                        </a:rPr>
                        <a:t>1,400</a:t>
                      </a:r>
                      <a:endParaRPr lang="en-US" sz="18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800" u="none" strike="noStrike" dirty="0">
                          <a:effectLst/>
                        </a:rPr>
                        <a:t>9,832,200.00</a:t>
                      </a:r>
                      <a:endParaRPr lang="en-US" sz="18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r>
              <a:tr h="797358">
                <a:tc>
                  <a:txBody>
                    <a:bodyPr/>
                    <a:lstStyle/>
                    <a:p>
                      <a:pPr algn="ctr" fontAlgn="ctr"/>
                      <a:r>
                        <a:rPr lang="en-US" sz="1000" u="none" strike="noStrike">
                          <a:effectLst/>
                        </a:rPr>
                        <a:t>4.02</a:t>
                      </a:r>
                      <a:endParaRPr lang="en-US" sz="10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l" fontAlgn="ctr"/>
                      <a:r>
                        <a:rPr lang="en-US" sz="1100" u="none" strike="noStrike" dirty="0" err="1">
                          <a:effectLst/>
                        </a:rPr>
                        <a:t>Provide,spread</a:t>
                      </a:r>
                      <a:r>
                        <a:rPr lang="en-US" sz="1100" u="none" strike="noStrike" dirty="0">
                          <a:effectLst/>
                        </a:rPr>
                        <a:t>, shape and compact to 100% W.A. standard compaction selected lateritic material as base course not exceeding a compacted thickness of 150mm including haulage.</a:t>
                      </a:r>
                      <a:endParaRPr lang="en-US" sz="11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solidFill>
                      <a:srgbClr val="FFFF00"/>
                    </a:solidFill>
                  </a:tcPr>
                </a:tc>
                <a:tc>
                  <a:txBody>
                    <a:bodyPr/>
                    <a:lstStyle/>
                    <a:p>
                      <a:pPr algn="ctr" fontAlgn="ctr"/>
                      <a:r>
                        <a:rPr lang="en-US" sz="1000" b="0" i="0" u="none" strike="noStrike" dirty="0">
                          <a:solidFill>
                            <a:schemeClr val="tx1"/>
                          </a:solidFill>
                          <a:effectLst/>
                          <a:latin typeface="+mn-lt"/>
                        </a:rPr>
                        <a:t>M³</a:t>
                      </a:r>
                      <a:endParaRPr lang="en-US" sz="10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000" u="none" strike="noStrike">
                          <a:effectLst/>
                        </a:rPr>
                        <a:t>19368</a:t>
                      </a:r>
                      <a:endParaRPr lang="en-US" sz="10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000" u="none" strike="noStrike" dirty="0">
                          <a:effectLst/>
                        </a:rPr>
                        <a:t>1,500</a:t>
                      </a:r>
                      <a:endParaRPr lang="en-US" sz="10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000" u="none" strike="noStrike">
                          <a:effectLst/>
                        </a:rPr>
                        <a:t>29,052,000.00</a:t>
                      </a:r>
                      <a:endParaRPr lang="en-US" sz="10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r>
              <a:tr h="956829">
                <a:tc>
                  <a:txBody>
                    <a:bodyPr/>
                    <a:lstStyle/>
                    <a:p>
                      <a:pPr algn="ctr" fontAlgn="ctr"/>
                      <a:r>
                        <a:rPr lang="en-US" sz="1000" u="none" strike="noStrike">
                          <a:effectLst/>
                        </a:rPr>
                        <a:t>4.03</a:t>
                      </a:r>
                      <a:endParaRPr lang="en-US" sz="10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l" fontAlgn="ctr"/>
                      <a:r>
                        <a:rPr lang="en-US" sz="1100" u="none" strike="noStrike" dirty="0">
                          <a:effectLst/>
                        </a:rPr>
                        <a:t>Provide, </a:t>
                      </a:r>
                      <a:r>
                        <a:rPr lang="en-US" sz="1100" u="none" strike="noStrike" dirty="0" err="1">
                          <a:effectLst/>
                        </a:rPr>
                        <a:t>spread,shape</a:t>
                      </a:r>
                      <a:r>
                        <a:rPr lang="en-US" sz="1100" u="none" strike="noStrike" dirty="0">
                          <a:effectLst/>
                        </a:rPr>
                        <a:t> and compact to 100% W.A. standard compaction selected crushed stone material as base course not exceeding a minimum compacted thickness of 150mm including haulage.</a:t>
                      </a:r>
                      <a:endParaRPr lang="en-US" sz="11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solidFill>
                      <a:srgbClr val="FFFF00"/>
                    </a:solidFill>
                  </a:tcPr>
                </a:tc>
                <a:tc>
                  <a:txBody>
                    <a:bodyPr/>
                    <a:lstStyle/>
                    <a:p>
                      <a:pPr algn="ctr" fontAlgn="ctr"/>
                      <a:r>
                        <a:rPr lang="en-US" sz="1000" b="0" i="0" u="none" strike="noStrike" dirty="0">
                          <a:solidFill>
                            <a:schemeClr val="tx1"/>
                          </a:solidFill>
                          <a:effectLst/>
                          <a:latin typeface="+mn-lt"/>
                        </a:rPr>
                        <a:t>M³</a:t>
                      </a:r>
                      <a:endParaRPr lang="en-US" sz="10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000" u="none" strike="noStrike" dirty="0">
                          <a:effectLst/>
                        </a:rPr>
                        <a:t>1,737.45</a:t>
                      </a:r>
                      <a:endParaRPr lang="en-US" sz="10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000" u="none" strike="noStrike">
                          <a:effectLst/>
                        </a:rPr>
                        <a:t>10,000</a:t>
                      </a:r>
                      <a:endParaRPr lang="en-US" sz="10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000" u="none" strike="noStrike">
                          <a:effectLst/>
                        </a:rPr>
                        <a:t>17,374,500.00</a:t>
                      </a:r>
                      <a:endParaRPr lang="en-US" sz="10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r>
              <a:tr h="637886">
                <a:tc>
                  <a:txBody>
                    <a:bodyPr/>
                    <a:lstStyle/>
                    <a:p>
                      <a:pPr algn="ctr" fontAlgn="ctr"/>
                      <a:r>
                        <a:rPr lang="en-US" sz="1000" u="none" strike="noStrike">
                          <a:effectLst/>
                        </a:rPr>
                        <a:t>4.04</a:t>
                      </a:r>
                      <a:endParaRPr lang="en-US" sz="10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l" fontAlgn="ctr"/>
                      <a:r>
                        <a:rPr lang="en-US" sz="1100" u="none" strike="noStrike" dirty="0">
                          <a:effectLst/>
                        </a:rPr>
                        <a:t>Provide and spray prime coat using MCO/MCI cut-back bitumen at rate of 1.1litres/m2 rate of spread and blind with quarry fines or river bed sand.</a:t>
                      </a:r>
                      <a:endParaRPr lang="en-US" sz="11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solidFill>
                      <a:srgbClr val="FFFF00"/>
                    </a:solidFill>
                  </a:tcPr>
                </a:tc>
                <a:tc>
                  <a:txBody>
                    <a:bodyPr/>
                    <a:lstStyle/>
                    <a:p>
                      <a:pPr algn="ctr" fontAlgn="ctr"/>
                      <a:r>
                        <a:rPr lang="en-US" sz="1000" b="0" i="0" u="none" strike="noStrike" dirty="0">
                          <a:solidFill>
                            <a:schemeClr val="tx1"/>
                          </a:solidFill>
                          <a:effectLst/>
                          <a:latin typeface="+mn-lt"/>
                        </a:rPr>
                        <a:t>M²</a:t>
                      </a:r>
                      <a:endParaRPr lang="en-US" sz="10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000" u="none" strike="noStrike">
                          <a:effectLst/>
                        </a:rPr>
                        <a:t>97,855.00</a:t>
                      </a:r>
                      <a:endParaRPr lang="en-US" sz="10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000" u="none" strike="noStrike">
                          <a:effectLst/>
                        </a:rPr>
                        <a:t>450</a:t>
                      </a:r>
                      <a:endParaRPr lang="en-US" sz="1000" b="0" i="0" u="none" strike="noStrike">
                        <a:solidFill>
                          <a:srgbClr val="000000"/>
                        </a:solidFill>
                        <a:effectLst/>
                        <a:latin typeface="Times New Roman" panose="02020603050405020304"/>
                      </a:endParaRPr>
                    </a:p>
                  </a:txBody>
                  <a:tcPr marL="7594" marR="7594" marT="7594" marB="0" anchor="ctr">
                    <a:cell3D prstMaterial="dkEdge">
                      <a:bevel prst="convex"/>
                      <a:lightRig rig="flood" dir="t"/>
                    </a:cell3D>
                  </a:tcPr>
                </a:tc>
                <a:tc>
                  <a:txBody>
                    <a:bodyPr/>
                    <a:lstStyle/>
                    <a:p>
                      <a:pPr algn="ctr" fontAlgn="ctr"/>
                      <a:r>
                        <a:rPr lang="en-US" sz="1000" u="none" strike="noStrike" dirty="0">
                          <a:effectLst/>
                        </a:rPr>
                        <a:t>44,034,750.00</a:t>
                      </a:r>
                      <a:endParaRPr lang="en-US" sz="1000" b="0" i="0" u="none" strike="noStrike" dirty="0">
                        <a:solidFill>
                          <a:srgbClr val="000000"/>
                        </a:solidFill>
                        <a:effectLst/>
                        <a:latin typeface="Times New Roman" panose="02020603050405020304"/>
                      </a:endParaRPr>
                    </a:p>
                  </a:txBody>
                  <a:tcPr marL="7594" marR="7594" marT="7594" marB="0" anchor="ctr">
                    <a:cell3D prstMaterial="dkEdge">
                      <a:bevel prst="convex"/>
                      <a:lightRig rig="flood" dir="t"/>
                    </a:cell3D>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14400"/>
          </a:xfrm>
        </p:spPr>
        <p:txBody>
          <a:bodyPr>
            <a:noAutofit/>
          </a:bodyPr>
          <a:lstStyle/>
          <a:p>
            <a:r>
              <a:rPr lang="en-GB" sz="3600" dirty="0"/>
              <a:t>Contract Procedure – Contract Documents- BOQ/BEME</a:t>
            </a:r>
            <a:endParaRPr lang="en-GB" sz="3600" dirty="0"/>
          </a:p>
        </p:txBody>
      </p:sp>
      <p:sp>
        <p:nvSpPr>
          <p:cNvPr id="3" name="Content Placeholder 2"/>
          <p:cNvSpPr>
            <a:spLocks noGrp="1"/>
          </p:cNvSpPr>
          <p:nvPr>
            <p:ph idx="1"/>
          </p:nvPr>
        </p:nvSpPr>
        <p:spPr>
          <a:xfrm>
            <a:off x="228600" y="990600"/>
            <a:ext cx="8686800" cy="5105400"/>
          </a:xfrm>
        </p:spPr>
        <p:txBody>
          <a:bodyPr>
            <a:noAutofit/>
          </a:bodyPr>
          <a:lstStyle/>
          <a:p>
            <a:pPr algn="just"/>
            <a:r>
              <a:rPr lang="en-GB" sz="2400" dirty="0"/>
              <a:t>A BOQ/BEME consists of an orderly schedule of the items of work to be carried out under the contract and their descriptions, with quantities entered against each item. Each item will include the materials, labour and plant required unless provision has been made elsewhere in the bill for a separate assessment of one of these components</a:t>
            </a:r>
            <a:endParaRPr lang="en-GB" sz="2400" dirty="0"/>
          </a:p>
          <a:p>
            <a:pPr algn="just"/>
            <a:r>
              <a:rPr lang="en-GB" sz="2400" dirty="0"/>
              <a:t>The quantities are computed from the finished work shown on the drawings and the descriptions derived from the specification and the drawings</a:t>
            </a:r>
            <a:endParaRPr lang="en-GB" sz="2400" dirty="0"/>
          </a:p>
          <a:p>
            <a:pPr algn="just"/>
            <a:r>
              <a:rPr lang="en-GB" sz="2400" dirty="0"/>
              <a:t>Quantities for engineering works are normally measured  in accordance with Standard Methods of Measurement (SMM)</a:t>
            </a:r>
            <a:endParaRPr lang="en-GB" sz="2400" dirty="0"/>
          </a:p>
          <a:p>
            <a:pPr algn="just"/>
            <a:r>
              <a:rPr lang="en-GB" sz="2400" dirty="0"/>
              <a:t>One of the primary functions of an engineering BOQ/BEME is to provide a basis on which tenders can be obtained and when the bills are priced, they afford a means of comparing the various tenders received</a:t>
            </a:r>
            <a:endParaRPr lang="en-GB" sz="24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4225" y="1676400"/>
            <a:ext cx="8229600" cy="4732338"/>
          </a:xfrm>
        </p:spPr>
        <p:txBody>
          <a:bodyPr/>
          <a:lstStyle/>
          <a:p>
            <a:pPr algn="just"/>
            <a:r>
              <a:rPr lang="en-US" sz="2800" dirty="0"/>
              <a:t>1. Highlight three things you expect to gain from this course. </a:t>
            </a:r>
            <a:endParaRPr lang="en-US" sz="2800" dirty="0"/>
          </a:p>
          <a:p>
            <a:pPr algn="just"/>
            <a:r>
              <a:rPr lang="en-US" sz="2800" dirty="0"/>
              <a:t>2. Why do we study Engineering law and managerial economy. Substantiate your discussion with a case study in your area of specialty</a:t>
            </a:r>
            <a:endParaRPr lang="en-US" sz="2800" dirty="0"/>
          </a:p>
          <a:p>
            <a:pPr algn="just"/>
            <a:r>
              <a:rPr lang="en-US" sz="2800" dirty="0"/>
              <a:t>3. What is the name of current Minister for Justice in Nigeria</a:t>
            </a:r>
            <a:endParaRPr lang="en-US" sz="2800" dirty="0"/>
          </a:p>
          <a:p>
            <a:pPr algn="just"/>
            <a:r>
              <a:rPr lang="en-US" sz="2800" dirty="0"/>
              <a:t>In Three sentences, Differentiate between Criminal law and Civil Law</a:t>
            </a:r>
            <a:endParaRPr lang="en-US" sz="2800" dirty="0"/>
          </a:p>
          <a:p>
            <a:pPr algn="just"/>
            <a:endParaRPr lang="en-US" sz="2800" dirty="0"/>
          </a:p>
        </p:txBody>
      </p:sp>
      <p:sp>
        <p:nvSpPr>
          <p:cNvPr id="3" name="Title 2"/>
          <p:cNvSpPr>
            <a:spLocks noGrp="1"/>
          </p:cNvSpPr>
          <p:nvPr>
            <p:ph type="title"/>
          </p:nvPr>
        </p:nvSpPr>
        <p:spPr/>
        <p:txBody>
          <a:bodyPr/>
          <a:lstStyle/>
          <a:p>
            <a:r>
              <a:rPr lang="en-US" dirty="0"/>
              <a:t>SNAP TEST</a:t>
            </a:r>
            <a:endParaRPr lang="en-US" dirty="0"/>
          </a:p>
        </p:txBody>
      </p:sp>
      <p:sp>
        <p:nvSpPr>
          <p:cNvPr id="5" name="Slide Number Placeholder 4"/>
          <p:cNvSpPr>
            <a:spLocks noGrp="1"/>
          </p:cNvSpPr>
          <p:nvPr>
            <p:ph type="sldNum" sz="quarter" idx="12"/>
          </p:nvPr>
        </p:nvSpPr>
        <p:spPr/>
        <p:txBody>
          <a:bodyPr/>
          <a:lstStyle/>
          <a:p>
            <a:pPr>
              <a:defRPr/>
            </a:pPr>
            <a:fld id="{A2B5CF83-1F53-4043-8700-93E6329EBC98}" type="slidenum">
              <a:rPr lang="en-US" smtClean="0"/>
            </a:fld>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Title 1"/>
          <p:cNvSpPr>
            <a:spLocks noGrp="1"/>
          </p:cNvSpPr>
          <p:nvPr>
            <p:ph type="title"/>
          </p:nvPr>
        </p:nvSpPr>
        <p:spPr>
          <a:xfrm>
            <a:off x="533400" y="1143000"/>
            <a:ext cx="8229600" cy="2057400"/>
          </a:xfrm>
        </p:spPr>
        <p:txBody>
          <a:bodyPr>
            <a:normAutofit fontScale="90000"/>
          </a:bodyPr>
          <a:lstStyle/>
          <a:p>
            <a:pPr algn="ctr" eaLnBrk="1" hangingPunct="1"/>
            <a:r>
              <a:rPr lang="en-US" sz="7200" dirty="0"/>
              <a:t>Thank you for your attention</a:t>
            </a:r>
            <a:endParaRPr lang="en-US" sz="72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Gallery</Template>
  <TotalTime>0</TotalTime>
  <Words>59089</Words>
  <Application>WPS Presentation</Application>
  <PresentationFormat>On-screen Show (4:3)</PresentationFormat>
  <Paragraphs>1103</Paragraphs>
  <Slides>120</Slides>
  <Notes>5</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120</vt:i4>
      </vt:variant>
    </vt:vector>
  </HeadingPairs>
  <TitlesOfParts>
    <vt:vector size="146" baseType="lpstr">
      <vt:lpstr>Arial</vt:lpstr>
      <vt:lpstr>SimSun</vt:lpstr>
      <vt:lpstr>Wingdings</vt:lpstr>
      <vt:lpstr>Georgia</vt:lpstr>
      <vt:lpstr>Lucida Sans Unicode</vt:lpstr>
      <vt:lpstr>Wingdings 3</vt:lpstr>
      <vt:lpstr>Symbol</vt:lpstr>
      <vt:lpstr>Verdana</vt:lpstr>
      <vt:lpstr>Wingdings 2</vt:lpstr>
      <vt:lpstr>Wingdings</vt:lpstr>
      <vt:lpstr>Wingdings 2</vt:lpstr>
      <vt:lpstr>Times New Roman</vt:lpstr>
      <vt:lpstr>Calibri</vt:lpstr>
      <vt:lpstr>Microsoft YaHei</vt:lpstr>
      <vt:lpstr>Arial Unicode MS</vt:lpstr>
      <vt:lpstr>Tahoma</vt:lpstr>
      <vt:lpstr>Calibri</vt:lpstr>
      <vt:lpstr>Times New Roman</vt:lpstr>
      <vt:lpstr>Agency FB</vt:lpstr>
      <vt:lpstr>Trebuchet MS</vt:lpstr>
      <vt:lpstr>Calisto MT</vt:lpstr>
      <vt:lpstr>Segoe Print</vt:lpstr>
      <vt:lpstr>Comic Sans MS</vt:lpstr>
      <vt:lpstr>Arial</vt:lpstr>
      <vt:lpstr>Tahoma</vt:lpstr>
      <vt:lpstr>Concourse</vt:lpstr>
      <vt:lpstr>EME 5113: ENGINEERING LAW</vt:lpstr>
      <vt:lpstr>EME 5113: COURSE OUTLINE</vt:lpstr>
      <vt:lpstr>PowerPoint 演示文稿</vt:lpstr>
      <vt:lpstr>PowerPoint 演示文稿</vt:lpstr>
      <vt:lpstr>INTRODUCTION</vt:lpstr>
      <vt:lpstr>Definition of Law</vt:lpstr>
      <vt:lpstr>Definition of Law</vt:lpstr>
      <vt:lpstr>PowerPoint 演示文稿</vt:lpstr>
      <vt:lpstr>PowerPoint 演示文稿</vt:lpstr>
      <vt:lpstr>PowerPoint 演示文稿</vt:lpstr>
      <vt:lpstr>PowerPoint 演示文稿</vt:lpstr>
      <vt:lpstr>Key topic areas for engineering law are: </vt:lpstr>
      <vt:lpstr>PowerPoint 演示文稿</vt:lpstr>
      <vt:lpstr>PowerPoint 演示文稿</vt:lpstr>
      <vt:lpstr>PowerPoint 演示文稿</vt:lpstr>
      <vt:lpstr>PowerPoint 演示文稿</vt:lpstr>
      <vt:lpstr>PowerPoint 演示文稿</vt:lpstr>
      <vt:lpstr>What Engineers Do? (a review)4</vt:lpstr>
      <vt:lpstr>“What is a Profession”1</vt:lpstr>
      <vt:lpstr>Code of ethics</vt:lpstr>
      <vt:lpstr>PowerPoint 演示文稿</vt:lpstr>
      <vt:lpstr>Big picture</vt:lpstr>
      <vt:lpstr>Law vs. Ethics</vt:lpstr>
      <vt:lpstr>Is “legal” the same as “ethical?”</vt:lpstr>
      <vt:lpstr>PowerPoint 演示文稿</vt:lpstr>
      <vt:lpstr>Nigerian legal system</vt:lpstr>
      <vt:lpstr>PowerPoint 演示文稿</vt:lpstr>
      <vt:lpstr>PowerPoint 演示文稿</vt:lpstr>
      <vt:lpstr>Sources of Law</vt:lpstr>
      <vt:lpstr>PowerPoint 演示文稿</vt:lpstr>
      <vt:lpstr>PowerPoint 演示文稿</vt:lpstr>
      <vt:lpstr>PowerPoint 演示文稿</vt:lpstr>
      <vt:lpstr>PowerPoint 演示文稿</vt:lpstr>
      <vt:lpstr>PowerPoint 演示文稿</vt:lpstr>
      <vt:lpstr>PowerPoint 演示文稿</vt:lpstr>
      <vt:lpstr>Sources of Law Contd.</vt:lpstr>
      <vt:lpstr>Sources of Law Contd.</vt:lpstr>
      <vt:lpstr>Sources of Law Contd.</vt:lpstr>
      <vt:lpstr>Sources of Law Contd.</vt:lpstr>
      <vt:lpstr>Sources of Law Contd.</vt:lpstr>
      <vt:lpstr>What is the difference between a criminal case and a civil case?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Organization of court</vt:lpstr>
      <vt:lpstr>PowerPoint 演示文稿</vt:lpstr>
      <vt:lpstr>PowerPoint 演示文稿</vt:lpstr>
      <vt:lpstr>PowerPoint 演示文稿</vt:lpstr>
      <vt:lpstr>Organisation of Nigerian Courts</vt:lpstr>
      <vt:lpstr>PowerPoint 演示文稿</vt:lpstr>
      <vt:lpstr>PowerPoint 演示文稿</vt:lpstr>
      <vt:lpstr>Organisation of Nigerian Courts</vt:lpstr>
      <vt:lpstr>PowerPoint 演示文稿</vt:lpstr>
      <vt:lpstr>Organisation of Nigerian Courts</vt:lpstr>
      <vt:lpstr>Organisation of Nigerian Courts</vt:lpstr>
      <vt:lpstr>Organisation of Nigerian Courts</vt:lpstr>
      <vt:lpstr>Organisation of Nigerian Courts</vt:lpstr>
      <vt:lpstr>PowerPoint 演示文稿</vt:lpstr>
      <vt:lpstr>PowerPoint 演示文稿</vt:lpstr>
      <vt:lpstr>Law of  Tort</vt:lpstr>
      <vt:lpstr>PowerPoint 演示文稿</vt:lpstr>
      <vt:lpstr>What is Contract</vt:lpstr>
      <vt:lpstr>Contract</vt:lpstr>
      <vt:lpstr>Definitions of A Contract</vt:lpstr>
      <vt:lpstr>PowerPoint 演示文稿</vt:lpstr>
      <vt:lpstr>Characteristics of a Contract</vt:lpstr>
      <vt:lpstr>PowerPoint 演示文稿</vt:lpstr>
      <vt:lpstr>PowerPoint 演示文稿</vt:lpstr>
      <vt:lpstr>PowerPoint 演示文稿</vt:lpstr>
      <vt:lpstr>Contract</vt:lpstr>
      <vt:lpstr>Formation of Contract</vt:lpstr>
      <vt:lpstr>Elements of a contract</vt:lpstr>
      <vt:lpstr>PowerPoint 演示文稿</vt:lpstr>
      <vt:lpstr>Types of contract</vt:lpstr>
      <vt:lpstr>Types of contract</vt:lpstr>
      <vt:lpstr>Classification of Contracts</vt:lpstr>
      <vt:lpstr>On the basis of formation</vt:lpstr>
      <vt:lpstr>PowerPoint 演示文稿</vt:lpstr>
      <vt:lpstr>PowerPoint 演示文稿</vt:lpstr>
      <vt:lpstr>On the basis of execution</vt:lpstr>
      <vt:lpstr>PowerPoint 演示文稿</vt:lpstr>
      <vt:lpstr>Classification of Contracts</vt:lpstr>
      <vt:lpstr>Classification of Contracts</vt:lpstr>
      <vt:lpstr>Classification of Contracts</vt:lpstr>
      <vt:lpstr>Classification of Contracts</vt:lpstr>
      <vt:lpstr>Contract Procedure – Types of Contract</vt:lpstr>
      <vt:lpstr>PowerPoint 演示文稿</vt:lpstr>
      <vt:lpstr>Contract Procedure – Contract Documents- Form of Agreement</vt:lpstr>
      <vt:lpstr>Vitiation of Contract</vt:lpstr>
      <vt:lpstr>Vitiation of Contract Contd.</vt:lpstr>
      <vt:lpstr>Termination or Discharge of Contract</vt:lpstr>
      <vt:lpstr>Remedies for the Breach of Contract</vt:lpstr>
      <vt:lpstr>Remedies for the Breach of Contract</vt:lpstr>
      <vt:lpstr>Extinction of Remedies</vt:lpstr>
      <vt:lpstr>Common Contracts Encountered in Engineering Practice</vt:lpstr>
      <vt:lpstr>Common Contracts Encountered in Engineering Practice</vt:lpstr>
      <vt:lpstr>Contract Documentation for Engineers</vt:lpstr>
      <vt:lpstr> Validity</vt:lpstr>
      <vt:lpstr>B.E.M.E</vt:lpstr>
      <vt:lpstr>ELEMENTS OF B.E.M.E</vt:lpstr>
      <vt:lpstr>PowerPoint 演示文稿</vt:lpstr>
      <vt:lpstr>PowerPoint 演示文稿</vt:lpstr>
      <vt:lpstr>PowerPoint 演示文稿</vt:lpstr>
      <vt:lpstr>PowerPoint 演示文稿</vt:lpstr>
      <vt:lpstr>Contract Procedure – Contract Documents- BOQ/BEME</vt:lpstr>
      <vt:lpstr>SNAP TEST</vt:lpstr>
      <vt:lpstr>Thank you for your attention</vt:lpstr>
    </vt:vector>
  </TitlesOfParts>
  <Company>ExxonMobil</Company>
  <LinksUpToDate>false</LinksUpToDate>
  <SharedDoc>false</SharedDoc>
  <HyperlinksChanged>false</HyperlinksChanged>
  <AppVersion>14.0000</AppVersion>
  <Pages>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Cased-Hole Logging</dc:title>
  <dc:creator>ENGR. O.J OYEBODE</dc:creator>
  <dc:subject>Cased-Hole Logging</dc:subject>
  <cp:lastModifiedBy>WRLD KING</cp:lastModifiedBy>
  <cp:revision>846</cp:revision>
  <cp:lastPrinted>2001-07-13T12:57:00Z</cp:lastPrinted>
  <dcterms:created xsi:type="dcterms:W3CDTF">1997-06-02T09:03:00Z</dcterms:created>
  <dcterms:modified xsi:type="dcterms:W3CDTF">2025-11-20T06:35:28Z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673E289449564E78A51C7CA2BB7E4128_12</vt:lpwstr>
  </property>
  <property fmtid="{D5CDD505-2E9C-101B-9397-08002B2CF9AE}" pid="3" name="KSOProductBuildVer">
    <vt:lpwstr>1033-12.2.0.21931</vt:lpwstr>
  </property>
</Properties>
</file>