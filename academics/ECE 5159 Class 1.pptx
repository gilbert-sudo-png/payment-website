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3"/>
    <p:sldId id="258" r:id="rId4"/>
    <p:sldId id="331" r:id="rId5"/>
    <p:sldId id="317" r:id="rId6"/>
    <p:sldId id="318" r:id="rId7"/>
    <p:sldId id="319" r:id="rId8"/>
    <p:sldId id="320" r:id="rId9"/>
    <p:sldId id="316" r:id="rId10"/>
    <p:sldId id="321" r:id="rId11"/>
    <p:sldId id="322" r:id="rId12"/>
    <p:sldId id="323" r:id="rId13"/>
    <p:sldId id="324" r:id="rId14"/>
    <p:sldId id="325" r:id="rId15"/>
    <p:sldId id="330" r:id="rId16"/>
    <p:sldId id="326" r:id="rId17"/>
    <p:sldId id="32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3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264695" y="4738499"/>
            <a:ext cx="913888" cy="1189623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1589405" y="160417"/>
            <a:ext cx="9144000" cy="80778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vert="horz" lIns="91440" tIns="45720" rIns="91440" bIns="45720" rtlCol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ECE </a:t>
            </a:r>
            <a:r>
              <a:rPr lang="en-US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  <a:r>
              <a:rPr lang="en-US" altLang="en-GB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159</a:t>
            </a:r>
            <a:endParaRPr lang="en-US" altLang="en-GB" sz="4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/>
        </p:nvSpPr>
        <p:spPr>
          <a:xfrm>
            <a:off x="2564130" y="2010410"/>
            <a:ext cx="7193915" cy="1594485"/>
          </a:xfrm>
          <a:prstGeom prst="rect">
            <a:avLst/>
          </a:prstGeom>
          <a:solidFill>
            <a:schemeClr val="bg1"/>
          </a:solidFill>
          <a:ln w="63500" cmpd="tri">
            <a:solidFill>
              <a:srgbClr val="92D050"/>
            </a:solidFill>
          </a:ln>
        </p:spPr>
        <p:txBody>
          <a:bodyPr vert="horz" lIns="91440" tIns="45720" rIns="91440" bIns="45720" rtlCol="0">
            <a:no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GB" sz="5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DELANEY" panose="02000000000000000000" pitchFamily="2" charset="0"/>
              </a:rPr>
              <a:t> </a:t>
            </a:r>
            <a:r>
              <a:rPr lang="en-GB" sz="5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DELANEY" panose="02000000000000000000" pitchFamily="2" charset="0"/>
              </a:rPr>
              <a:t>DIGITAL </a:t>
            </a:r>
            <a:r>
              <a:rPr lang="en-US" altLang="en-GB" sz="5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DELANEY" panose="02000000000000000000" pitchFamily="2" charset="0"/>
              </a:rPr>
              <a:t>SYSTEM DESIGN WITH VHDL</a:t>
            </a:r>
            <a:endParaRPr lang="en-US" altLang="en-GB" sz="5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 DELANEY" panose="02000000000000000000" pitchFamily="2" charset="0"/>
            </a:endParaRPr>
          </a:p>
        </p:txBody>
      </p:sp>
      <p:sp>
        <p:nvSpPr>
          <p:cNvPr id="10" name="Subtitle 2"/>
          <p:cNvSpPr txBox="1"/>
          <p:nvPr/>
        </p:nvSpPr>
        <p:spPr>
          <a:xfrm>
            <a:off x="4079040" y="4773100"/>
            <a:ext cx="5097097" cy="1490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GB" sz="3200" dirty="0">
                <a:solidFill>
                  <a:schemeClr val="tx2"/>
                </a:solidFill>
                <a:latin typeface="Arial Black" panose="020B0A04020102020204" pitchFamily="34" charset="0"/>
              </a:rPr>
              <a:t>Engr. Professor  Alice </a:t>
            </a:r>
            <a:r>
              <a:rPr lang="en-GB" sz="3200" dirty="0" err="1">
                <a:solidFill>
                  <a:schemeClr val="tx2"/>
                </a:solidFill>
                <a:latin typeface="Arial Black" panose="020B0A04020102020204" pitchFamily="34" charset="0"/>
              </a:rPr>
              <a:t>Oluwafunke</a:t>
            </a:r>
            <a:r>
              <a:rPr lang="en-GB" sz="3200" dirty="0">
                <a:solidFill>
                  <a:schemeClr val="tx2"/>
                </a:solidFill>
                <a:latin typeface="Arial Black" panose="020B0A04020102020204" pitchFamily="34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Arial Black" panose="020B0A04020102020204" pitchFamily="34" charset="0"/>
              </a:rPr>
              <a:t>Oke</a:t>
            </a:r>
            <a:endParaRPr lang="en-GB" sz="3200" dirty="0">
              <a:solidFill>
                <a:schemeClr val="tx2"/>
              </a:solidFill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GB" sz="2000" dirty="0">
                <a:solidFill>
                  <a:schemeClr val="tx2"/>
                </a:solidFill>
                <a:latin typeface="Arial Narrow" panose="020B0606020202030204" pitchFamily="34" charset="0"/>
              </a:rPr>
              <a:t>Department of Computer Engineering, ACU, Oyo</a:t>
            </a:r>
            <a:endParaRPr lang="en-GB" sz="2000" dirty="0">
              <a:solidFill>
                <a:schemeClr val="tx2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/>
        </p:nvSpPr>
        <p:spPr>
          <a:xfrm>
            <a:off x="9640824" y="6282531"/>
            <a:ext cx="457200" cy="476250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0FA790-472C-4ACF-93DE-80C8E3117666}" type="slidenum">
              <a:rPr lang="en-US" smtClean="0"/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423160" y="-49493"/>
            <a:ext cx="701040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DIGITAL SYSTEM DESIGN</a:t>
            </a:r>
            <a:endParaRPr lang="en-US" sz="40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26558" t="35840" r="24631" b="18454"/>
          <a:stretch>
            <a:fillRect/>
          </a:stretch>
        </p:blipFill>
        <p:spPr>
          <a:xfrm>
            <a:off x="646726" y="1094281"/>
            <a:ext cx="10880710" cy="57281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0204" y="734306"/>
            <a:ext cx="10756311" cy="6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kern="0" dirty="0">
                <a:solidFill>
                  <a:schemeClr val="accent6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LEVELS OF ABSTRACTION OF DIGITAL SYSTEM</a:t>
            </a:r>
            <a:endParaRPr lang="en-US" sz="3200" b="1" kern="100" dirty="0">
              <a:solidFill>
                <a:schemeClr val="accent6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/>
        </p:nvSpPr>
        <p:spPr>
          <a:xfrm>
            <a:off x="327660" y="891381"/>
            <a:ext cx="11696700" cy="571500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n-US" sz="3600" dirty="0">
                <a:solidFill>
                  <a:srgbClr val="000000"/>
                </a:solidFill>
                <a:effectLst/>
                <a:latin typeface="Nunito" pitchFamily="2" charset="0"/>
              </a:rPr>
              <a:t>Developing a digital system is a refining and validating process</a:t>
            </a:r>
            <a:endParaRPr lang="en-US" sz="3600" dirty="0">
              <a:solidFill>
                <a:srgbClr val="000000"/>
              </a:solidFill>
              <a:latin typeface="Nunito" pitchFamily="2" charset="0"/>
            </a:endParaRPr>
          </a:p>
          <a:p>
            <a:pPr marL="82550" indent="0">
              <a:buNone/>
            </a:pPr>
            <a:endParaRPr lang="en-US" sz="360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 marL="82550" indent="0">
              <a:buNone/>
            </a:pPr>
            <a:r>
              <a:rPr lang="en-US" sz="3600" dirty="0">
                <a:solidFill>
                  <a:srgbClr val="000000"/>
                </a:solidFill>
                <a:effectLst/>
                <a:latin typeface="Nunito" pitchFamily="2" charset="0"/>
              </a:rPr>
              <a:t>Main tasks Consist: </a:t>
            </a:r>
            <a:endParaRPr lang="en-US" sz="360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00000"/>
                </a:solidFill>
                <a:effectLst/>
                <a:latin typeface="Nunito" pitchFamily="2" charset="0"/>
              </a:rPr>
              <a:t>Synthesis </a:t>
            </a:r>
            <a:endParaRPr lang="en-US" sz="360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00000"/>
                </a:solidFill>
                <a:effectLst/>
                <a:latin typeface="Nunito" pitchFamily="2" charset="0"/>
              </a:rPr>
              <a:t>Physical design </a:t>
            </a:r>
            <a:endParaRPr lang="en-US" sz="360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00000"/>
                </a:solidFill>
                <a:effectLst/>
                <a:latin typeface="Nunito" pitchFamily="2" charset="0"/>
              </a:rPr>
              <a:t>Verification </a:t>
            </a:r>
            <a:endParaRPr lang="en-US" sz="360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00000"/>
                </a:solidFill>
                <a:effectLst/>
                <a:latin typeface="Nunito" pitchFamily="2" charset="0"/>
              </a:rPr>
              <a:t>Testing</a:t>
            </a:r>
            <a:endParaRPr lang="en-US" sz="3600" dirty="0">
              <a:latin typeface="Nunito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/>
        </p:nvSpPr>
        <p:spPr>
          <a:xfrm>
            <a:off x="9640824" y="6282531"/>
            <a:ext cx="457200" cy="476250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0FA790-472C-4ACF-93DE-80C8E3117666}" type="slidenum">
              <a:rPr lang="en-US" smtClean="0"/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423160" y="-49493"/>
            <a:ext cx="701040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DIGITAL SYSTEM DESIGN</a:t>
            </a:r>
            <a:endParaRPr lang="en-US" sz="40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/>
        </p:nvSpPr>
        <p:spPr>
          <a:xfrm>
            <a:off x="327660" y="891381"/>
            <a:ext cx="11696700" cy="571500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n-US" sz="3600" dirty="0">
                <a:solidFill>
                  <a:srgbClr val="000000"/>
                </a:solidFill>
                <a:effectLst/>
                <a:latin typeface="Nunito" pitchFamily="2" charset="0"/>
              </a:rPr>
              <a:t>Synthesis is the process of generating a logic circuit from the description of the desired functional </a:t>
            </a:r>
            <a:r>
              <a:rPr lang="en-US" sz="3600" dirty="0" err="1">
                <a:solidFill>
                  <a:srgbClr val="000000"/>
                </a:solidFill>
                <a:effectLst/>
                <a:latin typeface="Nunito" pitchFamily="2" charset="0"/>
              </a:rPr>
              <a:t>behaviour</a:t>
            </a:r>
            <a:r>
              <a:rPr lang="en-US" sz="3600" dirty="0">
                <a:solidFill>
                  <a:srgbClr val="000000"/>
                </a:solidFill>
                <a:effectLst/>
                <a:latin typeface="Nunito" pitchFamily="2" charset="0"/>
              </a:rPr>
              <a:t> of a digital system</a:t>
            </a:r>
            <a:endParaRPr lang="en-US" sz="3600" dirty="0">
              <a:solidFill>
                <a:srgbClr val="000000"/>
              </a:solidFill>
              <a:latin typeface="Nunito" pitchFamily="2" charset="0"/>
            </a:endParaRPr>
          </a:p>
          <a:p>
            <a:pPr marL="82550" indent="0">
              <a:buNone/>
            </a:pPr>
            <a:endParaRPr lang="en-US" sz="360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 marL="82550" indent="0">
              <a:buNone/>
            </a:pPr>
            <a:r>
              <a:rPr lang="en-US" sz="3600" dirty="0">
                <a:solidFill>
                  <a:srgbClr val="000000"/>
                </a:solidFill>
                <a:latin typeface="Nunito" pitchFamily="2" charset="0"/>
              </a:rPr>
              <a:t>Step</a:t>
            </a:r>
            <a:r>
              <a:rPr lang="en-US" sz="3600" dirty="0">
                <a:solidFill>
                  <a:srgbClr val="000000"/>
                </a:solidFill>
                <a:effectLst/>
                <a:latin typeface="Nunito" pitchFamily="2" charset="0"/>
              </a:rPr>
              <a:t>s of the Synthesis: </a:t>
            </a:r>
            <a:endParaRPr lang="en-US" sz="360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00000"/>
                </a:solidFill>
                <a:effectLst/>
                <a:latin typeface="Nunito" pitchFamily="2" charset="0"/>
              </a:rPr>
              <a:t>Create a Truth Table</a:t>
            </a:r>
            <a:endParaRPr lang="en-US" sz="360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00000"/>
                </a:solidFill>
                <a:effectLst/>
                <a:latin typeface="Nunito" pitchFamily="2" charset="0"/>
              </a:rPr>
              <a:t>Generate SOP/POS expression </a:t>
            </a:r>
            <a:endParaRPr lang="en-US" sz="360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00000"/>
                </a:solidFill>
                <a:effectLst/>
                <a:latin typeface="Nunito" pitchFamily="2" charset="0"/>
              </a:rPr>
              <a:t>Optimize the expression </a:t>
            </a:r>
            <a:endParaRPr lang="en-US" sz="360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00000"/>
                </a:solidFill>
                <a:latin typeface="Nunito" pitchFamily="2" charset="0"/>
              </a:rPr>
              <a:t>Design the logic circuit</a:t>
            </a:r>
            <a:endParaRPr lang="en-US" sz="3600" dirty="0">
              <a:latin typeface="Nunito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/>
        </p:nvSpPr>
        <p:spPr>
          <a:xfrm>
            <a:off x="9640824" y="6282531"/>
            <a:ext cx="457200" cy="476250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0FA790-472C-4ACF-93DE-80C8E3117666}" type="slidenum">
              <a:rPr lang="en-US" smtClean="0"/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962400" y="0"/>
            <a:ext cx="367284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solidFill>
                  <a:srgbClr val="FF0000"/>
                </a:solidFill>
                <a:effectLst/>
                <a:latin typeface="Nunito" pitchFamily="2" charset="0"/>
              </a:rPr>
              <a:t>SYNTHESIS</a:t>
            </a:r>
            <a:r>
              <a:rPr lang="en-US" sz="4000" b="1" kern="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/>
        </p:nvSpPr>
        <p:spPr>
          <a:xfrm>
            <a:off x="179070" y="1279158"/>
            <a:ext cx="11696700" cy="5283939"/>
          </a:xfrm>
          <a:prstGeom prst="rect">
            <a:avLst/>
          </a:prstGeom>
        </p:spPr>
        <p:txBody>
          <a:bodyPr>
            <a:no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3600" dirty="0">
                <a:latin typeface="Nunito" pitchFamily="2" charset="0"/>
              </a:rPr>
              <a:t>When designing a logic circuits, the designer works from two sets of known values that are used to create a table</a:t>
            </a:r>
            <a:endParaRPr lang="en-US" sz="3600" dirty="0">
              <a:latin typeface="Nunito" pitchFamily="2" charset="0"/>
            </a:endParaRPr>
          </a:p>
          <a:p>
            <a:pPr>
              <a:buNone/>
            </a:pPr>
            <a:r>
              <a:rPr lang="en-US" sz="3600" dirty="0">
                <a:latin typeface="Nunito" pitchFamily="2" charset="0"/>
              </a:rPr>
              <a:t> </a:t>
            </a:r>
            <a:endParaRPr lang="en-US" sz="3600" dirty="0">
              <a:latin typeface="Nunito" pitchFamily="2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3600" dirty="0">
                <a:latin typeface="Nunito" pitchFamily="2" charset="0"/>
              </a:rPr>
              <a:t>Various states that the inputs to the logical network may assume</a:t>
            </a:r>
            <a:endParaRPr lang="en-US" sz="3600" dirty="0">
              <a:latin typeface="Nunito" pitchFamily="2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3600" dirty="0">
                <a:latin typeface="Nunito" pitchFamily="2" charset="0"/>
              </a:rPr>
              <a:t>The desired outputs for each input combination or valuation.</a:t>
            </a:r>
            <a:endParaRPr lang="en-US" sz="3600" dirty="0">
              <a:latin typeface="Nunito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/>
        </p:nvSpPr>
        <p:spPr>
          <a:xfrm>
            <a:off x="9640824" y="6282531"/>
            <a:ext cx="457200" cy="476250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0FA790-472C-4ACF-93DE-80C8E3117666}" type="slidenum">
              <a:rPr lang="en-US" smtClean="0"/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863340" y="0"/>
            <a:ext cx="473964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solidFill>
                  <a:srgbClr val="FF0000"/>
                </a:solidFill>
                <a:effectLst/>
                <a:latin typeface="Nunito" pitchFamily="2" charset="0"/>
              </a:rPr>
              <a:t>SYNTHESIS </a:t>
            </a:r>
            <a:r>
              <a:rPr lang="en-US" sz="4000" b="1" dirty="0" err="1">
                <a:solidFill>
                  <a:srgbClr val="FF0000"/>
                </a:solidFill>
                <a:effectLst/>
                <a:latin typeface="Nunito" pitchFamily="2" charset="0"/>
              </a:rPr>
              <a:t>Contd</a:t>
            </a:r>
            <a:r>
              <a:rPr lang="en-US" sz="4000" b="1" kern="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/>
        </p:nvSpPr>
        <p:spPr>
          <a:xfrm>
            <a:off x="247650" y="755086"/>
            <a:ext cx="11696700" cy="6117797"/>
          </a:xfrm>
          <a:prstGeom prst="rect">
            <a:avLst/>
          </a:prstGeom>
        </p:spPr>
        <p:txBody>
          <a:bodyPr>
            <a:no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3600" dirty="0">
                <a:latin typeface="Nunito" pitchFamily="2" charset="0"/>
              </a:rPr>
              <a:t>Logical expression can be in two forms: </a:t>
            </a:r>
            <a:endParaRPr lang="en-US" sz="3600" dirty="0">
              <a:latin typeface="Nunito" pitchFamily="2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rgbClr val="00B0F0"/>
                </a:solidFill>
                <a:latin typeface="Nunito" pitchFamily="2" charset="0"/>
              </a:rPr>
              <a:t>Sum of Product (SOP) </a:t>
            </a:r>
            <a:endParaRPr lang="en-US" sz="3600" b="1" dirty="0">
              <a:solidFill>
                <a:srgbClr val="00B0F0"/>
              </a:solidFill>
              <a:latin typeface="Nunito" pitchFamily="2" charset="0"/>
            </a:endParaRPr>
          </a:p>
          <a:p>
            <a:pPr marL="82550" indent="0">
              <a:buNone/>
            </a:pPr>
            <a:r>
              <a:rPr lang="en-US" sz="3600" dirty="0">
                <a:latin typeface="Nunito" pitchFamily="2" charset="0"/>
              </a:rPr>
              <a:t>Examples: </a:t>
            </a:r>
            <a:endParaRPr lang="en-US" sz="3600" dirty="0">
              <a:latin typeface="Nunito" pitchFamily="2" charset="0"/>
            </a:endParaRPr>
          </a:p>
          <a:p>
            <a:pPr marL="82550" indent="0">
              <a:buNone/>
            </a:pPr>
            <a:r>
              <a:rPr lang="en-US" dirty="0">
                <a:latin typeface="Nunito" pitchFamily="2" charset="0"/>
              </a:rPr>
              <a:t>1.  XYZ + WYZ + XWG</a:t>
            </a:r>
            <a:endParaRPr lang="en-US" dirty="0">
              <a:latin typeface="Nunito" pitchFamily="2" charset="0"/>
            </a:endParaRPr>
          </a:p>
          <a:p>
            <a:pPr marL="82550" indent="0">
              <a:buNone/>
            </a:pPr>
            <a:r>
              <a:rPr lang="en-US" dirty="0">
                <a:latin typeface="Nunito" pitchFamily="2" charset="0"/>
              </a:rPr>
              <a:t>2.  ABD + CBA + BDC</a:t>
            </a:r>
            <a:endParaRPr lang="en-US" dirty="0">
              <a:latin typeface="Nunito" pitchFamily="2" charset="0"/>
            </a:endParaRPr>
          </a:p>
          <a:p>
            <a:pPr marL="82550" indent="0">
              <a:buNone/>
            </a:pPr>
            <a:endParaRPr lang="en-US" sz="3600" dirty="0">
              <a:latin typeface="Nunito" pitchFamily="2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rgbClr val="00B0F0"/>
                </a:solidFill>
                <a:latin typeface="Nunito" pitchFamily="2" charset="0"/>
              </a:rPr>
              <a:t>Product of Sum(POS).</a:t>
            </a:r>
            <a:endParaRPr lang="en-US" sz="3600" b="1" dirty="0">
              <a:solidFill>
                <a:srgbClr val="00B0F0"/>
              </a:solidFill>
              <a:latin typeface="Nunito" pitchFamily="2" charset="0"/>
            </a:endParaRPr>
          </a:p>
          <a:p>
            <a:pPr marL="82550" indent="0">
              <a:buNone/>
            </a:pPr>
            <a:r>
              <a:rPr lang="en-US" sz="3600" dirty="0">
                <a:latin typeface="Nunito" pitchFamily="2" charset="0"/>
              </a:rPr>
              <a:t>Examples:</a:t>
            </a:r>
            <a:endParaRPr lang="en-US" sz="3600" dirty="0">
              <a:latin typeface="Nunito" pitchFamily="2" charset="0"/>
            </a:endParaRPr>
          </a:p>
          <a:p>
            <a:pPr marL="82550" indent="0">
              <a:buNone/>
            </a:pPr>
            <a:r>
              <a:rPr lang="en-US" dirty="0">
                <a:latin typeface="Nunito" pitchFamily="2" charset="0"/>
              </a:rPr>
              <a:t>1. (X +Y) (Z+W) X</a:t>
            </a:r>
            <a:endParaRPr lang="en-US" dirty="0">
              <a:latin typeface="Nunito" pitchFamily="2" charset="0"/>
            </a:endParaRPr>
          </a:p>
          <a:p>
            <a:pPr marL="82550" indent="0">
              <a:buNone/>
            </a:pPr>
            <a:r>
              <a:rPr lang="en-US" dirty="0">
                <a:latin typeface="Nunito" pitchFamily="2" charset="0"/>
              </a:rPr>
              <a:t>2. (A+C) (B+D) (B+C) (A+D+E)</a:t>
            </a:r>
            <a:endParaRPr lang="en-US" dirty="0">
              <a:latin typeface="Nunito" pitchFamily="2" charset="0"/>
            </a:endParaRPr>
          </a:p>
          <a:p>
            <a:pPr marL="82550" indent="0">
              <a:buNone/>
            </a:pPr>
            <a:endParaRPr lang="en-US" sz="3600" dirty="0">
              <a:latin typeface="Nunito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/>
        </p:nvSpPr>
        <p:spPr>
          <a:xfrm>
            <a:off x="9640824" y="6282531"/>
            <a:ext cx="457200" cy="476250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0FA790-472C-4ACF-93DE-80C8E3117666}" type="slidenum">
              <a:rPr lang="en-US" smtClean="0"/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872740" y="0"/>
            <a:ext cx="659892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solidFill>
                  <a:srgbClr val="FF0000"/>
                </a:solidFill>
                <a:effectLst/>
                <a:latin typeface="Nunito" pitchFamily="2" charset="0"/>
              </a:rPr>
              <a:t>LOGICAL EXPRESSION</a:t>
            </a:r>
            <a:endParaRPr lang="en-US" sz="40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/>
        </p:nvSpPr>
        <p:spPr>
          <a:xfrm>
            <a:off x="9640824" y="6282531"/>
            <a:ext cx="457200" cy="476250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0FA790-472C-4ACF-93DE-80C8E3117666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72740" y="0"/>
            <a:ext cx="787908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solidFill>
                  <a:srgbClr val="FF0000"/>
                </a:solidFill>
                <a:effectLst/>
                <a:latin typeface="Nunito" pitchFamily="2" charset="0"/>
              </a:rPr>
              <a:t>Generating Logical Expression</a:t>
            </a:r>
            <a:endParaRPr lang="en-US" sz="40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0" y="1667266"/>
          <a:ext cx="7673341" cy="5091515"/>
        </p:xfrm>
        <a:graphic>
          <a:graphicData uri="http://schemas.openxmlformats.org/drawingml/2006/table">
            <a:tbl>
              <a:tblPr/>
              <a:tblGrid>
                <a:gridCol w="922601"/>
                <a:gridCol w="900099"/>
                <a:gridCol w="900099"/>
                <a:gridCol w="1125123"/>
                <a:gridCol w="1800197"/>
                <a:gridCol w="2025222"/>
              </a:tblGrid>
              <a:tr h="1298691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Y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Z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F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Pdt</a:t>
                      </a:r>
                      <a:r>
                        <a:rPr lang="en-US" sz="2400" b="1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 terms (</a:t>
                      </a:r>
                      <a:r>
                        <a:rPr lang="en-US" sz="2400" b="1" dirty="0" err="1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Minterms</a:t>
                      </a:r>
                      <a:r>
                        <a:rPr lang="en-US" sz="2400" b="1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)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Sum terms (Maxterms)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103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 Y Z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 + Y + Z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103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 Y Z 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 + Y + Z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103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 Y Z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 + Y + Z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103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 Y Z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 + Y + Z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103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 Y Z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 + Y + Z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103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 Y Z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 + Y + Z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103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 Y Z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 + Y + Z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103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 Y Z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 + Y + Z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3" name="Straight Connector 2"/>
          <p:cNvCxnSpPr/>
          <p:nvPr/>
        </p:nvCxnSpPr>
        <p:spPr>
          <a:xfrm>
            <a:off x="8586216" y="302514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869680" y="303276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9151620" y="303276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869680" y="349758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601456" y="397764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618220" y="445008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128760" y="493014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869680" y="493014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0241280" y="538734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854440" y="539496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9128760" y="587502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248900" y="587502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292840" y="634746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774680" y="635508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248900" y="635508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601456" y="349758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159240" y="397002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782300" y="587502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1323320" y="540258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256520" y="493014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0782300" y="446532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1300460" y="445770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0782300" y="398526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1292840" y="349758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-32004" y="1778601"/>
            <a:ext cx="4139184" cy="4448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  <a:latin typeface="Nunito" pitchFamily="2" charset="0"/>
              </a:rPr>
              <a:t>A </a:t>
            </a:r>
            <a:r>
              <a:rPr lang="en-US" sz="2400" b="1" dirty="0" err="1">
                <a:effectLst/>
                <a:latin typeface="Nunito" pitchFamily="2" charset="0"/>
              </a:rPr>
              <a:t>minterm</a:t>
            </a:r>
            <a:r>
              <a:rPr lang="en-US" sz="2400" b="1" dirty="0">
                <a:effectLst/>
                <a:latin typeface="Nunito" pitchFamily="2" charset="0"/>
              </a:rPr>
              <a:t> is also</a:t>
            </a:r>
            <a:endParaRPr lang="en-US" sz="2400" b="1" dirty="0">
              <a:effectLst/>
              <a:latin typeface="Nunito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effectLst/>
                <a:latin typeface="Nunito" pitchFamily="2" charset="0"/>
              </a:rPr>
              <a:t> referred to as Product term</a:t>
            </a:r>
            <a:endParaRPr lang="en-US" sz="2400" b="1" dirty="0">
              <a:effectLst/>
              <a:latin typeface="Nunito" pitchFamily="2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latin typeface="Nunito" pitchFamily="2" charset="0"/>
                <a:cs typeface="Times New Roman" panose="02020603050405020304" pitchFamily="18" charset="0"/>
              </a:rPr>
              <a:t>Each of the variables appear once in a </a:t>
            </a:r>
            <a:r>
              <a:rPr lang="en-US" sz="2400" b="1" kern="100" dirty="0" err="1">
                <a:latin typeface="Nunito" pitchFamily="2" charset="0"/>
                <a:cs typeface="Times New Roman" panose="02020603050405020304" pitchFamily="18" charset="0"/>
              </a:rPr>
              <a:t>minterm</a:t>
            </a:r>
            <a:endParaRPr lang="en-US" sz="2400" b="1" kern="100" dirty="0">
              <a:latin typeface="Nunito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latin typeface="Nunito" pitchFamily="2" charset="0"/>
                <a:cs typeface="Times New Roman" panose="02020603050405020304" pitchFamily="18" charset="0"/>
              </a:rPr>
              <a:t>The variable may appear in complemented or uncomplemented form</a:t>
            </a:r>
            <a:endParaRPr lang="en-US" sz="2400" b="1" kern="100" dirty="0">
              <a:latin typeface="Nunito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 err="1">
                <a:effectLst/>
                <a:latin typeface="Nunito" pitchFamily="2" charset="0"/>
                <a:cs typeface="Times New Roman" panose="02020603050405020304" pitchFamily="18" charset="0"/>
              </a:rPr>
              <a:t>Minterm</a:t>
            </a:r>
            <a:r>
              <a:rPr lang="en-US" sz="2400" b="1" kern="100" dirty="0">
                <a:effectLst/>
                <a:latin typeface="Nunito" pitchFamily="2" charset="0"/>
                <a:cs typeface="Times New Roman" panose="02020603050405020304" pitchFamily="18" charset="0"/>
              </a:rPr>
              <a:t> is X if </a:t>
            </a:r>
            <a:r>
              <a:rPr lang="en-US" sz="2400" b="1" kern="100" dirty="0">
                <a:latin typeface="Nunito" pitchFamily="2" charset="0"/>
                <a:cs typeface="Times New Roman" panose="02020603050405020304" pitchFamily="18" charset="0"/>
              </a:rPr>
              <a:t>X =1 and X if X =0</a:t>
            </a:r>
            <a:endParaRPr lang="en-US" sz="2400" b="1" kern="100" dirty="0">
              <a:latin typeface="Nunito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525780" y="577596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953508" y="831665"/>
            <a:ext cx="4632962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00B050"/>
                </a:solidFill>
                <a:latin typeface="Nunito" pitchFamily="2" charset="0"/>
              </a:rPr>
              <a:t>1. Create a Truth Table</a:t>
            </a:r>
            <a:endParaRPr lang="en-US" sz="2800" b="1" kern="100" dirty="0">
              <a:solidFill>
                <a:srgbClr val="00B05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90060" y="1245321"/>
            <a:ext cx="3596640" cy="6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B050"/>
                </a:solidFill>
                <a:effectLst/>
                <a:latin typeface="Nunito" pitchFamily="2" charset="0"/>
              </a:rPr>
              <a:t>SOP Generation</a:t>
            </a:r>
            <a:endParaRPr lang="en-US" sz="3200" b="1" kern="100" dirty="0">
              <a:solidFill>
                <a:srgbClr val="00B05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32004" y="1778600"/>
            <a:ext cx="3878580" cy="3657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  <a:latin typeface="Nunito" pitchFamily="2" charset="0"/>
              </a:rPr>
              <a:t>A maxterm is also</a:t>
            </a:r>
            <a:endParaRPr lang="en-US" sz="2400" b="1" dirty="0">
              <a:effectLst/>
              <a:latin typeface="Nunito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effectLst/>
                <a:latin typeface="Nunito" pitchFamily="2" charset="0"/>
              </a:rPr>
              <a:t>     referred to as </a:t>
            </a:r>
            <a:r>
              <a:rPr lang="en-US" sz="2400" b="1" dirty="0">
                <a:latin typeface="Nunito" pitchFamily="2" charset="0"/>
              </a:rPr>
              <a:t>a </a:t>
            </a:r>
            <a:r>
              <a:rPr lang="en-US" sz="2400" b="1" dirty="0">
                <a:effectLst/>
                <a:latin typeface="Nunito" pitchFamily="2" charset="0"/>
              </a:rPr>
              <a:t>Sum    </a:t>
            </a:r>
            <a:endParaRPr lang="en-US" sz="2400" b="1" dirty="0">
              <a:effectLst/>
              <a:latin typeface="Nunito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latin typeface="Nunito" pitchFamily="2" charset="0"/>
              </a:rPr>
              <a:t>     </a:t>
            </a:r>
            <a:r>
              <a:rPr lang="en-US" sz="2400" b="1" dirty="0">
                <a:effectLst/>
                <a:latin typeface="Nunito" pitchFamily="2" charset="0"/>
              </a:rPr>
              <a:t>term</a:t>
            </a:r>
            <a:endParaRPr lang="en-US" sz="2400" b="1" dirty="0">
              <a:effectLst/>
              <a:latin typeface="Nunito" pitchFamily="2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latin typeface="Nunito" pitchFamily="2" charset="0"/>
                <a:cs typeface="Times New Roman" panose="02020603050405020304" pitchFamily="18" charset="0"/>
              </a:rPr>
              <a:t>It has the same characteristics as </a:t>
            </a:r>
            <a:r>
              <a:rPr lang="en-US" sz="2400" b="1" kern="100" dirty="0" err="1">
                <a:latin typeface="Nunito" pitchFamily="2" charset="0"/>
                <a:cs typeface="Times New Roman" panose="02020603050405020304" pitchFamily="18" charset="0"/>
              </a:rPr>
              <a:t>Minterm</a:t>
            </a:r>
            <a:r>
              <a:rPr lang="en-US" sz="2400" b="1" kern="100" dirty="0">
                <a:latin typeface="Nunito" pitchFamily="2" charset="0"/>
                <a:cs typeface="Times New Roman" panose="02020603050405020304" pitchFamily="18" charset="0"/>
              </a:rPr>
              <a:t> except that</a:t>
            </a:r>
            <a:endParaRPr lang="en-US" sz="2400" b="1" kern="100" dirty="0">
              <a:latin typeface="Nunito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latin typeface="Nunito" pitchFamily="2" charset="0"/>
                <a:cs typeface="Times New Roman" panose="02020603050405020304" pitchFamily="18" charset="0"/>
              </a:rPr>
              <a:t>Maxterm is X if </a:t>
            </a:r>
            <a:r>
              <a:rPr lang="en-US" sz="2400" b="1" kern="100" dirty="0">
                <a:latin typeface="Nunito" pitchFamily="2" charset="0"/>
                <a:cs typeface="Times New Roman" panose="02020603050405020304" pitchFamily="18" charset="0"/>
              </a:rPr>
              <a:t>X =0 and X if X =1</a:t>
            </a:r>
            <a:endParaRPr lang="en-US" sz="2400" b="1" kern="100" dirty="0"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36420" y="0"/>
            <a:ext cx="945642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solidFill>
                  <a:srgbClr val="FF0000"/>
                </a:solidFill>
                <a:effectLst/>
                <a:latin typeface="Nunito" pitchFamily="2" charset="0"/>
              </a:rPr>
              <a:t>Generating Logical Expression </a:t>
            </a:r>
            <a:r>
              <a:rPr lang="en-US" sz="4000" b="1" dirty="0" err="1">
                <a:solidFill>
                  <a:srgbClr val="FF0000"/>
                </a:solidFill>
                <a:effectLst/>
                <a:latin typeface="Nunito" pitchFamily="2" charset="0"/>
              </a:rPr>
              <a:t>Contd</a:t>
            </a:r>
            <a:endParaRPr lang="en-US" sz="40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69580" y="1275801"/>
            <a:ext cx="3596640" cy="6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B050"/>
                </a:solidFill>
                <a:latin typeface="Nunito" pitchFamily="2" charset="0"/>
              </a:rPr>
              <a:t>P</a:t>
            </a:r>
            <a:r>
              <a:rPr lang="en-US" sz="3200" b="1" dirty="0">
                <a:solidFill>
                  <a:srgbClr val="00B050"/>
                </a:solidFill>
                <a:effectLst/>
                <a:latin typeface="Nunito" pitchFamily="2" charset="0"/>
              </a:rPr>
              <a:t>OS Generation</a:t>
            </a:r>
            <a:endParaRPr lang="en-US" sz="3200" b="1" kern="100" dirty="0">
              <a:solidFill>
                <a:srgbClr val="00B05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6576" y="1862421"/>
            <a:ext cx="3765804" cy="245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  <a:latin typeface="Nunito" pitchFamily="2" charset="0"/>
              </a:rPr>
              <a:t>A function can be represented in SOP by </a:t>
            </a:r>
            <a:r>
              <a:rPr lang="en-US" sz="2400" b="1" dirty="0" err="1">
                <a:effectLst/>
                <a:latin typeface="Nunito" pitchFamily="2" charset="0"/>
              </a:rPr>
              <a:t>ORing</a:t>
            </a:r>
            <a:r>
              <a:rPr lang="en-US" sz="2400" b="1" dirty="0">
                <a:effectLst/>
                <a:latin typeface="Nunito" pitchFamily="2" charset="0"/>
              </a:rPr>
              <a:t> the </a:t>
            </a:r>
            <a:r>
              <a:rPr lang="en-US" sz="2400" b="1" dirty="0" err="1">
                <a:effectLst/>
                <a:latin typeface="Nunito" pitchFamily="2" charset="0"/>
              </a:rPr>
              <a:t>minterms</a:t>
            </a:r>
            <a:r>
              <a:rPr lang="en-US" sz="2400" b="1" dirty="0">
                <a:effectLst/>
                <a:latin typeface="Nunito" pitchFamily="2" charset="0"/>
              </a:rPr>
              <a:t> corresponding to high outputs </a:t>
            </a:r>
            <a:r>
              <a:rPr lang="en-US" sz="2400" b="1" dirty="0" err="1">
                <a:effectLst/>
                <a:latin typeface="Nunito" pitchFamily="2" charset="0"/>
              </a:rPr>
              <a:t>i.e</a:t>
            </a:r>
            <a:r>
              <a:rPr lang="en-US" sz="2400" b="1" kern="100" dirty="0">
                <a:effectLst/>
                <a:latin typeface="Nunito" pitchFamily="2" charset="0"/>
                <a:cs typeface="Times New Roman" panose="02020603050405020304" pitchFamily="18" charset="0"/>
              </a:rPr>
              <a:t> XYZ</a:t>
            </a:r>
            <a:r>
              <a:rPr lang="en-US" sz="2400" b="1" kern="100" dirty="0">
                <a:latin typeface="Nunito" pitchFamily="2" charset="0"/>
                <a:cs typeface="Times New Roman" panose="02020603050405020304" pitchFamily="18" charset="0"/>
              </a:rPr>
              <a:t> = 1 </a:t>
            </a:r>
            <a:endParaRPr lang="en-US" sz="2400" b="1" kern="100" dirty="0"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25156" y="1900521"/>
            <a:ext cx="3765804" cy="245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  <a:latin typeface="Nunito" pitchFamily="2" charset="0"/>
              </a:rPr>
              <a:t>A function can be represented in POS by ANDing the maxterms corresponding to low outputs </a:t>
            </a:r>
            <a:r>
              <a:rPr lang="en-US" sz="2400" b="1" dirty="0" err="1">
                <a:effectLst/>
                <a:latin typeface="Nunito" pitchFamily="2" charset="0"/>
              </a:rPr>
              <a:t>i.e</a:t>
            </a:r>
            <a:r>
              <a:rPr lang="en-US" sz="2400" b="1" kern="100" dirty="0">
                <a:effectLst/>
                <a:latin typeface="Nunito" pitchFamily="2" charset="0"/>
                <a:cs typeface="Times New Roman" panose="02020603050405020304" pitchFamily="18" charset="0"/>
              </a:rPr>
              <a:t> XYZ</a:t>
            </a:r>
            <a:r>
              <a:rPr lang="en-US" sz="2400" b="1" kern="100" dirty="0">
                <a:latin typeface="Nunito" pitchFamily="2" charset="0"/>
                <a:cs typeface="Times New Roman" panose="02020603050405020304" pitchFamily="18" charset="0"/>
              </a:rPr>
              <a:t> = 0</a:t>
            </a:r>
            <a:endParaRPr lang="en-US" sz="2400" b="1" kern="100" dirty="0"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1836" y="1737816"/>
            <a:ext cx="11324844" cy="1517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Nunito" pitchFamily="2" charset="0"/>
              </a:rPr>
              <a:t>SOP Expression for F output on the previous table is</a:t>
            </a:r>
            <a:endParaRPr lang="en-US" sz="2800" b="1" dirty="0">
              <a:latin typeface="Nunito" pitchFamily="2" charset="0"/>
            </a:endParaRPr>
          </a:p>
          <a:p>
            <a:pPr>
              <a:buNone/>
            </a:pPr>
            <a:r>
              <a:rPr lang="en-US" sz="2800" b="1" dirty="0">
                <a:latin typeface="Nunito" pitchFamily="2" charset="0"/>
              </a:rPr>
              <a:t>   </a:t>
            </a:r>
            <a:r>
              <a:rPr lang="en-US" sz="2800" dirty="0">
                <a:effectLst/>
                <a:latin typeface="Nunito" pitchFamily="2" charset="0"/>
              </a:rPr>
              <a:t>F =</a:t>
            </a:r>
            <a:r>
              <a:rPr lang="en-US" sz="2800" dirty="0">
                <a:latin typeface="Nunito" pitchFamily="2" charset="0"/>
              </a:rPr>
              <a:t>XYZ+XYZ+XYZ,</a:t>
            </a:r>
            <a:endParaRPr lang="en-US" sz="2800" dirty="0">
              <a:latin typeface="Nunito" pitchFamily="2" charset="0"/>
            </a:endParaRPr>
          </a:p>
          <a:p>
            <a:pPr>
              <a:buNone/>
            </a:pPr>
            <a:r>
              <a:rPr lang="en-US" sz="2800" dirty="0">
                <a:latin typeface="Nunito" pitchFamily="2" charset="0"/>
              </a:rPr>
              <a:t>	</a:t>
            </a:r>
            <a:endParaRPr lang="en-US" sz="2800" b="1" kern="100" dirty="0"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36420" y="0"/>
            <a:ext cx="9456420" cy="617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FF0000"/>
                </a:solidFill>
                <a:effectLst/>
                <a:latin typeface="Nunito" pitchFamily="2" charset="0"/>
              </a:rPr>
              <a:t>Generating Logical Expression </a:t>
            </a:r>
            <a:r>
              <a:rPr lang="en-US" sz="3200" b="1" dirty="0" err="1">
                <a:solidFill>
                  <a:srgbClr val="FF0000"/>
                </a:solidFill>
                <a:effectLst/>
                <a:latin typeface="Nunito" pitchFamily="2" charset="0"/>
              </a:rPr>
              <a:t>Contd</a:t>
            </a:r>
            <a:endParaRPr lang="en-US" sz="32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1978" y="1127136"/>
            <a:ext cx="4632962" cy="486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00B050"/>
                </a:solidFill>
                <a:latin typeface="Nunito" pitchFamily="2" charset="0"/>
              </a:rPr>
              <a:t>2. Generate SOP/POS</a:t>
            </a:r>
            <a:endParaRPr lang="en-US" sz="2400" b="1" kern="100" dirty="0">
              <a:solidFill>
                <a:srgbClr val="00B05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972056" y="236220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095756" y="234696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554480" y="233934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267456" y="236220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1836" y="3098201"/>
            <a:ext cx="11324844" cy="1517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Nunito" pitchFamily="2" charset="0"/>
              </a:rPr>
              <a:t>POS Expression for F output on the previous table is</a:t>
            </a:r>
            <a:endParaRPr lang="en-US" sz="2800" b="1" dirty="0">
              <a:latin typeface="Nunito" pitchFamily="2" charset="0"/>
            </a:endParaRPr>
          </a:p>
          <a:p>
            <a:pPr>
              <a:buNone/>
            </a:pPr>
            <a:r>
              <a:rPr lang="en-US" sz="2800" b="1" dirty="0">
                <a:latin typeface="Nunito" pitchFamily="2" charset="0"/>
              </a:rPr>
              <a:t>   </a:t>
            </a:r>
            <a:r>
              <a:rPr lang="en-US" sz="2800" dirty="0">
                <a:effectLst/>
                <a:latin typeface="Nunito" pitchFamily="2" charset="0"/>
              </a:rPr>
              <a:t>F =</a:t>
            </a:r>
            <a:r>
              <a:rPr lang="en-US" sz="2800" dirty="0">
                <a:latin typeface="Nunito" pitchFamily="2" charset="0"/>
              </a:rPr>
              <a:t>(X+Y+Z) (X+Y+Z) (X+Y+Z) (X+Y+Z)(X+Y+Z)</a:t>
            </a:r>
            <a:endParaRPr lang="en-US" sz="2800" dirty="0">
              <a:latin typeface="Nunito" pitchFamily="2" charset="0"/>
            </a:endParaRPr>
          </a:p>
          <a:p>
            <a:pPr>
              <a:buNone/>
            </a:pPr>
            <a:r>
              <a:rPr lang="en-US" sz="2800" dirty="0">
                <a:latin typeface="Nunito" pitchFamily="2" charset="0"/>
              </a:rPr>
              <a:t>	</a:t>
            </a:r>
            <a:endParaRPr lang="en-US" sz="2800" b="1" kern="100" dirty="0"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3476244" y="372618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029456" y="372618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147560" y="373380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401056" y="373380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263640" y="372618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711696" y="373380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574280" y="373380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1836" y="1737816"/>
            <a:ext cx="4512564" cy="4258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Nunito" pitchFamily="2" charset="0"/>
              </a:rPr>
              <a:t>F =</a:t>
            </a:r>
            <a:r>
              <a:rPr lang="en-US" sz="2800" dirty="0">
                <a:latin typeface="Nunito" pitchFamily="2" charset="0"/>
              </a:rPr>
              <a:t>XYZ+XYZ+XYZ,</a:t>
            </a:r>
            <a:endParaRPr lang="en-US" sz="2800" dirty="0">
              <a:latin typeface="Nunito" pitchFamily="2" charset="0"/>
            </a:endParaRPr>
          </a:p>
          <a:p>
            <a:pPr>
              <a:buNone/>
            </a:pPr>
            <a:r>
              <a:rPr lang="en-US" sz="2800" dirty="0">
                <a:latin typeface="Nunito" pitchFamily="2" charset="0"/>
              </a:rPr>
              <a:t>	=XY(Z+Z)+XYZ</a:t>
            </a:r>
            <a:endParaRPr lang="en-US" sz="2800" dirty="0">
              <a:latin typeface="Nunito" pitchFamily="2" charset="0"/>
            </a:endParaRPr>
          </a:p>
          <a:p>
            <a:pPr>
              <a:buNone/>
            </a:pPr>
            <a:r>
              <a:rPr lang="en-US" sz="2800" dirty="0">
                <a:latin typeface="Nunito" pitchFamily="2" charset="0"/>
              </a:rPr>
              <a:t>	=XY+XYZ</a:t>
            </a:r>
            <a:endParaRPr lang="en-US" sz="2800" dirty="0">
              <a:latin typeface="Nunito" pitchFamily="2" charset="0"/>
            </a:endParaRPr>
          </a:p>
          <a:p>
            <a:pPr>
              <a:buNone/>
            </a:pPr>
            <a:r>
              <a:rPr lang="en-US" sz="2800" dirty="0">
                <a:latin typeface="Nunito" pitchFamily="2" charset="0"/>
              </a:rPr>
              <a:t>	=XY(Z+1)+XYZ</a:t>
            </a:r>
            <a:endParaRPr lang="en-US" sz="2800" dirty="0">
              <a:latin typeface="Nunito" pitchFamily="2" charset="0"/>
            </a:endParaRPr>
          </a:p>
          <a:p>
            <a:pPr>
              <a:buNone/>
            </a:pPr>
            <a:r>
              <a:rPr lang="en-US" sz="2800" dirty="0">
                <a:latin typeface="Nunito" pitchFamily="2" charset="0"/>
              </a:rPr>
              <a:t>	=XYZ+XY+XYZ</a:t>
            </a:r>
            <a:endParaRPr lang="en-US" sz="2800" dirty="0">
              <a:latin typeface="Nunito" pitchFamily="2" charset="0"/>
            </a:endParaRPr>
          </a:p>
          <a:p>
            <a:pPr>
              <a:buNone/>
            </a:pPr>
            <a:r>
              <a:rPr lang="en-US" sz="2800" dirty="0">
                <a:latin typeface="Nunito" pitchFamily="2" charset="0"/>
              </a:rPr>
              <a:t>	=YZ(X+X)+XY</a:t>
            </a:r>
            <a:endParaRPr lang="en-US" sz="2800" dirty="0">
              <a:latin typeface="Nunito" pitchFamily="2" charset="0"/>
            </a:endParaRPr>
          </a:p>
          <a:p>
            <a:pPr>
              <a:buNone/>
            </a:pPr>
            <a:r>
              <a:rPr lang="en-US" sz="2800" dirty="0">
                <a:latin typeface="Nunito" pitchFamily="2" charset="0"/>
              </a:rPr>
              <a:t>	=XY+YZ</a:t>
            </a:r>
            <a:endParaRPr lang="en-US" sz="2800" dirty="0">
              <a:latin typeface="Nunito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effectLst/>
                <a:latin typeface="Nunito" pitchFamily="2" charset="0"/>
              </a:rPr>
              <a:t> </a:t>
            </a:r>
            <a:endParaRPr lang="en-US" sz="2800" b="1" dirty="0">
              <a:effectLst/>
              <a:latin typeface="Nunito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800" b="1" kern="100" dirty="0"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36420" y="0"/>
            <a:ext cx="945642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solidFill>
                  <a:srgbClr val="FF0000"/>
                </a:solidFill>
                <a:effectLst/>
                <a:latin typeface="Nunito" pitchFamily="2" charset="0"/>
              </a:rPr>
              <a:t>Optimization of Logical Expression </a:t>
            </a:r>
            <a:endParaRPr lang="en-US" sz="40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18" y="935556"/>
            <a:ext cx="5570222" cy="486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00B050"/>
                </a:solidFill>
                <a:latin typeface="Nunito" pitchFamily="2" charset="0"/>
              </a:rPr>
              <a:t>3. Optimize SOP Expression</a:t>
            </a:r>
            <a:endParaRPr lang="en-US" sz="2400" b="1" kern="100" dirty="0">
              <a:solidFill>
                <a:srgbClr val="00B05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>
            <a:off x="1690116" y="183642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813816" y="182118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272540" y="181356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985516" y="183642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981456" y="280416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989076" y="237744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554480" y="235458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947416" y="236220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078736" y="280416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89076" y="322326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554480" y="320802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947416" y="320802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04316" y="364236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432560" y="364998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962656" y="362712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164336" y="407670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516380" y="406908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851660" y="451104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71109" y="2093881"/>
            <a:ext cx="5570222" cy="486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00B050"/>
                </a:solidFill>
                <a:latin typeface="Nunito" pitchFamily="2" charset="0"/>
              </a:rPr>
              <a:t>Optimize POS Expression</a:t>
            </a:r>
            <a:endParaRPr lang="en-US" sz="2400" b="1" kern="100" dirty="0">
              <a:solidFill>
                <a:srgbClr val="00B05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00016" y="2751276"/>
            <a:ext cx="7280148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effectLst/>
                <a:latin typeface="Nunito" pitchFamily="2" charset="0"/>
              </a:rPr>
              <a:t>F</a:t>
            </a:r>
            <a:r>
              <a:rPr lang="en-US" sz="2600" dirty="0">
                <a:latin typeface="Nunito" pitchFamily="2" charset="0"/>
              </a:rPr>
              <a:t>=(X+Y+Z) (X+Y+Z) (X+Y+Z) (X+Y+Z)(X+Y+Z)</a:t>
            </a:r>
            <a:br>
              <a:rPr lang="en-US" sz="2600" dirty="0">
                <a:latin typeface="Nunito" pitchFamily="2" charset="0"/>
              </a:rPr>
            </a:br>
            <a:r>
              <a:rPr lang="en-US" sz="2600" dirty="0">
                <a:latin typeface="Nunito" pitchFamily="2" charset="0"/>
              </a:rPr>
              <a:t>  =(X+Y)(X+Y)(X+Y+Z)</a:t>
            </a:r>
            <a:br>
              <a:rPr lang="en-US" sz="2600" dirty="0">
                <a:latin typeface="Nunito" pitchFamily="2" charset="0"/>
              </a:rPr>
            </a:br>
            <a:r>
              <a:rPr lang="en-US" sz="2600" dirty="0">
                <a:latin typeface="Nunito" pitchFamily="2" charset="0"/>
              </a:rPr>
              <a:t>  =Y(X+Y+Z)</a:t>
            </a:r>
            <a:endParaRPr lang="en-US" sz="2600" dirty="0">
              <a:latin typeface="Nunito" pitchFamily="2" charset="0"/>
            </a:endParaRPr>
          </a:p>
          <a:p>
            <a:r>
              <a:rPr lang="en-US" sz="2600" dirty="0">
                <a:latin typeface="Nunito" pitchFamily="2" charset="0"/>
              </a:rPr>
              <a:t>  = XY+YY+YZ</a:t>
            </a:r>
            <a:endParaRPr lang="en-US" sz="2600" dirty="0">
              <a:latin typeface="Nunito" pitchFamily="2" charset="0"/>
            </a:endParaRPr>
          </a:p>
          <a:p>
            <a:r>
              <a:rPr lang="en-US" sz="2600" dirty="0">
                <a:latin typeface="Nunito" pitchFamily="2" charset="0"/>
              </a:rPr>
              <a:t>  = XY+YZ</a:t>
            </a:r>
            <a:endParaRPr lang="en-US" sz="2600" dirty="0">
              <a:latin typeface="Nunito" pitchFamily="2" charset="0"/>
            </a:endParaRPr>
          </a:p>
          <a:p>
            <a:r>
              <a:rPr lang="en-US" sz="2600" dirty="0">
                <a:latin typeface="Nunito" pitchFamily="2" charset="0"/>
              </a:rPr>
              <a:t>  = Y(X+Z) </a:t>
            </a:r>
            <a:endParaRPr lang="en-US" sz="2600" dirty="0">
              <a:latin typeface="Nunito" pitchFamily="2" charset="0"/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7400544" y="281940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7869936" y="281940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0789920" y="282702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9172956" y="283464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9974580" y="281940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0384536" y="282702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11224260" y="282702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6097524" y="321564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7322820" y="322326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909816" y="322326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7734300" y="322326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5890260" y="363474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477256" y="363474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301740" y="3634740"/>
            <a:ext cx="1828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256276" y="402336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041136" y="403098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6627876" y="402336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5263896" y="441198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6048756" y="441960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865376" y="367284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2528316" y="408432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996696" y="451104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5553456" y="481584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5957316" y="4823460"/>
            <a:ext cx="20116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6002" y="5494020"/>
            <a:ext cx="11964162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Nunito" pitchFamily="2" charset="0"/>
              </a:rPr>
              <a:t>This Optimization technique is also known as algebraic technique</a:t>
            </a:r>
            <a:endParaRPr lang="en-US" sz="2000" b="1" dirty="0">
              <a:latin typeface="Nunito" pitchFamily="2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Nunito" pitchFamily="2" charset="0"/>
              </a:rPr>
              <a:t>It is simply one of the techniques for optimization</a:t>
            </a:r>
            <a:endParaRPr lang="en-US" sz="2000" b="1" dirty="0">
              <a:latin typeface="Nunito" pitchFamily="2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Nunito" pitchFamily="2" charset="0"/>
              </a:rPr>
              <a:t>Another optimization technique is </a:t>
            </a:r>
            <a:r>
              <a:rPr lang="en-US" sz="2000" b="1" dirty="0" err="1">
                <a:latin typeface="Nunito" pitchFamily="2" charset="0"/>
              </a:rPr>
              <a:t>Kmap</a:t>
            </a:r>
            <a:r>
              <a:rPr lang="en-US" sz="2000" dirty="0">
                <a:latin typeface="Nunito" pitchFamily="2" charset="0"/>
              </a:rPr>
              <a:t>	</a:t>
            </a:r>
            <a:endParaRPr lang="en-US" sz="2000" b="1" kern="100" dirty="0"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36420" y="0"/>
            <a:ext cx="945642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solidFill>
                  <a:srgbClr val="FF0000"/>
                </a:solidFill>
                <a:effectLst/>
                <a:latin typeface="Nunito" pitchFamily="2" charset="0"/>
              </a:rPr>
              <a:t>Generating Logical Expression </a:t>
            </a:r>
            <a:r>
              <a:rPr lang="en-US" sz="4000" b="1" dirty="0" err="1">
                <a:solidFill>
                  <a:srgbClr val="FF0000"/>
                </a:solidFill>
                <a:effectLst/>
                <a:latin typeface="Nunito" pitchFamily="2" charset="0"/>
              </a:rPr>
              <a:t>Contd</a:t>
            </a:r>
            <a:endParaRPr lang="en-US" sz="40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1978" y="1127136"/>
            <a:ext cx="5494022" cy="6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B050"/>
                </a:solidFill>
                <a:latin typeface="Nunito" pitchFamily="2" charset="0"/>
              </a:rPr>
              <a:t>4. Design the logic circuit</a:t>
            </a:r>
            <a:endParaRPr lang="en-US" sz="3200" b="1" kern="100" dirty="0">
              <a:solidFill>
                <a:srgbClr val="00B05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259080" y="2122869"/>
            <a:ext cx="6477000" cy="3058731"/>
            <a:chOff x="259080" y="2122869"/>
            <a:chExt cx="6477000" cy="3058731"/>
          </a:xfrm>
        </p:grpSpPr>
        <p:grpSp>
          <p:nvGrpSpPr>
            <p:cNvPr id="3" name="Group 2"/>
            <p:cNvGrpSpPr/>
            <p:nvPr/>
          </p:nvGrpSpPr>
          <p:grpSpPr bwMode="auto">
            <a:xfrm>
              <a:off x="629451" y="4224084"/>
              <a:ext cx="1174886" cy="755114"/>
              <a:chOff x="1877" y="8169"/>
              <a:chExt cx="2041" cy="443"/>
            </a:xfrm>
          </p:grpSpPr>
          <p:sp>
            <p:nvSpPr>
              <p:cNvPr id="46" name="AutoShape 4"/>
              <p:cNvSpPr>
                <a:spLocks noChangeArrowheads="1"/>
              </p:cNvSpPr>
              <p:nvPr/>
            </p:nvSpPr>
            <p:spPr bwMode="auto">
              <a:xfrm rot="5400000">
                <a:off x="2720" y="8104"/>
                <a:ext cx="443" cy="574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cxnSp>
            <p:nvCxnSpPr>
              <p:cNvPr id="47" name="AutoShape 5"/>
              <p:cNvCxnSpPr>
                <a:cxnSpLocks noChangeShapeType="1"/>
              </p:cNvCxnSpPr>
              <p:nvPr/>
            </p:nvCxnSpPr>
            <p:spPr bwMode="auto">
              <a:xfrm flipH="1">
                <a:off x="1877" y="8391"/>
                <a:ext cx="762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</p:cxnSp>
          <p:sp>
            <p:nvSpPr>
              <p:cNvPr id="48" name="AutoShape 6"/>
              <p:cNvSpPr>
                <a:spLocks noChangeArrowheads="1"/>
              </p:cNvSpPr>
              <p:nvPr/>
            </p:nvSpPr>
            <p:spPr bwMode="auto">
              <a:xfrm>
                <a:off x="3229" y="8323"/>
                <a:ext cx="142" cy="110"/>
              </a:xfrm>
              <a:prstGeom prst="flowChartConnector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cxnSp>
            <p:nvCxnSpPr>
              <p:cNvPr id="49" name="AutoShape 7"/>
              <p:cNvCxnSpPr>
                <a:cxnSpLocks noChangeShapeType="1"/>
              </p:cNvCxnSpPr>
              <p:nvPr/>
            </p:nvCxnSpPr>
            <p:spPr bwMode="auto">
              <a:xfrm>
                <a:off x="3369" y="8391"/>
                <a:ext cx="549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</p:cxnSp>
        </p:grpSp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387443" y="2175416"/>
              <a:ext cx="334397" cy="5202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Arial" panose="020B0604020202020204" pitchFamily="34" charset="0"/>
                </a:rPr>
                <a:t>X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387443" y="2870847"/>
              <a:ext cx="334397" cy="5202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Arial" panose="020B0604020202020204" pitchFamily="34" charset="0"/>
                </a:rPr>
                <a:t>Y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259080" y="4314906"/>
              <a:ext cx="334397" cy="5202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Arial" panose="020B0604020202020204" pitchFamily="34" charset="0"/>
                </a:rPr>
                <a:t>Z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4" name="AutoShape 11"/>
            <p:cNvCxnSpPr>
              <a:cxnSpLocks noChangeShapeType="1"/>
            </p:cNvCxnSpPr>
            <p:nvPr/>
          </p:nvCxnSpPr>
          <p:spPr bwMode="auto">
            <a:xfrm>
              <a:off x="4163104" y="5181600"/>
              <a:ext cx="1062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grpSp>
          <p:nvGrpSpPr>
            <p:cNvPr id="23" name="Group 22"/>
            <p:cNvGrpSpPr/>
            <p:nvPr/>
          </p:nvGrpSpPr>
          <p:grpSpPr bwMode="auto">
            <a:xfrm>
              <a:off x="2574285" y="4224084"/>
              <a:ext cx="555966" cy="520276"/>
              <a:chOff x="5038" y="4449"/>
              <a:chExt cx="680" cy="401"/>
            </a:xfrm>
          </p:grpSpPr>
          <p:sp>
            <p:nvSpPr>
              <p:cNvPr id="44" name="Text Box 13"/>
              <p:cNvSpPr txBox="1">
                <a:spLocks noChangeArrowheads="1"/>
              </p:cNvSpPr>
              <p:nvPr/>
            </p:nvSpPr>
            <p:spPr bwMode="auto">
              <a:xfrm>
                <a:off x="5038" y="4449"/>
                <a:ext cx="680" cy="40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Arial" panose="020B0604020202020204" pitchFamily="34" charset="0"/>
                  </a:rPr>
                  <a:t>Y Z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5" name="AutoShape 14"/>
              <p:cNvCxnSpPr>
                <a:cxnSpLocks noChangeShapeType="1"/>
              </p:cNvCxnSpPr>
              <p:nvPr/>
            </p:nvCxnSpPr>
            <p:spPr bwMode="auto">
              <a:xfrm>
                <a:off x="5273" y="4483"/>
                <a:ext cx="194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</p:cxnSp>
        </p:grpSp>
        <p:sp>
          <p:nvSpPr>
            <p:cNvPr id="24" name="AutoShape 15"/>
            <p:cNvSpPr>
              <a:spLocks noChangeArrowheads="1"/>
            </p:cNvSpPr>
            <p:nvPr/>
          </p:nvSpPr>
          <p:spPr bwMode="auto">
            <a:xfrm rot="5400000">
              <a:off x="933574" y="2346505"/>
              <a:ext cx="747329" cy="300058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cxnSp>
          <p:nvCxnSpPr>
            <p:cNvPr id="25" name="AutoShape 16"/>
            <p:cNvCxnSpPr>
              <a:cxnSpLocks noChangeShapeType="1"/>
            </p:cNvCxnSpPr>
            <p:nvPr/>
          </p:nvCxnSpPr>
          <p:spPr bwMode="auto">
            <a:xfrm flipH="1">
              <a:off x="748820" y="3186127"/>
              <a:ext cx="108249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" name="AutoShape 17"/>
            <p:cNvCxnSpPr>
              <a:cxnSpLocks noChangeShapeType="1"/>
            </p:cNvCxnSpPr>
            <p:nvPr/>
          </p:nvCxnSpPr>
          <p:spPr bwMode="auto">
            <a:xfrm flipH="1">
              <a:off x="750456" y="2498480"/>
              <a:ext cx="39817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sp>
          <p:nvSpPr>
            <p:cNvPr id="27" name="AutoShape 18"/>
            <p:cNvSpPr>
              <a:spLocks noChangeArrowheads="1"/>
            </p:cNvSpPr>
            <p:nvPr/>
          </p:nvSpPr>
          <p:spPr bwMode="auto">
            <a:xfrm>
              <a:off x="1456859" y="2383007"/>
              <a:ext cx="74401" cy="185535"/>
            </a:xfrm>
            <a:prstGeom prst="flowChartConnector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cxnSp>
          <p:nvCxnSpPr>
            <p:cNvPr id="28" name="AutoShape 19"/>
            <p:cNvCxnSpPr>
              <a:cxnSpLocks noChangeShapeType="1"/>
            </p:cNvCxnSpPr>
            <p:nvPr/>
          </p:nvCxnSpPr>
          <p:spPr bwMode="auto">
            <a:xfrm>
              <a:off x="1529625" y="2498480"/>
              <a:ext cx="286976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sp>
          <p:nvSpPr>
            <p:cNvPr id="29" name="AutoShape 20"/>
            <p:cNvSpPr>
              <a:spLocks noChangeArrowheads="1"/>
            </p:cNvSpPr>
            <p:nvPr/>
          </p:nvSpPr>
          <p:spPr bwMode="auto">
            <a:xfrm>
              <a:off x="1838677" y="2383007"/>
              <a:ext cx="524897" cy="967895"/>
            </a:xfrm>
            <a:prstGeom prst="flowChartDelay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cxnSp>
          <p:nvCxnSpPr>
            <p:cNvPr id="30" name="AutoShape 21"/>
            <p:cNvCxnSpPr>
              <a:cxnSpLocks noChangeShapeType="1"/>
            </p:cNvCxnSpPr>
            <p:nvPr/>
          </p:nvCxnSpPr>
          <p:spPr bwMode="auto">
            <a:xfrm flipV="1">
              <a:off x="1166612" y="3187424"/>
              <a:ext cx="0" cy="68245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1" name="AutoShape 22"/>
            <p:cNvCxnSpPr>
              <a:cxnSpLocks noChangeShapeType="1"/>
            </p:cNvCxnSpPr>
            <p:nvPr/>
          </p:nvCxnSpPr>
          <p:spPr bwMode="auto">
            <a:xfrm>
              <a:off x="2363574" y="2870847"/>
              <a:ext cx="1690790" cy="48005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</a:ln>
          </p:spPr>
        </p:cxnSp>
        <p:sp>
          <p:nvSpPr>
            <p:cNvPr id="32" name="AutoShape 23"/>
            <p:cNvSpPr>
              <a:spLocks noChangeArrowheads="1"/>
            </p:cNvSpPr>
            <p:nvPr/>
          </p:nvSpPr>
          <p:spPr bwMode="auto">
            <a:xfrm rot="10800000">
              <a:off x="3851599" y="2870847"/>
              <a:ext cx="1091491" cy="1120994"/>
            </a:xfrm>
            <a:prstGeom prst="flowChartOnlineStorag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3" name="AutoShape 24"/>
            <p:cNvCxnSpPr>
              <a:cxnSpLocks noChangeShapeType="1"/>
            </p:cNvCxnSpPr>
            <p:nvPr/>
          </p:nvCxnSpPr>
          <p:spPr bwMode="auto">
            <a:xfrm>
              <a:off x="4943091" y="3350903"/>
              <a:ext cx="645901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sp>
          <p:nvSpPr>
            <p:cNvPr id="34" name="AutoShape 25"/>
            <p:cNvSpPr>
              <a:spLocks noChangeArrowheads="1"/>
            </p:cNvSpPr>
            <p:nvPr/>
          </p:nvSpPr>
          <p:spPr bwMode="auto">
            <a:xfrm>
              <a:off x="1819872" y="3694726"/>
              <a:ext cx="524897" cy="967895"/>
            </a:xfrm>
            <a:prstGeom prst="flowChartDelay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cxnSp>
          <p:nvCxnSpPr>
            <p:cNvPr id="35" name="AutoShape 26"/>
            <p:cNvCxnSpPr>
              <a:cxnSpLocks noChangeShapeType="1"/>
            </p:cNvCxnSpPr>
            <p:nvPr/>
          </p:nvCxnSpPr>
          <p:spPr bwMode="auto">
            <a:xfrm flipH="1">
              <a:off x="1174788" y="3876369"/>
              <a:ext cx="649989" cy="1167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6" name="AutoShape 27"/>
            <p:cNvCxnSpPr>
              <a:cxnSpLocks noChangeShapeType="1"/>
            </p:cNvCxnSpPr>
            <p:nvPr/>
          </p:nvCxnSpPr>
          <p:spPr bwMode="auto">
            <a:xfrm flipV="1">
              <a:off x="2357850" y="3785547"/>
              <a:ext cx="1640916" cy="317874"/>
            </a:xfrm>
            <a:prstGeom prst="bentConnector3">
              <a:avLst>
                <a:gd name="adj1" fmla="val 49972"/>
              </a:avLst>
            </a:prstGeom>
            <a:noFill/>
            <a:ln w="9525">
              <a:solidFill>
                <a:srgbClr val="000000"/>
              </a:solidFill>
              <a:miter lim="800000"/>
            </a:ln>
          </p:spPr>
        </p:cxnSp>
        <p:grpSp>
          <p:nvGrpSpPr>
            <p:cNvPr id="37" name="Group 36"/>
            <p:cNvGrpSpPr/>
            <p:nvPr/>
          </p:nvGrpSpPr>
          <p:grpSpPr bwMode="auto">
            <a:xfrm>
              <a:off x="2604765" y="2175416"/>
              <a:ext cx="555966" cy="520276"/>
              <a:chOff x="5038" y="4449"/>
              <a:chExt cx="680" cy="401"/>
            </a:xfrm>
          </p:grpSpPr>
          <p:sp>
            <p:nvSpPr>
              <p:cNvPr id="42" name="Text Box 29"/>
              <p:cNvSpPr txBox="1">
                <a:spLocks noChangeArrowheads="1"/>
              </p:cNvSpPr>
              <p:nvPr/>
            </p:nvSpPr>
            <p:spPr bwMode="auto">
              <a:xfrm>
                <a:off x="5038" y="4449"/>
                <a:ext cx="680" cy="40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Arial" panose="020B0604020202020204" pitchFamily="34" charset="0"/>
                  </a:rPr>
                  <a:t>X Y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3" name="AutoShape 30"/>
              <p:cNvCxnSpPr>
                <a:cxnSpLocks noChangeShapeType="1"/>
              </p:cNvCxnSpPr>
              <p:nvPr/>
            </p:nvCxnSpPr>
            <p:spPr bwMode="auto">
              <a:xfrm>
                <a:off x="5126" y="4477"/>
                <a:ext cx="194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38" name="Group 37"/>
            <p:cNvGrpSpPr/>
            <p:nvPr/>
          </p:nvGrpSpPr>
          <p:grpSpPr bwMode="auto">
            <a:xfrm>
              <a:off x="5673204" y="3056382"/>
              <a:ext cx="1062876" cy="520276"/>
              <a:chOff x="5038" y="4449"/>
              <a:chExt cx="1300" cy="401"/>
            </a:xfrm>
          </p:grpSpPr>
          <p:sp>
            <p:nvSpPr>
              <p:cNvPr id="39" name="Text Box 32"/>
              <p:cNvSpPr txBox="1">
                <a:spLocks noChangeArrowheads="1"/>
              </p:cNvSpPr>
              <p:nvPr/>
            </p:nvSpPr>
            <p:spPr bwMode="auto">
              <a:xfrm>
                <a:off x="5038" y="4449"/>
                <a:ext cx="1300" cy="40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Arial" panose="020B0604020202020204" pitchFamily="34" charset="0"/>
                  </a:rPr>
                  <a:t>Y Z + X Y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0" name="AutoShape 33"/>
              <p:cNvCxnSpPr>
                <a:cxnSpLocks noChangeShapeType="1"/>
              </p:cNvCxnSpPr>
              <p:nvPr/>
            </p:nvCxnSpPr>
            <p:spPr bwMode="auto">
              <a:xfrm>
                <a:off x="5278" y="4489"/>
                <a:ext cx="194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</p:cxnSp>
          <p:cxnSp>
            <p:nvCxnSpPr>
              <p:cNvPr id="41" name="AutoShape 34"/>
              <p:cNvCxnSpPr>
                <a:cxnSpLocks noChangeShapeType="1"/>
              </p:cNvCxnSpPr>
              <p:nvPr/>
            </p:nvCxnSpPr>
            <p:spPr bwMode="auto">
              <a:xfrm>
                <a:off x="5771" y="4481"/>
                <a:ext cx="194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</p:cxnSp>
        </p:grpSp>
      </p:grpSp>
      <p:grpSp>
        <p:nvGrpSpPr>
          <p:cNvPr id="51" name="Group 50"/>
          <p:cNvGrpSpPr/>
          <p:nvPr/>
        </p:nvGrpSpPr>
        <p:grpSpPr bwMode="auto">
          <a:xfrm>
            <a:off x="5280659" y="4602493"/>
            <a:ext cx="6743701" cy="2125956"/>
            <a:chOff x="1110" y="9902"/>
            <a:chExt cx="8084" cy="1473"/>
          </a:xfrm>
        </p:grpSpPr>
        <p:grpSp>
          <p:nvGrpSpPr>
            <p:cNvPr id="52" name="Group 51"/>
            <p:cNvGrpSpPr/>
            <p:nvPr/>
          </p:nvGrpSpPr>
          <p:grpSpPr bwMode="auto">
            <a:xfrm>
              <a:off x="1605" y="10464"/>
              <a:ext cx="896" cy="331"/>
              <a:chOff x="1877" y="8169"/>
              <a:chExt cx="2041" cy="443"/>
            </a:xfrm>
          </p:grpSpPr>
          <p:sp>
            <p:nvSpPr>
              <p:cNvPr id="77" name="AutoShape 4"/>
              <p:cNvSpPr>
                <a:spLocks noChangeArrowheads="1"/>
              </p:cNvSpPr>
              <p:nvPr/>
            </p:nvSpPr>
            <p:spPr bwMode="auto">
              <a:xfrm rot="5400000">
                <a:off x="2720" y="8104"/>
                <a:ext cx="443" cy="574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cxnSp>
            <p:nvCxnSpPr>
              <p:cNvPr id="78" name="AutoShape 5"/>
              <p:cNvCxnSpPr>
                <a:cxnSpLocks noChangeShapeType="1"/>
              </p:cNvCxnSpPr>
              <p:nvPr/>
            </p:nvCxnSpPr>
            <p:spPr bwMode="auto">
              <a:xfrm flipH="1">
                <a:off x="1877" y="8391"/>
                <a:ext cx="762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</p:cxnSp>
          <p:sp>
            <p:nvSpPr>
              <p:cNvPr id="79" name="AutoShape 6"/>
              <p:cNvSpPr>
                <a:spLocks noChangeArrowheads="1"/>
              </p:cNvSpPr>
              <p:nvPr/>
            </p:nvSpPr>
            <p:spPr bwMode="auto">
              <a:xfrm>
                <a:off x="3229" y="8323"/>
                <a:ext cx="142" cy="110"/>
              </a:xfrm>
              <a:prstGeom prst="flowChartConnector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cxnSp>
            <p:nvCxnSpPr>
              <p:cNvPr id="80" name="AutoShape 7"/>
              <p:cNvCxnSpPr>
                <a:cxnSpLocks noChangeShapeType="1"/>
              </p:cNvCxnSpPr>
              <p:nvPr/>
            </p:nvCxnSpPr>
            <p:spPr bwMode="auto">
              <a:xfrm>
                <a:off x="3369" y="8391"/>
                <a:ext cx="549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</p:cxnSp>
        </p:grpSp>
        <p:cxnSp>
          <p:nvCxnSpPr>
            <p:cNvPr id="53" name="AutoShape 8"/>
            <p:cNvCxnSpPr>
              <a:cxnSpLocks noChangeShapeType="1"/>
            </p:cNvCxnSpPr>
            <p:nvPr/>
          </p:nvCxnSpPr>
          <p:spPr bwMode="auto">
            <a:xfrm flipV="1">
              <a:off x="2444" y="10415"/>
              <a:ext cx="693" cy="206"/>
            </a:xfrm>
            <a:prstGeom prst="bentConnector3">
              <a:avLst>
                <a:gd name="adj1" fmla="val 44676"/>
              </a:avLst>
            </a:prstGeom>
            <a:noFill/>
            <a:ln w="9525">
              <a:solidFill>
                <a:srgbClr val="000000"/>
              </a:solidFill>
              <a:miter lim="800000"/>
            </a:ln>
          </p:spPr>
        </p:cxnSp>
        <p:sp>
          <p:nvSpPr>
            <p:cNvPr id="54" name="AutoShape 9"/>
            <p:cNvSpPr>
              <a:spLocks noChangeArrowheads="1"/>
            </p:cNvSpPr>
            <p:nvPr/>
          </p:nvSpPr>
          <p:spPr bwMode="auto">
            <a:xfrm rot="10800000">
              <a:off x="3070" y="10161"/>
              <a:ext cx="468" cy="428"/>
            </a:xfrm>
            <a:prstGeom prst="flowChartOnlineStorag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cxnSp>
          <p:nvCxnSpPr>
            <p:cNvPr id="55" name="AutoShape 10"/>
            <p:cNvCxnSpPr>
              <a:cxnSpLocks noChangeShapeType="1"/>
            </p:cNvCxnSpPr>
            <p:nvPr/>
          </p:nvCxnSpPr>
          <p:spPr bwMode="auto">
            <a:xfrm>
              <a:off x="3538" y="10372"/>
              <a:ext cx="72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grpSp>
          <p:nvGrpSpPr>
            <p:cNvPr id="56" name="Group 55"/>
            <p:cNvGrpSpPr/>
            <p:nvPr/>
          </p:nvGrpSpPr>
          <p:grpSpPr bwMode="auto">
            <a:xfrm>
              <a:off x="1605" y="9992"/>
              <a:ext cx="896" cy="331"/>
              <a:chOff x="1877" y="8169"/>
              <a:chExt cx="2041" cy="443"/>
            </a:xfrm>
          </p:grpSpPr>
          <p:sp>
            <p:nvSpPr>
              <p:cNvPr id="73" name="AutoShape 12"/>
              <p:cNvSpPr>
                <a:spLocks noChangeArrowheads="1"/>
              </p:cNvSpPr>
              <p:nvPr/>
            </p:nvSpPr>
            <p:spPr bwMode="auto">
              <a:xfrm rot="5400000">
                <a:off x="2720" y="8104"/>
                <a:ext cx="443" cy="574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cxnSp>
            <p:nvCxnSpPr>
              <p:cNvPr id="74" name="AutoShape 13"/>
              <p:cNvCxnSpPr>
                <a:cxnSpLocks noChangeShapeType="1"/>
              </p:cNvCxnSpPr>
              <p:nvPr/>
            </p:nvCxnSpPr>
            <p:spPr bwMode="auto">
              <a:xfrm flipH="1">
                <a:off x="1877" y="8391"/>
                <a:ext cx="762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</p:cxnSp>
          <p:sp>
            <p:nvSpPr>
              <p:cNvPr id="75" name="AutoShape 14"/>
              <p:cNvSpPr>
                <a:spLocks noChangeArrowheads="1"/>
              </p:cNvSpPr>
              <p:nvPr/>
            </p:nvSpPr>
            <p:spPr bwMode="auto">
              <a:xfrm>
                <a:off x="3229" y="8323"/>
                <a:ext cx="142" cy="110"/>
              </a:xfrm>
              <a:prstGeom prst="flowChartConnector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cxnSp>
            <p:nvCxnSpPr>
              <p:cNvPr id="76" name="AutoShape 15"/>
              <p:cNvCxnSpPr>
                <a:cxnSpLocks noChangeShapeType="1"/>
              </p:cNvCxnSpPr>
              <p:nvPr/>
            </p:nvCxnSpPr>
            <p:spPr bwMode="auto">
              <a:xfrm>
                <a:off x="3369" y="8391"/>
                <a:ext cx="549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</p:cxnSp>
        </p:grpSp>
        <p:cxnSp>
          <p:nvCxnSpPr>
            <p:cNvPr id="57" name="AutoShape 16"/>
            <p:cNvCxnSpPr>
              <a:cxnSpLocks noChangeShapeType="1"/>
            </p:cNvCxnSpPr>
            <p:nvPr/>
          </p:nvCxnSpPr>
          <p:spPr bwMode="auto">
            <a:xfrm>
              <a:off x="2498" y="10158"/>
              <a:ext cx="639" cy="165"/>
            </a:xfrm>
            <a:prstGeom prst="bentConnector3">
              <a:avLst>
                <a:gd name="adj1" fmla="val 49921"/>
              </a:avLst>
            </a:prstGeom>
            <a:noFill/>
            <a:ln w="9525">
              <a:solidFill>
                <a:srgbClr val="000000"/>
              </a:solidFill>
              <a:miter lim="800000"/>
            </a:ln>
          </p:spPr>
        </p:cxnSp>
        <p:cxnSp>
          <p:nvCxnSpPr>
            <p:cNvPr id="58" name="AutoShape 17"/>
            <p:cNvCxnSpPr>
              <a:cxnSpLocks noChangeShapeType="1"/>
            </p:cNvCxnSpPr>
            <p:nvPr/>
          </p:nvCxnSpPr>
          <p:spPr bwMode="auto">
            <a:xfrm flipV="1">
              <a:off x="1646" y="10782"/>
              <a:ext cx="4599" cy="430"/>
            </a:xfrm>
            <a:prstGeom prst="bentConnector3">
              <a:avLst>
                <a:gd name="adj1" fmla="val 72273"/>
              </a:avLst>
            </a:prstGeom>
            <a:noFill/>
            <a:ln w="9525">
              <a:solidFill>
                <a:srgbClr val="000000"/>
              </a:solidFill>
              <a:miter lim="800000"/>
            </a:ln>
          </p:spPr>
        </p:cxnSp>
        <p:cxnSp>
          <p:nvCxnSpPr>
            <p:cNvPr id="59" name="AutoShape 18"/>
            <p:cNvCxnSpPr>
              <a:cxnSpLocks noChangeShapeType="1"/>
            </p:cNvCxnSpPr>
            <p:nvPr/>
          </p:nvCxnSpPr>
          <p:spPr bwMode="auto">
            <a:xfrm>
              <a:off x="4265" y="10372"/>
              <a:ext cx="1980" cy="249"/>
            </a:xfrm>
            <a:prstGeom prst="bentConnector3">
              <a:avLst>
                <a:gd name="adj1" fmla="val 35301"/>
              </a:avLst>
            </a:prstGeom>
            <a:noFill/>
            <a:ln w="9525">
              <a:solidFill>
                <a:srgbClr val="000000"/>
              </a:solidFill>
              <a:miter lim="800000"/>
            </a:ln>
          </p:spPr>
        </p:cxnSp>
        <p:sp>
          <p:nvSpPr>
            <p:cNvPr id="60" name="AutoShape 19"/>
            <p:cNvSpPr>
              <a:spLocks noChangeArrowheads="1"/>
            </p:cNvSpPr>
            <p:nvPr/>
          </p:nvSpPr>
          <p:spPr bwMode="auto">
            <a:xfrm>
              <a:off x="6245" y="10323"/>
              <a:ext cx="637" cy="735"/>
            </a:xfrm>
            <a:prstGeom prst="flowChartDelay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cxnSp>
          <p:nvCxnSpPr>
            <p:cNvPr id="61" name="AutoShape 20"/>
            <p:cNvCxnSpPr>
              <a:cxnSpLocks noChangeShapeType="1"/>
            </p:cNvCxnSpPr>
            <p:nvPr/>
          </p:nvCxnSpPr>
          <p:spPr bwMode="auto">
            <a:xfrm>
              <a:off x="6882" y="10648"/>
              <a:ext cx="96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sp>
          <p:nvSpPr>
            <p:cNvPr id="62" name="Text Box 21"/>
            <p:cNvSpPr txBox="1">
              <a:spLocks noChangeArrowheads="1"/>
            </p:cNvSpPr>
            <p:nvPr/>
          </p:nvSpPr>
          <p:spPr bwMode="auto">
            <a:xfrm>
              <a:off x="1110" y="9922"/>
              <a:ext cx="409" cy="4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Arial" panose="020B0604020202020204" pitchFamily="34" charset="0"/>
                </a:rPr>
                <a:t>X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Text Box 22"/>
            <p:cNvSpPr txBox="1">
              <a:spLocks noChangeArrowheads="1"/>
            </p:cNvSpPr>
            <p:nvPr/>
          </p:nvSpPr>
          <p:spPr bwMode="auto">
            <a:xfrm>
              <a:off x="1124" y="10415"/>
              <a:ext cx="409" cy="4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Arial" panose="020B0604020202020204" pitchFamily="34" charset="0"/>
                </a:rPr>
                <a:t>Z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Text Box 23"/>
            <p:cNvSpPr txBox="1">
              <a:spLocks noChangeArrowheads="1"/>
            </p:cNvSpPr>
            <p:nvPr/>
          </p:nvSpPr>
          <p:spPr bwMode="auto">
            <a:xfrm>
              <a:off x="1152" y="10974"/>
              <a:ext cx="409" cy="4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Arial" panose="020B0604020202020204" pitchFamily="34" charset="0"/>
                </a:rPr>
                <a:t>Y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5" name="Group 64"/>
            <p:cNvGrpSpPr/>
            <p:nvPr/>
          </p:nvGrpSpPr>
          <p:grpSpPr bwMode="auto">
            <a:xfrm>
              <a:off x="4017" y="9902"/>
              <a:ext cx="1000" cy="401"/>
              <a:chOff x="4017" y="9958"/>
              <a:chExt cx="1000" cy="401"/>
            </a:xfrm>
          </p:grpSpPr>
          <p:sp>
            <p:nvSpPr>
              <p:cNvPr id="70" name="Text Box 25"/>
              <p:cNvSpPr txBox="1">
                <a:spLocks noChangeArrowheads="1"/>
              </p:cNvSpPr>
              <p:nvPr/>
            </p:nvSpPr>
            <p:spPr bwMode="auto">
              <a:xfrm>
                <a:off x="4017" y="9958"/>
                <a:ext cx="1000" cy="40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Arial" panose="020B0604020202020204" pitchFamily="34" charset="0"/>
                  </a:rPr>
                  <a:t>X + Z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71" name="AutoShape 26"/>
              <p:cNvCxnSpPr>
                <a:cxnSpLocks noChangeShapeType="1"/>
              </p:cNvCxnSpPr>
              <p:nvPr/>
            </p:nvCxnSpPr>
            <p:spPr bwMode="auto">
              <a:xfrm>
                <a:off x="4090" y="9995"/>
                <a:ext cx="194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</p:cxnSp>
          <p:cxnSp>
            <p:nvCxnSpPr>
              <p:cNvPr id="72" name="AutoShape 27"/>
              <p:cNvCxnSpPr>
                <a:cxnSpLocks noChangeShapeType="1"/>
              </p:cNvCxnSpPr>
              <p:nvPr/>
            </p:nvCxnSpPr>
            <p:spPr bwMode="auto">
              <a:xfrm>
                <a:off x="4390" y="9984"/>
                <a:ext cx="194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66" name="Group 65"/>
            <p:cNvGrpSpPr/>
            <p:nvPr/>
          </p:nvGrpSpPr>
          <p:grpSpPr bwMode="auto">
            <a:xfrm>
              <a:off x="7851" y="10372"/>
              <a:ext cx="1343" cy="401"/>
              <a:chOff x="7851" y="10372"/>
              <a:chExt cx="1343" cy="401"/>
            </a:xfrm>
          </p:grpSpPr>
          <p:sp>
            <p:nvSpPr>
              <p:cNvPr id="67" name="Text Box 29"/>
              <p:cNvSpPr txBox="1">
                <a:spLocks noChangeArrowheads="1"/>
              </p:cNvSpPr>
              <p:nvPr/>
            </p:nvSpPr>
            <p:spPr bwMode="auto">
              <a:xfrm>
                <a:off x="7851" y="10372"/>
                <a:ext cx="1343" cy="40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Arial" panose="020B0604020202020204" pitchFamily="34" charset="0"/>
                  </a:rPr>
                  <a:t>Y(X + Z)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8" name="AutoShape 30"/>
              <p:cNvCxnSpPr>
                <a:cxnSpLocks noChangeShapeType="1"/>
              </p:cNvCxnSpPr>
              <p:nvPr/>
            </p:nvCxnSpPr>
            <p:spPr bwMode="auto">
              <a:xfrm>
                <a:off x="8116" y="10417"/>
                <a:ext cx="229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</p:cxnSp>
          <p:cxnSp>
            <p:nvCxnSpPr>
              <p:cNvPr id="69" name="AutoShape 31"/>
              <p:cNvCxnSpPr>
                <a:cxnSpLocks noChangeShapeType="1"/>
              </p:cNvCxnSpPr>
              <p:nvPr/>
            </p:nvCxnSpPr>
            <p:spPr bwMode="auto">
              <a:xfrm>
                <a:off x="8409" y="10416"/>
                <a:ext cx="229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</p:cxnSp>
        </p:grpSp>
      </p:grpSp>
      <p:sp>
        <p:nvSpPr>
          <p:cNvPr id="81" name="TextBox 80"/>
          <p:cNvSpPr txBox="1"/>
          <p:nvPr/>
        </p:nvSpPr>
        <p:spPr>
          <a:xfrm>
            <a:off x="167640" y="5059056"/>
            <a:ext cx="3648046" cy="6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B050"/>
                </a:solidFill>
                <a:latin typeface="Nunito" pitchFamily="2" charset="0"/>
              </a:rPr>
              <a:t>SOP logic circuit</a:t>
            </a:r>
            <a:endParaRPr lang="en-US" sz="3200" b="1" kern="100" dirty="0">
              <a:solidFill>
                <a:srgbClr val="00B05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539892" y="4011398"/>
            <a:ext cx="3648046" cy="6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B050"/>
                </a:solidFill>
                <a:latin typeface="Nunito" pitchFamily="2" charset="0"/>
              </a:rPr>
              <a:t>POS logic circuit</a:t>
            </a:r>
            <a:endParaRPr lang="en-US" sz="3200" b="1" kern="100" dirty="0">
              <a:solidFill>
                <a:srgbClr val="00B05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233805"/>
            <a:ext cx="11490960" cy="562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Nunito" pitchFamily="2" charset="0"/>
              </a:rPr>
              <a:t>Assume that a large room has three doors and that a switch near each door controls a light in the room. The switch is turn on or off by changing the state of any one of the switches according to the following condition:</a:t>
            </a:r>
            <a:endParaRPr lang="en-US" sz="2800" b="1" dirty="0">
              <a:latin typeface="Nunito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Nunito" pitchFamily="2" charset="0"/>
              </a:rPr>
              <a:t>The light is off if all switches are open</a:t>
            </a:r>
            <a:endParaRPr lang="en-US" sz="2800" b="1" dirty="0">
              <a:latin typeface="Nunito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Nunito" pitchFamily="2" charset="0"/>
              </a:rPr>
              <a:t>Closing any of the switches turn the light on, </a:t>
            </a:r>
            <a:endParaRPr lang="en-US" sz="2800" b="1" dirty="0">
              <a:latin typeface="Nunito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Nunito" pitchFamily="2" charset="0"/>
              </a:rPr>
              <a:t>Turning on a second switch turn the light off</a:t>
            </a:r>
            <a:endParaRPr lang="en-US" sz="2800" b="1" dirty="0">
              <a:latin typeface="Nunito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Nunito" pitchFamily="2" charset="0"/>
              </a:rPr>
              <a:t>The light will be on if exactly one switch is closed and off if two (or no) switches are closed.</a:t>
            </a:r>
            <a:endParaRPr lang="en-US" sz="2800" b="1" dirty="0">
              <a:latin typeface="Nunito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Nunito" pitchFamily="2" charset="0"/>
              </a:rPr>
              <a:t>If the light is off when two switches are closed, then it should be turned on by closing the third switch</a:t>
            </a:r>
            <a:r>
              <a:rPr lang="en-US" sz="2800" dirty="0">
                <a:latin typeface="Nunito" pitchFamily="2" charset="0"/>
              </a:rPr>
              <a:t>	</a:t>
            </a:r>
            <a:endParaRPr lang="en-US" sz="2800" b="1" kern="100" dirty="0"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76828" y="0"/>
            <a:ext cx="5021580" cy="486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FF0000"/>
                </a:solidFill>
                <a:effectLst/>
                <a:latin typeface="Nunito" pitchFamily="2" charset="0"/>
              </a:rPr>
              <a:t>DESIGN EXAMPLE</a:t>
            </a:r>
            <a:endParaRPr lang="en-US" sz="24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125" y="739775"/>
            <a:ext cx="5200650" cy="11658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00B050"/>
                </a:solidFill>
                <a:latin typeface="Nunito" pitchFamily="2" charset="0"/>
              </a:rPr>
              <a:t>A Three-way light control</a:t>
            </a:r>
            <a:endParaRPr lang="en-US" sz="2400" b="1" kern="100" dirty="0">
              <a:solidFill>
                <a:srgbClr val="00B05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76828" y="0"/>
            <a:ext cx="2618232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solidFill>
                  <a:srgbClr val="FF0000"/>
                </a:solidFill>
                <a:effectLst/>
                <a:latin typeface="Nunito" pitchFamily="2" charset="0"/>
              </a:rPr>
              <a:t>Solution</a:t>
            </a:r>
            <a:endParaRPr lang="en-US" sz="40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496454" y="1987306"/>
          <a:ext cx="4849225" cy="4306812"/>
        </p:xfrm>
        <a:graphic>
          <a:graphicData uri="http://schemas.openxmlformats.org/drawingml/2006/table">
            <a:tbl>
              <a:tblPr/>
              <a:tblGrid>
                <a:gridCol w="1162680"/>
                <a:gridCol w="1134322"/>
                <a:gridCol w="1134322"/>
                <a:gridCol w="1417901"/>
              </a:tblGrid>
              <a:tr h="630004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</a:t>
                      </a:r>
                      <a:r>
                        <a:rPr lang="en-US" sz="2400" b="1" baseline="-250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 baseline="-250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</a:t>
                      </a:r>
                      <a:r>
                        <a:rPr lang="en-US" sz="2400" b="1" baseline="-250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2</a:t>
                      </a:r>
                      <a:endParaRPr lang="en-US" sz="2400" baseline="-250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</a:t>
                      </a:r>
                      <a:r>
                        <a:rPr lang="en-US" sz="2400" b="1" baseline="-250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3</a:t>
                      </a:r>
                      <a:endParaRPr lang="en-US" sz="2400" baseline="-250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F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01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01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01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01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01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01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01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01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68629" y="1179481"/>
            <a:ext cx="2876551" cy="6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B050"/>
                </a:solidFill>
                <a:latin typeface="Nunito" pitchFamily="2" charset="0"/>
              </a:rPr>
              <a:t>Truth Table</a:t>
            </a:r>
            <a:endParaRPr lang="en-US" sz="3200" b="1" kern="100" dirty="0">
              <a:solidFill>
                <a:srgbClr val="00B05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76828" y="0"/>
            <a:ext cx="2618232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solidFill>
                  <a:srgbClr val="FF0000"/>
                </a:solidFill>
                <a:effectLst/>
                <a:latin typeface="Nunito" pitchFamily="2" charset="0"/>
              </a:rPr>
              <a:t>Solution</a:t>
            </a:r>
            <a:endParaRPr lang="en-US" sz="40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59735" y="2002547"/>
          <a:ext cx="3599545" cy="3813037"/>
        </p:xfrm>
        <a:graphic>
          <a:graphicData uri="http://schemas.openxmlformats.org/drawingml/2006/table">
            <a:tbl>
              <a:tblPr/>
              <a:tblGrid>
                <a:gridCol w="863049"/>
                <a:gridCol w="841999"/>
                <a:gridCol w="841999"/>
                <a:gridCol w="1052498"/>
              </a:tblGrid>
              <a:tr h="557773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</a:t>
                      </a:r>
                      <a:r>
                        <a:rPr lang="en-US" sz="2400" b="1" baseline="-250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 baseline="-250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</a:t>
                      </a:r>
                      <a:r>
                        <a:rPr lang="en-US" sz="2400" b="1" baseline="-250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2</a:t>
                      </a:r>
                      <a:endParaRPr lang="en-US" sz="2400" baseline="-250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X</a:t>
                      </a:r>
                      <a:r>
                        <a:rPr lang="en-US" sz="2400" b="1" baseline="-250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3</a:t>
                      </a:r>
                      <a:endParaRPr lang="en-US" sz="2400" baseline="-250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F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134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134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134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134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134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134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134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0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134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Nunito" pitchFamily="2" charset="0"/>
                          <a:ea typeface="Calibri" panose="020F0502020204030204"/>
                          <a:cs typeface="Times New Roman" panose="02020603050405020304"/>
                        </a:rPr>
                        <a:t>1</a:t>
                      </a:r>
                      <a:endParaRPr lang="en-US" sz="2400" dirty="0">
                        <a:latin typeface="Nunito" pitchFamily="2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68629" y="1179481"/>
            <a:ext cx="2876551" cy="6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B050"/>
                </a:solidFill>
                <a:latin typeface="Nunito" pitchFamily="2" charset="0"/>
              </a:rPr>
              <a:t>Truth Table</a:t>
            </a:r>
            <a:endParaRPr lang="en-US" sz="3200" b="1" kern="100" dirty="0">
              <a:solidFill>
                <a:srgbClr val="00B05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54907" y="1465471"/>
            <a:ext cx="3562351" cy="6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B050"/>
                </a:solidFill>
                <a:latin typeface="Nunito" pitchFamily="2" charset="0"/>
              </a:rPr>
              <a:t> SOP Expression</a:t>
            </a:r>
            <a:endParaRPr lang="en-US" sz="3200" b="1" kern="100" dirty="0">
              <a:solidFill>
                <a:srgbClr val="00B05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87796" y="2249126"/>
            <a:ext cx="3392424" cy="108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Nunito" pitchFamily="2" charset="0"/>
              </a:rPr>
              <a:t>F =m</a:t>
            </a:r>
            <a:r>
              <a:rPr lang="en-US" sz="2800" baseline="-25000" dirty="0">
                <a:effectLst/>
                <a:latin typeface="Nunito" pitchFamily="2" charset="0"/>
              </a:rPr>
              <a:t>1</a:t>
            </a:r>
            <a:r>
              <a:rPr lang="en-US" sz="2800" dirty="0">
                <a:latin typeface="Nunito" pitchFamily="2" charset="0"/>
              </a:rPr>
              <a:t>+m</a:t>
            </a:r>
            <a:r>
              <a:rPr lang="en-US" sz="2800" baseline="-25000" dirty="0">
                <a:latin typeface="Nunito" pitchFamily="2" charset="0"/>
              </a:rPr>
              <a:t>2</a:t>
            </a:r>
            <a:r>
              <a:rPr lang="en-US" sz="2800" dirty="0">
                <a:latin typeface="Nunito" pitchFamily="2" charset="0"/>
              </a:rPr>
              <a:t>+m</a:t>
            </a:r>
            <a:r>
              <a:rPr lang="en-US" sz="2800" baseline="-25000" dirty="0">
                <a:latin typeface="Nunito" pitchFamily="2" charset="0"/>
              </a:rPr>
              <a:t>4</a:t>
            </a:r>
            <a:r>
              <a:rPr lang="en-US" sz="2800" dirty="0">
                <a:latin typeface="Nunito" pitchFamily="2" charset="0"/>
              </a:rPr>
              <a:t>+m</a:t>
            </a:r>
            <a:r>
              <a:rPr lang="en-US" sz="2800" baseline="-25000" dirty="0">
                <a:latin typeface="Nunito" pitchFamily="2" charset="0"/>
              </a:rPr>
              <a:t>7</a:t>
            </a:r>
            <a:endParaRPr lang="en-US" sz="2800" baseline="-25000" dirty="0">
              <a:latin typeface="Nunito" pitchFamily="2" charset="0"/>
            </a:endParaRPr>
          </a:p>
          <a:p>
            <a:pPr>
              <a:buNone/>
            </a:pPr>
            <a:r>
              <a:rPr lang="en-US" sz="2800" dirty="0">
                <a:latin typeface="Nunito" pitchFamily="2" charset="0"/>
              </a:rPr>
              <a:t>	</a:t>
            </a:r>
            <a:endParaRPr lang="en-US" sz="2800" b="1" kern="100" dirty="0"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6179820" y="3961130"/>
            <a:ext cx="4282440" cy="2089150"/>
            <a:chOff x="6530340" y="3999230"/>
            <a:chExt cx="3016250" cy="1084262"/>
          </a:xfrm>
        </p:grpSpPr>
        <p:sp>
          <p:nvSpPr>
            <p:cNvPr id="8" name="Text Box 30"/>
            <p:cNvSpPr txBox="1">
              <a:spLocks noChangeArrowheads="1"/>
            </p:cNvSpPr>
            <p:nvPr/>
          </p:nvSpPr>
          <p:spPr bwMode="auto">
            <a:xfrm>
              <a:off x="8994774" y="4029049"/>
              <a:ext cx="506727" cy="3216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dirty="0">
                  <a:latin typeface="Calibri" panose="020F0502020204030204" pitchFamily="34" charset="0"/>
                  <a:cs typeface="Arial" panose="020B0604020202020204" pitchFamily="34" charset="0"/>
                </a:rPr>
                <a:t>X</a:t>
              </a:r>
              <a:r>
                <a:rPr lang="en-US" baseline="-25000" dirty="0">
                  <a:latin typeface="Calibri" panose="020F0502020204030204" pitchFamily="34" charset="0"/>
                  <a:cs typeface="Arial" panose="020B0604020202020204" pitchFamily="34" charset="0"/>
                </a:rPr>
                <a:t>1</a:t>
              </a: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latin typeface="Calibri" panose="020F0502020204030204" pitchFamily="34" charset="0"/>
                  <a:cs typeface="Arial" panose="020B0604020202020204" pitchFamily="34" charset="0"/>
                </a:rPr>
                <a:t>X</a:t>
              </a:r>
              <a:r>
                <a:rPr lang="en-US" baseline="-25000" dirty="0">
                  <a:latin typeface="Calibri" panose="020F0502020204030204" pitchFamily="34" charset="0"/>
                  <a:cs typeface="Arial" panose="020B0604020202020204" pitchFamily="34" charset="0"/>
                </a:rPr>
                <a:t>2</a:t>
              </a:r>
              <a:endPara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 Box 31"/>
            <p:cNvSpPr txBox="1">
              <a:spLocks noChangeArrowheads="1"/>
            </p:cNvSpPr>
            <p:nvPr/>
          </p:nvSpPr>
          <p:spPr bwMode="auto">
            <a:xfrm>
              <a:off x="8364854" y="4001133"/>
              <a:ext cx="460376" cy="3216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dirty="0">
                  <a:latin typeface="Calibri" panose="020F0502020204030204" pitchFamily="34" charset="0"/>
                  <a:cs typeface="Arial" panose="020B0604020202020204" pitchFamily="34" charset="0"/>
                </a:rPr>
                <a:t>X</a:t>
              </a:r>
              <a:r>
                <a:rPr lang="en-US" baseline="-25000" dirty="0">
                  <a:latin typeface="Calibri" panose="020F0502020204030204" pitchFamily="34" charset="0"/>
                  <a:cs typeface="Arial" panose="020B0604020202020204" pitchFamily="34" charset="0"/>
                </a:rPr>
                <a:t>1</a:t>
              </a: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latin typeface="Calibri" panose="020F0502020204030204" pitchFamily="34" charset="0"/>
                  <a:cs typeface="Arial" panose="020B0604020202020204" pitchFamily="34" charset="0"/>
                </a:rPr>
                <a:t>X</a:t>
              </a:r>
              <a:r>
                <a:rPr lang="en-US" baseline="-25000" dirty="0">
                  <a:latin typeface="Calibri" panose="020F0502020204030204" pitchFamily="34" charset="0"/>
                  <a:cs typeface="Arial" panose="020B0604020202020204" pitchFamily="34" charset="0"/>
                </a:rPr>
                <a:t>2</a:t>
              </a:r>
              <a:endPara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 Box 32"/>
            <p:cNvSpPr txBox="1">
              <a:spLocks noChangeArrowheads="1"/>
            </p:cNvSpPr>
            <p:nvPr/>
          </p:nvSpPr>
          <p:spPr bwMode="auto">
            <a:xfrm>
              <a:off x="7035800" y="3999230"/>
              <a:ext cx="447676" cy="3216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dirty="0">
                  <a:latin typeface="Calibri" panose="020F0502020204030204" pitchFamily="34" charset="0"/>
                  <a:cs typeface="Arial" panose="020B0604020202020204" pitchFamily="34" charset="0"/>
                </a:rPr>
                <a:t>X</a:t>
              </a:r>
              <a:r>
                <a:rPr lang="en-US" baseline="-25000" dirty="0">
                  <a:latin typeface="Calibri" panose="020F0502020204030204" pitchFamily="34" charset="0"/>
                  <a:cs typeface="Arial" panose="020B0604020202020204" pitchFamily="34" charset="0"/>
                </a:rPr>
                <a:t>1</a:t>
              </a: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latin typeface="Calibri" panose="020F0502020204030204" pitchFamily="34" charset="0"/>
                  <a:cs typeface="Arial" panose="020B0604020202020204" pitchFamily="34" charset="0"/>
                </a:rPr>
                <a:t>X</a:t>
              </a:r>
              <a:r>
                <a:rPr lang="en-US" baseline="-25000" dirty="0">
                  <a:latin typeface="Calibri" panose="020F0502020204030204" pitchFamily="34" charset="0"/>
                  <a:cs typeface="Arial" panose="020B0604020202020204" pitchFamily="34" charset="0"/>
                </a:rPr>
                <a:t>2</a:t>
              </a:r>
              <a:endPara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 Box 33"/>
            <p:cNvSpPr txBox="1">
              <a:spLocks noChangeArrowheads="1"/>
            </p:cNvSpPr>
            <p:nvPr/>
          </p:nvSpPr>
          <p:spPr bwMode="auto">
            <a:xfrm>
              <a:off x="7651115" y="3999230"/>
              <a:ext cx="447676" cy="3216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sz="1700" dirty="0">
                  <a:latin typeface="Calibri" panose="020F0502020204030204" pitchFamily="34" charset="0"/>
                  <a:cs typeface="Arial" panose="020B0604020202020204" pitchFamily="34" charset="0"/>
                </a:rPr>
                <a:t>X</a:t>
              </a:r>
              <a:r>
                <a:rPr lang="en-US" sz="1700" baseline="-25000" dirty="0">
                  <a:latin typeface="Calibri" panose="020F0502020204030204" pitchFamily="34" charset="0"/>
                  <a:cs typeface="Arial" panose="020B0604020202020204" pitchFamily="34" charset="0"/>
                </a:rPr>
                <a:t>1</a:t>
              </a:r>
              <a:r>
                <a:rPr kumimoji="0" lang="en-US" sz="17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1700" dirty="0">
                  <a:latin typeface="Calibri" panose="020F0502020204030204" pitchFamily="34" charset="0"/>
                  <a:cs typeface="Arial" panose="020B0604020202020204" pitchFamily="34" charset="0"/>
                </a:rPr>
                <a:t>X</a:t>
              </a:r>
              <a:r>
                <a:rPr lang="en-US" sz="1700" baseline="-25000" dirty="0">
                  <a:latin typeface="Calibri" panose="020F0502020204030204" pitchFamily="34" charset="0"/>
                  <a:cs typeface="Arial" panose="020B0604020202020204" pitchFamily="34" charset="0"/>
                </a:rPr>
                <a:t>2</a:t>
              </a:r>
              <a:endParaRPr kumimoji="0" 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6929120" y="4306300"/>
              <a:ext cx="1316990" cy="3844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cxnSp>
          <p:nvCxnSpPr>
            <p:cNvPr id="13" name="AutoShape 35"/>
            <p:cNvCxnSpPr>
              <a:cxnSpLocks noChangeShapeType="1"/>
            </p:cNvCxnSpPr>
            <p:nvPr/>
          </p:nvCxnSpPr>
          <p:spPr bwMode="auto">
            <a:xfrm>
              <a:off x="7567295" y="4306300"/>
              <a:ext cx="0" cy="3844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6929120" y="4689503"/>
              <a:ext cx="1309370" cy="3844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cxnSp>
          <p:nvCxnSpPr>
            <p:cNvPr id="15" name="AutoShape 39"/>
            <p:cNvCxnSpPr>
              <a:cxnSpLocks noChangeShapeType="1"/>
            </p:cNvCxnSpPr>
            <p:nvPr/>
          </p:nvCxnSpPr>
          <p:spPr bwMode="auto">
            <a:xfrm>
              <a:off x="7568565" y="4698385"/>
              <a:ext cx="0" cy="3844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6" name="AutoShape 40"/>
            <p:cNvCxnSpPr>
              <a:cxnSpLocks noChangeShapeType="1"/>
            </p:cNvCxnSpPr>
            <p:nvPr/>
          </p:nvCxnSpPr>
          <p:spPr bwMode="auto">
            <a:xfrm>
              <a:off x="7082912" y="4029324"/>
              <a:ext cx="9652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sp>
          <p:nvSpPr>
            <p:cNvPr id="17" name="Text Box 41"/>
            <p:cNvSpPr txBox="1">
              <a:spLocks noChangeArrowheads="1"/>
            </p:cNvSpPr>
            <p:nvPr/>
          </p:nvSpPr>
          <p:spPr bwMode="auto">
            <a:xfrm>
              <a:off x="6530340" y="4761195"/>
              <a:ext cx="327025" cy="3216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sz="2000" dirty="0">
                  <a:latin typeface="Calibri" panose="020F0502020204030204" pitchFamily="34" charset="0"/>
                  <a:cs typeface="Arial" panose="020B0604020202020204" pitchFamily="34" charset="0"/>
                </a:rPr>
                <a:t>X</a:t>
              </a:r>
              <a:r>
                <a:rPr lang="en-US" sz="2000" baseline="-25000" dirty="0">
                  <a:latin typeface="Calibri" panose="020F0502020204030204" pitchFamily="34" charset="0"/>
                  <a:cs typeface="Arial" panose="020B0604020202020204" pitchFamily="34" charset="0"/>
                </a:rPr>
                <a:t>3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 Box 42"/>
            <p:cNvSpPr txBox="1">
              <a:spLocks noChangeArrowheads="1"/>
            </p:cNvSpPr>
            <p:nvPr/>
          </p:nvSpPr>
          <p:spPr bwMode="auto">
            <a:xfrm>
              <a:off x="6548120" y="4350711"/>
              <a:ext cx="297180" cy="3216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sz="2000" dirty="0">
                  <a:latin typeface="Calibri" panose="020F0502020204030204" pitchFamily="34" charset="0"/>
                  <a:cs typeface="Arial" panose="020B0604020202020204" pitchFamily="34" charset="0"/>
                </a:rPr>
                <a:t>X</a:t>
              </a:r>
              <a:r>
                <a:rPr lang="en-US" sz="2000" baseline="-25000" dirty="0">
                  <a:latin typeface="Calibri" panose="020F0502020204030204" pitchFamily="34" charset="0"/>
                  <a:cs typeface="Arial" panose="020B0604020202020204" pitchFamily="34" charset="0"/>
                </a:rPr>
                <a:t>3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AutoShape 43"/>
            <p:cNvCxnSpPr>
              <a:cxnSpLocks noChangeShapeType="1"/>
            </p:cNvCxnSpPr>
            <p:nvPr/>
          </p:nvCxnSpPr>
          <p:spPr bwMode="auto">
            <a:xfrm>
              <a:off x="6580975" y="4390722"/>
              <a:ext cx="138430" cy="6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8243570" y="4306935"/>
              <a:ext cx="1303020" cy="3844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cxnSp>
          <p:nvCxnSpPr>
            <p:cNvPr id="21" name="AutoShape 48"/>
            <p:cNvCxnSpPr>
              <a:cxnSpLocks noChangeShapeType="1"/>
            </p:cNvCxnSpPr>
            <p:nvPr/>
          </p:nvCxnSpPr>
          <p:spPr bwMode="auto">
            <a:xfrm>
              <a:off x="8881745" y="4306935"/>
              <a:ext cx="0" cy="3844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8246110" y="4690138"/>
              <a:ext cx="1300480" cy="3844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cxnSp>
          <p:nvCxnSpPr>
            <p:cNvPr id="23" name="AutoShape 52"/>
            <p:cNvCxnSpPr>
              <a:cxnSpLocks noChangeShapeType="1"/>
            </p:cNvCxnSpPr>
            <p:nvPr/>
          </p:nvCxnSpPr>
          <p:spPr bwMode="auto">
            <a:xfrm>
              <a:off x="8883015" y="4699020"/>
              <a:ext cx="0" cy="3844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" name="AutoShape 55"/>
            <p:cNvCxnSpPr>
              <a:cxnSpLocks noChangeShapeType="1"/>
            </p:cNvCxnSpPr>
            <p:nvPr/>
          </p:nvCxnSpPr>
          <p:spPr bwMode="auto">
            <a:xfrm>
              <a:off x="7231380" y="4038800"/>
              <a:ext cx="9652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5" name="AutoShape 56"/>
            <p:cNvCxnSpPr>
              <a:cxnSpLocks noChangeShapeType="1"/>
            </p:cNvCxnSpPr>
            <p:nvPr/>
          </p:nvCxnSpPr>
          <p:spPr bwMode="auto">
            <a:xfrm>
              <a:off x="7705908" y="4041185"/>
              <a:ext cx="9652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" name="AutoShape 57"/>
            <p:cNvCxnSpPr>
              <a:cxnSpLocks noChangeShapeType="1"/>
            </p:cNvCxnSpPr>
            <p:nvPr/>
          </p:nvCxnSpPr>
          <p:spPr bwMode="auto">
            <a:xfrm>
              <a:off x="9228437" y="4066860"/>
              <a:ext cx="9652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</p:spPr>
        </p:cxnSp>
        <p:sp>
          <p:nvSpPr>
            <p:cNvPr id="27" name="Text Box 58"/>
            <p:cNvSpPr txBox="1">
              <a:spLocks noChangeArrowheads="1"/>
            </p:cNvSpPr>
            <p:nvPr/>
          </p:nvSpPr>
          <p:spPr bwMode="auto">
            <a:xfrm>
              <a:off x="7597140" y="4380230"/>
              <a:ext cx="516890" cy="2454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1</a:t>
              </a:r>
              <a:endPara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 Box 58"/>
            <p:cNvSpPr txBox="1">
              <a:spLocks noChangeArrowheads="1"/>
            </p:cNvSpPr>
            <p:nvPr/>
          </p:nvSpPr>
          <p:spPr bwMode="auto">
            <a:xfrm>
              <a:off x="8359140" y="4456430"/>
              <a:ext cx="381000" cy="1692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 Box 58"/>
            <p:cNvSpPr txBox="1">
              <a:spLocks noChangeArrowheads="1"/>
            </p:cNvSpPr>
            <p:nvPr/>
          </p:nvSpPr>
          <p:spPr bwMode="auto">
            <a:xfrm>
              <a:off x="6933882" y="4729093"/>
              <a:ext cx="516890" cy="2454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1</a:t>
              </a:r>
              <a:endPara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 Box 58"/>
            <p:cNvSpPr txBox="1">
              <a:spLocks noChangeArrowheads="1"/>
            </p:cNvSpPr>
            <p:nvPr/>
          </p:nvSpPr>
          <p:spPr bwMode="auto">
            <a:xfrm>
              <a:off x="8938260" y="4438649"/>
              <a:ext cx="457200" cy="2454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1</a:t>
              </a:r>
              <a:endPara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 Box 58"/>
            <p:cNvSpPr txBox="1">
              <a:spLocks noChangeArrowheads="1"/>
            </p:cNvSpPr>
            <p:nvPr/>
          </p:nvSpPr>
          <p:spPr bwMode="auto">
            <a:xfrm>
              <a:off x="8282940" y="4761230"/>
              <a:ext cx="516890" cy="2454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1</a:t>
              </a:r>
              <a:endPara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6007307" y="3218071"/>
            <a:ext cx="4355893" cy="486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00B050"/>
                </a:solidFill>
                <a:latin typeface="Nunito" pitchFamily="2" charset="0"/>
              </a:rPr>
              <a:t> K-map Optimization</a:t>
            </a:r>
            <a:endParaRPr lang="en-US" sz="2400" b="1" kern="100" dirty="0">
              <a:solidFill>
                <a:srgbClr val="00B05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6828" y="0"/>
            <a:ext cx="4462272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solidFill>
                  <a:srgbClr val="FF0000"/>
                </a:solidFill>
                <a:effectLst/>
                <a:latin typeface="Nunito" pitchFamily="2" charset="0"/>
              </a:rPr>
              <a:t>Solution </a:t>
            </a:r>
            <a:r>
              <a:rPr lang="en-US" sz="4000" b="1" dirty="0" err="1">
                <a:solidFill>
                  <a:srgbClr val="FF0000"/>
                </a:solidFill>
                <a:effectLst/>
                <a:latin typeface="Nunito" pitchFamily="2" charset="0"/>
              </a:rPr>
              <a:t>Contd</a:t>
            </a:r>
            <a:endParaRPr lang="en-US" sz="40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37" t="24374" r="25881" b="14459"/>
          <a:stretch>
            <a:fillRect/>
          </a:stretch>
        </p:blipFill>
        <p:spPr>
          <a:xfrm rot="16200000">
            <a:off x="3352928" y="-969228"/>
            <a:ext cx="4545071" cy="8796455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3303269" y="5919121"/>
            <a:ext cx="5200651" cy="6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00B050"/>
                </a:solidFill>
                <a:latin typeface="Nunito" pitchFamily="2" charset="0"/>
              </a:rPr>
              <a:t>A Three-way light control</a:t>
            </a:r>
            <a:endParaRPr lang="en-US" sz="3200" b="1" kern="100" dirty="0">
              <a:solidFill>
                <a:srgbClr val="00B05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1356" y="1257756"/>
            <a:ext cx="11324844" cy="100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Nunito" pitchFamily="2" charset="0"/>
              </a:rPr>
              <a:t>Generate the POS expression and optimization, </a:t>
            </a:r>
            <a:r>
              <a:rPr lang="en-US" sz="2800" b="1" dirty="0" err="1">
                <a:latin typeface="Nunito" pitchFamily="2" charset="0"/>
              </a:rPr>
              <a:t>Kmap</a:t>
            </a:r>
            <a:r>
              <a:rPr lang="en-US" sz="2800" b="1" dirty="0">
                <a:latin typeface="Nunito" pitchFamily="2" charset="0"/>
              </a:rPr>
              <a:t> optimization and final synthesis of the Design example</a:t>
            </a:r>
            <a:endParaRPr lang="en-US" sz="2800" b="1" kern="100" dirty="0"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76828" y="0"/>
            <a:ext cx="502158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ASSIGNMENT 2</a:t>
            </a:r>
            <a:endParaRPr lang="en-US" sz="40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0</TotalTime>
  <Words>3617</Words>
  <Application>WPS Presentation</Application>
  <PresentationFormat>Widescreen</PresentationFormat>
  <Paragraphs>465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6" baseType="lpstr">
      <vt:lpstr>Arial</vt:lpstr>
      <vt:lpstr>SimSun</vt:lpstr>
      <vt:lpstr>Wingdings</vt:lpstr>
      <vt:lpstr>Arial Black</vt:lpstr>
      <vt:lpstr>AR DELANEY</vt:lpstr>
      <vt:lpstr>Verdana</vt:lpstr>
      <vt:lpstr>Arial Narrow</vt:lpstr>
      <vt:lpstr>Nunito</vt:lpstr>
      <vt:lpstr>Segoe Print</vt:lpstr>
      <vt:lpstr>Times New Roman</vt:lpstr>
      <vt:lpstr>Wingdings 2</vt:lpstr>
      <vt:lpstr>Wingdings</vt:lpstr>
      <vt:lpstr>Verdana</vt:lpstr>
      <vt:lpstr>Calibri</vt:lpstr>
      <vt:lpstr>Times New Roman</vt:lpstr>
      <vt:lpstr>Calibri</vt:lpstr>
      <vt:lpstr>Tw Cen MT</vt:lpstr>
      <vt:lpstr>Microsoft YaHei</vt:lpstr>
      <vt:lpstr>Arial Unicode MS</vt:lpstr>
      <vt:lpstr>Droplet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Home</dc:creator>
  <cp:lastModifiedBy>WRLD KING</cp:lastModifiedBy>
  <cp:revision>80</cp:revision>
  <dcterms:created xsi:type="dcterms:W3CDTF">2023-10-25T13:01:00Z</dcterms:created>
  <dcterms:modified xsi:type="dcterms:W3CDTF">2025-11-02T09:02:35Z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758DC5E5678E43408584B14A06F44057_12</vt:lpwstr>
  </property>
  <property fmtid="{D5CDD505-2E9C-101B-9397-08002B2CF9AE}" pid="3" name="KSOProductBuildVer">
    <vt:lpwstr>1033-12.2.0.21931</vt:lpwstr>
  </property>
</Properties>
</file>